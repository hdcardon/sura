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o" id="{99a6f6d1-f628-1ef2-0638-5105ec2108e8}">
          <p14:sldIdLst>
            <p14:sldId id="256"/>
            <p14:sldId id="257"/>
            <p14:sldId id="258"/>
            <p14:sldId id="259"/>
          </p14:sldIdLst>
        </p14:section>
        <p14:section name="Portal" id="{2126081e-2647-b1a3-ec2f-7677e29f5d47}">
          <p14:sldIdLst>
            <p14:sldId id="260"/>
            <p14:sldId id="261"/>
            <p14:sldId id="262"/>
            <p14:sldId id="263"/>
            <p14:sldId id="264"/>
            <p14:sldId id="265"/>
            <p14:sldId id="266"/>
          </p14:sldIdLst>
        </p14:section>
        <p14:section name="Fundamentos" id="{cd8a8f01-9886-1984-8fea-945758c6c48b}">
          <p14:sldIdLst>
            <p14:sldId id="267"/>
            <p14:sldId id="268"/>
          </p14:sldIdLst>
        </p14:section>
        <p14:section name="Ruta" id="{0fc1658d-1302-8a6e-ff1c-b79ef3f38fb7}">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Regular</c:v>
                </c:pt>
              </c:strCache>
            </c:strRef>
          </c:tx>
          <c:spPr>
            <a:solidFill>
              <a:srgbClr val="949494"/>
            </a:solidFill>
            <a:ln w="25400" cap="flat">
              <a:solidFill>
                <a:srgbClr val="94949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49494"/>
              </a:solidFill>
              <a:ln w="9525" cap="flat">
                <a:solidFill>
                  <a:srgbClr val="949494"/>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sep</c:v>
                  </c:pt>
                  <c:pt idx="9">
                    <c:v>oct</c:v>
                  </c:pt>
                  <c:pt idx="10">
                    <c:v>nov</c:v>
                  </c:pt>
                  <c:pt idx="11">
                    <c:v>dic</c:v>
                  </c:pt>
                </c:lvl>
              </c:multiLvlStrCache>
            </c:multiLvlStrRef>
          </c:cat>
          <c:val>
            <c:numRef>
              <c:f>Sheet1!$B$2:$B$13</c:f>
              <c:numCache>
                <c:formatCode>General</c:formatCode>
                <c:ptCount val="12"/>
                <c:pt idx="0">
                  <c:v>0.8959999999999999</c:v>
                </c:pt>
                <c:pt idx="1">
                  <c:v>0.973</c:v>
                </c:pt>
                <c:pt idx="2">
                  <c:v>0.9440000000000001</c:v>
                </c:pt>
                <c:pt idx="3">
                  <c:v>0.992</c:v>
                </c:pt>
                <c:pt idx="4">
                  <c:v>0.992</c:v>
                </c:pt>
                <c:pt idx="5">
                  <c:v>0.9440000000000001</c:v>
                </c:pt>
                <c:pt idx="6">
                  <c:v>0.9059999999999999</c:v>
                </c:pt>
                <c:pt idx="7">
                  <c:v>0.973</c:v>
                </c:pt>
                <c:pt idx="8">
                  <c:v>1</c:v>
                </c:pt>
                <c:pt idx="9">
                  <c:v>0.992</c:v>
                </c:pt>
                <c:pt idx="10">
                  <c:v>0.992</c:v>
                </c:pt>
                <c:pt idx="11">
                  <c:v>0.934</c:v>
                </c:pt>
              </c:numCache>
            </c:numRef>
          </c:val>
          <c:smooth val="0"/>
        </c:ser>
        <c:ser>
          <c:idx val="1"/>
          <c:order val="1"/>
          <c:tx>
            <c:strRef>
              <c:f>Sheet1!$C$1</c:f>
              <c:strCache>
                <c:ptCount val="1"/>
                <c:pt idx="0">
                  <c:v>Gestión del riesgo ampliada</c:v>
                </c:pt>
              </c:strCache>
            </c:strRef>
          </c:tx>
          <c:spPr>
            <a:solidFill>
              <a:srgbClr val="005B96"/>
            </a:solidFill>
            <a:ln w="25400" cap="flat">
              <a:solidFill>
                <a:srgbClr val="005B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5B96"/>
              </a:solidFill>
              <a:ln w="9525" cap="flat">
                <a:solidFill>
                  <a:srgbClr val="005B9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sep</c:v>
                  </c:pt>
                  <c:pt idx="9">
                    <c:v>oct</c:v>
                  </c:pt>
                  <c:pt idx="10">
                    <c:v>nov</c:v>
                  </c:pt>
                  <c:pt idx="11">
                    <c:v>dic</c:v>
                  </c:pt>
                </c:lvl>
              </c:multiLvlStrCache>
            </c:multiLvlStrRef>
          </c:cat>
          <c:val>
            <c:numRef>
              <c:f>Sheet1!$C$2:$C$13</c:f>
              <c:numCache>
                <c:formatCode>General</c:formatCode>
                <c:ptCount val="12"/>
                <c:pt idx="0">
                  <c:v>0.897</c:v>
                </c:pt>
                <c:pt idx="1">
                  <c:v>0.976</c:v>
                </c:pt>
                <c:pt idx="2">
                  <c:v>0.948</c:v>
                </c:pt>
                <c:pt idx="3">
                  <c:v>0.997</c:v>
                </c:pt>
                <c:pt idx="4">
                  <c:v>0.998</c:v>
                </c:pt>
                <c:pt idx="5">
                  <c:v>0.95</c:v>
                </c:pt>
                <c:pt idx="6">
                  <c:v>0.912</c:v>
                </c:pt>
                <c:pt idx="7">
                  <c:v>0.9790000000000001</c:v>
                </c:pt>
                <c:pt idx="8">
                  <c:v>1</c:v>
                </c:pt>
                <c:pt idx="9">
                  <c:v>0.9990000000000001</c:v>
                </c:pt>
                <c:pt idx="10">
                  <c:v>0.9990000000000001</c:v>
                </c:pt>
                <c:pt idx="11">
                  <c:v>0.941</c:v>
                </c:pt>
              </c:numCache>
            </c:numRef>
          </c:val>
          <c:smooth val="0"/>
        </c:ser>
        <c:ser>
          <c:idx val="2"/>
          <c:order val="2"/>
          <c:tx>
            <c:strRef>
              <c:f>Sheet1!$D$1</c:f>
              <c:strCache>
                <c:ptCount val="1"/>
                <c:pt idx="0">
                  <c:v>Gestión ampliada con canales</c:v>
                </c:pt>
              </c:strCache>
            </c:strRef>
          </c:tx>
          <c:spPr>
            <a:solidFill>
              <a:srgbClr val="009AA4"/>
            </a:solidFill>
            <a:ln w="25400" cap="flat">
              <a:solidFill>
                <a:srgbClr val="009AA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9AA4"/>
              </a:solidFill>
              <a:ln w="9525" cap="flat">
                <a:solidFill>
                  <a:srgbClr val="009AA4"/>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sep</c:v>
                  </c:pt>
                  <c:pt idx="9">
                    <c:v>oct</c:v>
                  </c:pt>
                  <c:pt idx="10">
                    <c:v>nov</c:v>
                  </c:pt>
                  <c:pt idx="11">
                    <c:v>dic</c:v>
                  </c:pt>
                </c:lvl>
              </c:multiLvlStrCache>
            </c:multiLvlStrRef>
          </c:cat>
          <c:val>
            <c:numRef>
              <c:f>Sheet1!$D$2:$D$13</c:f>
              <c:numCache>
                <c:formatCode>General</c:formatCode>
                <c:ptCount val="12"/>
                <c:pt idx="0">
                  <c:v>0.777</c:v>
                </c:pt>
                <c:pt idx="1">
                  <c:v>0.8540000000000001</c:v>
                </c:pt>
                <c:pt idx="2">
                  <c:v>0.8270000000000001</c:v>
                </c:pt>
                <c:pt idx="3">
                  <c:v>0.879</c:v>
                </c:pt>
                <c:pt idx="4">
                  <c:v>0.87</c:v>
                </c:pt>
                <c:pt idx="5">
                  <c:v>0.831</c:v>
                </c:pt>
                <c:pt idx="6">
                  <c:v>0.7929999999999999</c:v>
                </c:pt>
                <c:pt idx="7">
                  <c:v>0.857</c:v>
                </c:pt>
                <c:pt idx="8">
                  <c:v>0.889</c:v>
                </c:pt>
                <c:pt idx="9">
                  <c:v>0.875</c:v>
                </c:pt>
                <c:pt idx="10">
                  <c:v>0.873</c:v>
                </c:pt>
                <c:pt idx="11">
                  <c:v>0.823</c:v>
                </c:pt>
              </c:numCache>
            </c:numRef>
          </c:val>
          <c:smooth val="0"/>
        </c:ser>
        <c:ser>
          <c:idx val="3"/>
          <c:order val="3"/>
          <c:tx>
            <c:strRef>
              <c:f>Sheet1!$E$1</c:f>
              <c:strCache>
                <c:ptCount val="1"/>
                <c:pt idx="0">
                  <c:v>Caída de la gestión</c:v>
                </c:pt>
              </c:strCache>
            </c:strRef>
          </c:tx>
          <c:spPr>
            <a:solidFill>
              <a:srgbClr val="C7354A"/>
            </a:solidFill>
            <a:ln w="25400" cap="flat">
              <a:solidFill>
                <a:srgbClr val="C735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354A"/>
              </a:solidFill>
              <a:ln w="9525" cap="flat">
                <a:solidFill>
                  <a:srgbClr val="C7354A"/>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sep</c:v>
                  </c:pt>
                  <c:pt idx="9">
                    <c:v>oct</c:v>
                  </c:pt>
                  <c:pt idx="10">
                    <c:v>nov</c:v>
                  </c:pt>
                  <c:pt idx="11">
                    <c:v>dic</c:v>
                  </c:pt>
                </c:lvl>
              </c:multiLvlStrCache>
            </c:multiLvlStrRef>
          </c:cat>
          <c:val>
            <c:numRef>
              <c:f>Sheet1!$E$2:$E$13</c:f>
              <c:numCache>
                <c:formatCode>General</c:formatCode>
                <c:ptCount val="12"/>
                <c:pt idx="0">
                  <c:v>0.895</c:v>
                </c:pt>
                <c:pt idx="1">
                  <c:v>0.971</c:v>
                </c:pt>
                <c:pt idx="2">
                  <c:v>0.941</c:v>
                </c:pt>
                <c:pt idx="3">
                  <c:v>0.9890000000000001</c:v>
                </c:pt>
                <c:pt idx="4">
                  <c:v>0.988</c:v>
                </c:pt>
                <c:pt idx="5">
                  <c:v>0.9390000000000001</c:v>
                </c:pt>
                <c:pt idx="6">
                  <c:v>0.9009999999999999</c:v>
                </c:pt>
                <c:pt idx="7">
                  <c:v>0.968</c:v>
                </c:pt>
                <c:pt idx="8">
                  <c:v>0.997</c:v>
                </c:pt>
                <c:pt idx="9">
                  <c:v>0.987</c:v>
                </c:pt>
                <c:pt idx="10">
                  <c:v>0.987</c:v>
                </c:pt>
                <c:pt idx="11">
                  <c:v>0.929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
          <c:min val="0.7"/>
        </c:scaling>
        <c:delete val="0"/>
        <c:axPos val="l"/>
        <c:majorGridlines>
          <c:spPr>
            <a:ln w="6350" cap="flat">
              <a:solidFill>
                <a:srgbClr val="E3E8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4A5568"/>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8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el propósito de la sesión. La propuesta conecta dos piezas que hoy se gestionan por separado: la gestión del riesgo de las cohortes crónicas y la planeación de la capacidad de la red. El portal de demostración funciona con datos sintéticos de una red de cuatro sedes y 107.503 adultos; las cifras ilustran el mecanismo y no describen la operación real de SURA.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tensión central es temporal y espacial. Una ampliación de cobertura genera primero más controles programados y, solo después, menos hospitalizaciones evitables. Si la red no se ajusta, la consulta externa absorbe ese aumento y la oportunidad de cita empeora. Las cifras de respaldo están en la lámina de Escenarios: en la red sintética, la ampliación sin canales empeora la oportunidad de cita en el peor caso del año, y con canales desaparece la saturación a cambio de seis equipos domiciliarios y un mayor costo de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mecanismo tiene cinco etapas. La primera respeta la frontera federada: AlejandrIA no ingiere datos; cada Data Partner ejecuta la consulta sobre su OMOP CDM y entrega agregados con supresión de celdas menores a 11. La segunda proyecta la composición clínica de cada cohorte mes a mes. La tercera convierte estratos en atenciones y las enruta a zonas y canales. La cuarta aplica modelos de colas y de backlog según el tipo de zona. La quinta compara escenarios. Usamos la escala de madurez de NASEM: hoy es un modelo digital.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responde a la pregunta de qué significa cada número del portal. El indicador más importante para la conversación con PHM es la oportunidad de cita P90: cuántos días espera el 10 % de pacientes que más espera para obtener una cita de medicina general. El estado de cada zona combina ese indicador con la utilización, y los colores verde, ámbar y rojo del portal corresponden a holgada, tensionada y saturada.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portal se presenta como producto: navegación lateral, barra de contexto con escenario, sede y mes, y selectores que crecen con el catálogo. Los seis módulos siguen el orden de una conversación de planeación: dónde está la tensión, qué la explica en la población, dónde ocurre en el territorio, cómo se comporta dentro de la sede, qué escenario la resuelve y con qué supuestos trabaja 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Vista general abre el portal en el escenario seleccionado. Cada celda del mapa de calor lleva a la sede y al mes correspondientes. Con otro escenario activo, el resumen muestra diferencias frente al escenario regular. Las alertas mezclan saturación de zonas con eventos simulados de equipos, para mostrar cómo convivirían la planeación y la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selector de cohorte se agrupa por ruta de atención y admite búsqueda, de modo que el catálogo puede crecer sin cambiar la interfaz. La comparación siempre se hace contra el escenario regular. Las hospitalizaciones evitadas son modestas en un año y la banda P10–P90 lo hace visible; esta lectura es coherente con la evidencia de programas de gestión de enfermedad crónica, cuyo efecto sobre hospitalización se acumula en horizontes más largos. El valor del módulo está en anticipar la demanda de controles que la ampliación genera.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usa una rampa secuencial de seis tonos y marca con línea gruesa los límites entre territorios de sede. La opción de sombrear celdas a más de 30 minutos permite discutir acceso y equidad. En producción, las celdas se construyen con un índice geoespacial jerárquico, como H3, y los conteos llegan agregados desde cada fuente con supresión de celdas pequeñas.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render 3D es una representación esquemática de la sede: cada zona se colorea según su estado y al seleccionarla se abre el panel con su indicador. La animación de pacientes está detenida por defecto y se activa con "Reproducir flujo". El recorrido de 2027 permite ver la estacionalidad mes a mes. La meta de oportunidad de consulta externa toma como referencia la Resolución 1552 de 2013; las metas de espera de las zonas sin cita son supuestos que SURA debe fijar.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escenarios base son ilustrativos. El escenario regular está bloqueado; los demás se pueden duplicar y editar, y la cobertura de cada cohorte se ajusta con controles generados desde el catálogo. La comparación admite hasta cinco escenarios. La discusión con SURA debe incluir el costo frente a la UPC y el valor de la oportunidad de 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Configuración es el módulo que diferencia una demostración de un producto operable. El contrato de datos fija mecanismo, granularidad, frescura y responsable de cada fuente; todas son sintéticas en este entorno. Los indicadores de salud del modelo permiten afirmar en qué nivel de madurez está la solución con evidencia, en lugar de declararlo.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línea roja marca la frontera federada. AlejandrIA no ingiere datos: cada Data Partner es responsable de su ingesta y de la transformación de FHIR a OMOP, y solo publica agregados con supresión. La telemetría operativa viaja por un espacio de nombres unificado sobre MQTT y no contiene datos de pacientes. Los referentes muestran que cada capacidad tiene precedentes en operación; la robótica de logística clínica se plantea para una fase posterior.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responde a la pregunta de dónde salen los números. Ningún parámetro de la demostración proviene de datos de SURA. La columna de calibración define qué datos se solicitarían en la primera fase, siempre como agregados federados. Las metas de espera por zona y la inasistencia por sede son decisiones o datos de SURA y deben fijarse antes de interpretar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ruta avanza por niveles de madurez. La fase 0 reemplaza los parámetros sintéticos y mide el error de calibración; la fase 1 conecta agenda y estado de zonas para que el modelo refleje la operación casi en tiempo real; el Release 1.0 agrega recomendaciones con registro de aceptación y efecto, que es lo que permite llamar gemelo a la solución. La extensión incorpora equipos conectados y robótica de logística clínica cuando el valor esté demostrado.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decisión concreta: aprobar la fase 0 con alcance acotado. Las tres condiciones dependen de SURA: priorizar sedes y cohortes, habilitar los agregados federados y fijar metas y responsables. Con eso, la conversación de planeación de 2027 se apoya en parámetros propios en lugar de supuestos.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70F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463040"/>
            <a:ext cx="4846320" cy="21031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ph idx="101" type="body" hasCustomPrompt="1"/>
          </p:nvPr>
        </p:nvSpPr>
        <p:spPr>
          <a:xfrm>
            <a:off x="457200" y="3749040"/>
            <a:ext cx="4754880" cy="1188720"/>
          </a:xfrm>
          <a:prstGeom prst="rect">
            <a:avLst/>
          </a:prstGeom>
          <a:noFill/>
          <a:ln/>
        </p:spPr>
        <p:txBody>
          <a:bodyPr wrap="square" rtlCol="0"/>
          <a:lstStyle>
            <a:lvl1pPr indent="0" marL="0">
              <a:buNone/>
              <a:defRPr lang="en-US" sz="1400" dirty="0">
                <a:solidFill>
                  <a:srgbClr val="C9D3E3"/>
                </a:solidFill>
              </a:defRPr>
            </a:lvl1pPr>
          </a:lstStyle>
          <a:p>
            <a:pPr indent="0" marL="0">
              <a:buNone/>
            </a:pPr>
            <a:endParaRPr lang="en-US" sz="1400" dirty="0"/>
          </a:p>
        </p:txBody>
      </p:sp>
      <p:sp>
        <p:nvSpPr>
          <p:cNvPr id="4" name="Text 0"/>
          <p:cNvSpPr/>
          <p:nvPr/>
        </p:nvSpPr>
        <p:spPr>
          <a:xfrm>
            <a:off x="457200" y="457200"/>
            <a:ext cx="2743200" cy="365760"/>
          </a:xfrm>
          <a:prstGeom prst="rect">
            <a:avLst/>
          </a:prstGeom>
          <a:noFill/>
          <a:ln/>
        </p:spPr>
        <p:txBody>
          <a:bodyPr wrap="square" lIns="0" tIns="0" rIns="0" bIns="0" rtlCol="0" anchor="ctr"/>
          <a:lstStyle/>
          <a:p>
            <a:pPr indent="0" marL="0">
              <a:buNone/>
            </a:pPr>
            <a:r>
              <a:rPr lang="en-US" sz="1600" b="1" dirty="0">
                <a:solidFill>
                  <a:schemeClr val="bg1"/>
                </a:solidFill>
              </a:rPr>
              <a:t>NTT DATA</a:t>
            </a: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rtlCol="0"/>
          <a:lstStyle>
            <a:lvl1pPr algn="l" indent="0" marL="0">
              <a:lnSpc>
                <a:spcPct val="95000"/>
              </a:lnSpc>
              <a:buNone/>
              <a:defRPr lang="en-US" sz="2300" b="1" dirty="0">
                <a:solidFill>
                  <a:schemeClr val="tx1"/>
                </a:solidFill>
              </a:defRPr>
            </a:lvl1pPr>
          </a:lstStyle>
          <a:p>
            <a:pPr algn="l" indent="0" marL="0">
              <a:lnSpc>
                <a:spcPct val="95000"/>
              </a:lnSpc>
              <a:buNone/>
            </a:pP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rtlCol="0"/>
          <a:lstStyle>
            <a:lvl1pPr algn="l" indent="0" marL="0">
              <a:buNone/>
              <a:defRPr lang="en-US" sz="1250" dirty="0">
                <a:solidFill>
                  <a:schemeClr val="tx2"/>
                </a:solidFill>
              </a:defRPr>
            </a:lvl1pPr>
          </a:lstStyle>
          <a:p>
            <a:pPr algn="l" indent="0" marL="0">
              <a:buNone/>
            </a:pPr>
            <a:endParaRPr lang="en-US" sz="1250" dirty="0"/>
          </a:p>
        </p:txBody>
      </p:sp>
      <p:sp>
        <p:nvSpPr>
          <p:cNvPr id="4" name="Text 0"/>
          <p:cNvSpPr/>
          <p:nvPr/>
        </p:nvSpPr>
        <p:spPr>
          <a:xfrm>
            <a:off x="457200" y="6473952"/>
            <a:ext cx="7315200" cy="228600"/>
          </a:xfrm>
          <a:prstGeom prst="rect">
            <a:avLst/>
          </a:prstGeom>
          <a:noFill/>
          <a:ln/>
        </p:spPr>
        <p:txBody>
          <a:bodyPr wrap="square" lIns="0" tIns="0" rIns="0" bIns="0" rtlCol="0" anchor="ctr"/>
          <a:lstStyle/>
          <a:p>
            <a:pPr indent="0" marL="0">
              <a:buNone/>
            </a:pPr>
            <a:r>
              <a:rPr lang="en-US" sz="800" dirty="0">
                <a:solidFill>
                  <a:srgbClr val="949494"/>
                </a:solidFill>
              </a:rPr>
              <a:t>NTT DATA  ·  Planeación de la red por cohortes de riesgo</a:t>
            </a:r>
            <a:endParaRPr lang="en-US" sz="80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070F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11277295" cy="100584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3" name="Text 0"/>
          <p:cNvSpPr/>
          <p:nvPr/>
        </p:nvSpPr>
        <p:spPr>
          <a:xfrm>
            <a:off x="457200" y="6473952"/>
            <a:ext cx="7315200" cy="228600"/>
          </a:xfrm>
          <a:prstGeom prst="rect">
            <a:avLst/>
          </a:prstGeom>
          <a:noFill/>
          <a:ln/>
        </p:spPr>
        <p:txBody>
          <a:bodyPr wrap="square" lIns="0" tIns="0" rIns="0" bIns="0" rtlCol="0" anchor="ctr"/>
          <a:lstStyle/>
          <a:p>
            <a:pPr indent="0" marL="0">
              <a:buNone/>
            </a:pPr>
            <a:r>
              <a:rPr lang="en-US" sz="800" dirty="0">
                <a:solidFill>
                  <a:srgbClr val="8F9BB3"/>
                </a:solidFill>
              </a:rPr>
              <a:t>NTT DATA  ·  Planeación de la red por cohortes de riesgo</a:t>
            </a:r>
            <a:endParaRPr lang="en-US" sz="80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F9BB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3.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1463040"/>
            <a:ext cx="4846320" cy="2103120"/>
          </a:xfrm>
          <a:prstGeom prst="rect">
            <a:avLst/>
          </a:prstGeom>
          <a:noFill/>
          <a:ln/>
        </p:spPr>
        <p:txBody>
          <a:bodyPr wrap="square" lIns="0" tIns="0" rIns="0" bIns="0" rtlCol="0" anchor="b"/>
          <a:lstStyle/>
          <a:p>
            <a:pPr algn="l" indent="0" marL="0">
              <a:buNone/>
            </a:pPr>
            <a:r>
              <a:rPr lang="en-US" sz="3000" b="1" dirty="0">
                <a:solidFill>
                  <a:schemeClr val="bg1"/>
                </a:solidFill>
              </a:rPr>
              <a:t>Planeación de la red de atención a partir del riesgo de cada cohorte</a:t>
            </a:r>
            <a:endParaRPr lang="en-US" sz="3000" dirty="0"/>
          </a:p>
        </p:txBody>
      </p:sp>
      <p:sp>
        <p:nvSpPr>
          <p:cNvPr id="3" name="Text 0"/>
          <p:cNvSpPr/>
          <p:nvPr>
            <p:ph idx="101" type="body" hasCustomPrompt="1"/>
          </p:nvPr>
        </p:nvSpPr>
        <p:spPr>
          <a:xfrm>
            <a:off x="457200" y="3749040"/>
            <a:ext cx="4754880" cy="1188720"/>
          </a:xfrm>
          <a:prstGeom prst="rect">
            <a:avLst/>
          </a:prstGeom>
          <a:noFill/>
          <a:ln/>
        </p:spPr>
        <p:txBody>
          <a:bodyPr wrap="square" lIns="0" tIns="0" rIns="0" bIns="0" rtlCol="0" anchor="t"/>
          <a:lstStyle/>
          <a:p>
            <a:pPr indent="0" marL="0">
              <a:buNone/>
            </a:pPr>
            <a:r>
              <a:rPr lang="en-US" sz="1400" dirty="0">
                <a:solidFill>
                  <a:srgbClr val="C9D3E3"/>
                </a:solidFill>
              </a:rPr>
              <a:t>Un modelo poblacional y un modelo de capacidad conectados para anticipar la demanda crónica por sede, zona y mes</a:t>
            </a:r>
            <a:endParaRPr lang="en-US" sz="1400" dirty="0"/>
          </a:p>
        </p:txBody>
      </p:sp>
      <p:sp>
        <p:nvSpPr>
          <p:cNvPr id="4" name="pie-portada-1"/>
          <p:cNvSpPr txBox="1"/>
          <p:nvPr/>
        </p:nvSpPr>
        <p:spPr>
          <a:xfrm>
            <a:off x="457200" y="5989320"/>
            <a:ext cx="6400800" cy="274320"/>
          </a:xfrm>
          <a:prstGeom prst="rect">
            <a:avLst/>
          </a:prstGeom>
          <a:noFill/>
          <a:ln/>
        </p:spPr>
        <p:txBody>
          <a:bodyPr wrap="square" lIns="0" tIns="0" rIns="0" bIns="0" rtlCol="0" anchor="t"/>
          <a:lstStyle/>
          <a:p>
            <a:pPr indent="0" marL="0">
              <a:buNone/>
            </a:pPr>
            <a:r>
              <a:rPr lang="en-US" sz="1000" dirty="0">
                <a:solidFill>
                  <a:srgbClr val="8F9BB3"/>
                </a:solidFill>
              </a:rPr>
              <a:t>Propuesta para la dirección de Population Health Management  ·  Octubre de 2026</a:t>
            </a:r>
            <a:endParaRPr lang="en-US" sz="1000" dirty="0"/>
          </a:p>
        </p:txBody>
      </p:sp>
      <p:pic>
        <p:nvPicPr>
          <p:cNvPr id="5" name="render-sede-3d" descr="/home/claude/sura/phm-gemelos/deck/capturas/r-portada3d.png">    </p:cNvPr>
          <p:cNvPicPr>
            <a:picLocks noChangeAspect="1"/>
          </p:cNvPicPr>
          <p:nvPr/>
        </p:nvPicPr>
        <p:blipFill>
          <a:blip r:embed="rId1"/>
          <a:stretch>
            <a:fillRect/>
          </a:stretch>
        </p:blipFill>
        <p:spPr>
          <a:xfrm>
            <a:off x="5470855" y="1234440"/>
            <a:ext cx="6400800" cy="3465095"/>
          </a:xfrm>
          <a:prstGeom prst="rect">
            <a:avLst/>
          </a:prstGeom>
        </p:spPr>
      </p:pic>
      <p:sp>
        <p:nvSpPr>
          <p:cNvPr id="6" name="nota-render-2"/>
          <p:cNvSpPr txBox="1"/>
          <p:nvPr/>
        </p:nvSpPr>
        <p:spPr>
          <a:xfrm>
            <a:off x="8031175" y="4790975"/>
            <a:ext cx="3840480" cy="228600"/>
          </a:xfrm>
          <a:prstGeom prst="rect">
            <a:avLst/>
          </a:prstGeom>
          <a:noFill/>
          <a:ln/>
        </p:spPr>
        <p:txBody>
          <a:bodyPr wrap="square" lIns="0" tIns="0" rIns="0" bIns="0" rtlCol="0" anchor="t"/>
          <a:lstStyle/>
          <a:p>
            <a:pPr algn="r" indent="0" marL="0">
              <a:buNone/>
            </a:pPr>
            <a:r>
              <a:rPr lang="en-US" sz="900" dirty="0">
                <a:solidFill>
                  <a:srgbClr val="8F9BB3"/>
                </a:solidFill>
              </a:rPr>
              <a:t>Modelo de capacidad de una sede con datos sintéticos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La gestión del riesgo cambia la demanda de la red, y hoy la capacidad se planea sin ver ese cambio a tiempo</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El portal conecta ambas decisiones y muestra dónde, cuándo y por qué se tensiona la red cuando cambia la cobertura del programa.</a:t>
            </a:r>
            <a:endParaRPr lang="en-US" sz="1250" dirty="0"/>
          </a:p>
        </p:txBody>
      </p:sp>
      <p:sp>
        <p:nvSpPr>
          <p:cNvPr id="4" name="etiqueta-3"/>
          <p:cNvSpPr txBox="1"/>
          <p:nvPr/>
        </p:nvSpPr>
        <p:spPr>
          <a:xfrm>
            <a:off x="457200" y="1645920"/>
            <a:ext cx="5486400" cy="201168"/>
          </a:xfrm>
          <a:prstGeom prst="rect">
            <a:avLst/>
          </a:prstGeom>
          <a:noFill/>
          <a:ln/>
        </p:spPr>
        <p:txBody>
          <a:bodyPr wrap="square" lIns="0" tIns="0" rIns="0" bIns="0" rtlCol="0" anchor="t"/>
          <a:lstStyle/>
          <a:p>
            <a:pPr indent="0" marL="0">
              <a:buNone/>
            </a:pPr>
            <a:r>
              <a:rPr lang="en-US" sz="850" b="1" spc="50" kern="0" dirty="0">
                <a:solidFill>
                  <a:schemeClr val="accent1"/>
                </a:solidFill>
              </a:rPr>
              <a:t>POR QUÉ OCURRE</a:t>
            </a:r>
            <a:endParaRPr lang="en-US" sz="850" dirty="0"/>
          </a:p>
        </p:txBody>
      </p:sp>
      <p:sp>
        <p:nvSpPr>
          <p:cNvPr id="5" name="tension-4"/>
          <p:cNvSpPr/>
          <p:nvPr/>
        </p:nvSpPr>
        <p:spPr>
          <a:xfrm>
            <a:off x="457200" y="1920240"/>
            <a:ext cx="5486400" cy="1354836"/>
          </a:xfrm>
          <a:prstGeom prst="roundRect">
            <a:avLst>
              <a:gd name="adj" fmla="val 4724"/>
            </a:avLst>
          </a:prstGeom>
          <a:solidFill>
            <a:schemeClr val="bg2"/>
          </a:solidFill>
          <a:ln w="9525">
            <a:solidFill>
              <a:srgbClr val="D5DCE5"/>
            </a:solidFill>
            <a:prstDash val="solid"/>
          </a:ln>
        </p:spPr>
      </p:sp>
      <p:sp>
        <p:nvSpPr>
          <p:cNvPr id="6" name="icono-fondo-5"/>
          <p:cNvSpPr/>
          <p:nvPr/>
        </p:nvSpPr>
        <p:spPr>
          <a:xfrm>
            <a:off x="621792" y="2084832"/>
            <a:ext cx="438912" cy="438912"/>
          </a:xfrm>
          <a:prstGeom prst="ellipse">
            <a:avLst/>
          </a:prstGeom>
          <a:solidFill>
            <a:schemeClr val="accent1">
              <a:alpha val="12000"/>
            </a:schemeClr>
          </a:solidFill>
          <a:ln/>
        </p:spPr>
      </p:sp>
      <p:pic>
        <p:nvPicPr>
          <p:cNvPr id="7" name="icono-6" descr="preencoded.png">    </p:cNvPr>
          <p:cNvPicPr>
            <a:picLocks noChangeAspect="1"/>
          </p:cNvPicPr>
          <p:nvPr/>
        </p:nvPicPr>
        <p:blipFill>
          <a:blip r:embed="rId1"/>
          <a:stretch>
            <a:fillRect/>
          </a:stretch>
        </p:blipFill>
        <p:spPr>
          <a:xfrm>
            <a:off x="718353" y="2181393"/>
            <a:ext cx="245791" cy="245791"/>
          </a:xfrm>
          <a:prstGeom prst="rect">
            <a:avLst/>
          </a:prstGeom>
        </p:spPr>
      </p:pic>
      <p:sp>
        <p:nvSpPr>
          <p:cNvPr id="8" name="tension-titulo-7"/>
          <p:cNvSpPr txBox="1"/>
          <p:nvPr/>
        </p:nvSpPr>
        <p:spPr>
          <a:xfrm>
            <a:off x="1234440" y="2057400"/>
            <a:ext cx="4526280" cy="256032"/>
          </a:xfrm>
          <a:prstGeom prst="rect">
            <a:avLst/>
          </a:prstGeom>
          <a:noFill/>
          <a:ln/>
        </p:spPr>
        <p:txBody>
          <a:bodyPr wrap="square" lIns="0" tIns="0" rIns="0" bIns="0" rtlCol="0" anchor="t"/>
          <a:lstStyle/>
          <a:p>
            <a:pPr indent="0" marL="0">
              <a:buNone/>
            </a:pPr>
            <a:r>
              <a:rPr lang="en-US" sz="1100" b="1" dirty="0">
                <a:solidFill>
                  <a:schemeClr val="tx1"/>
                </a:solidFill>
              </a:rPr>
              <a:t>Los efectos llegan en tiempos distintos</a:t>
            </a:r>
            <a:endParaRPr lang="en-US" sz="1100" dirty="0"/>
          </a:p>
        </p:txBody>
      </p:sp>
      <p:sp>
        <p:nvSpPr>
          <p:cNvPr id="9" name="tension-texto-8"/>
          <p:cNvSpPr txBox="1"/>
          <p:nvPr/>
        </p:nvSpPr>
        <p:spPr>
          <a:xfrm>
            <a:off x="1234440" y="2340864"/>
            <a:ext cx="4526280" cy="760476"/>
          </a:xfrm>
          <a:prstGeom prst="rect">
            <a:avLst/>
          </a:prstGeom>
          <a:noFill/>
          <a:ln/>
        </p:spPr>
        <p:txBody>
          <a:bodyPr wrap="square" lIns="0" tIns="0" rIns="0" bIns="0" rtlCol="0" anchor="t"/>
          <a:lstStyle/>
          <a:p>
            <a:pPr indent="0" marL="0">
              <a:buNone/>
            </a:pPr>
            <a:r>
              <a:rPr lang="en-US" sz="950" dirty="0">
                <a:solidFill>
                  <a:schemeClr val="tx2"/>
                </a:solidFill>
              </a:rPr>
              <a:t>Cuando el programa incorpora más personas, la primera consecuencia es operativa: más controles programados, más laboratorios y más seguimiento. La reducción de descompensaciones y hospitalizaciones evitables llega después, a medida que las personas pasan a estratos controlados, y solo en la fracción de hospitalizaciones sensibles al cuidado ambulatorio.</a:t>
            </a:r>
            <a:endParaRPr lang="en-US" sz="950" dirty="0"/>
          </a:p>
        </p:txBody>
      </p:sp>
      <p:sp>
        <p:nvSpPr>
          <p:cNvPr id="10" name="tension-9"/>
          <p:cNvSpPr/>
          <p:nvPr/>
        </p:nvSpPr>
        <p:spPr>
          <a:xfrm>
            <a:off x="457200" y="3412236"/>
            <a:ext cx="5486400" cy="1065276"/>
          </a:xfrm>
          <a:prstGeom prst="roundRect">
            <a:avLst>
              <a:gd name="adj" fmla="val 6009"/>
            </a:avLst>
          </a:prstGeom>
          <a:solidFill>
            <a:schemeClr val="bg2"/>
          </a:solidFill>
          <a:ln w="9525">
            <a:solidFill>
              <a:srgbClr val="D5DCE5"/>
            </a:solidFill>
            <a:prstDash val="solid"/>
          </a:ln>
        </p:spPr>
      </p:sp>
      <p:sp>
        <p:nvSpPr>
          <p:cNvPr id="11" name="icono-fondo-10"/>
          <p:cNvSpPr/>
          <p:nvPr/>
        </p:nvSpPr>
        <p:spPr>
          <a:xfrm>
            <a:off x="621792" y="3576828"/>
            <a:ext cx="438912" cy="438912"/>
          </a:xfrm>
          <a:prstGeom prst="ellipse">
            <a:avLst/>
          </a:prstGeom>
          <a:solidFill>
            <a:schemeClr val="accent1">
              <a:alpha val="12000"/>
            </a:schemeClr>
          </a:solidFill>
          <a:ln/>
        </p:spPr>
      </p:sp>
      <p:pic>
        <p:nvPicPr>
          <p:cNvPr id="12" name="icono-11" descr="preencoded.png">    </p:cNvPr>
          <p:cNvPicPr>
            <a:picLocks noChangeAspect="1"/>
          </p:cNvPicPr>
          <p:nvPr/>
        </p:nvPicPr>
        <p:blipFill>
          <a:blip r:embed="rId2"/>
          <a:stretch>
            <a:fillRect/>
          </a:stretch>
        </p:blipFill>
        <p:spPr>
          <a:xfrm>
            <a:off x="718353" y="3673389"/>
            <a:ext cx="245791" cy="245791"/>
          </a:xfrm>
          <a:prstGeom prst="rect">
            <a:avLst/>
          </a:prstGeom>
        </p:spPr>
      </p:pic>
      <p:sp>
        <p:nvSpPr>
          <p:cNvPr id="13" name="tension-titulo-12"/>
          <p:cNvSpPr txBox="1"/>
          <p:nvPr/>
        </p:nvSpPr>
        <p:spPr>
          <a:xfrm>
            <a:off x="1234440" y="3549396"/>
            <a:ext cx="4526280" cy="256032"/>
          </a:xfrm>
          <a:prstGeom prst="rect">
            <a:avLst/>
          </a:prstGeom>
          <a:noFill/>
          <a:ln/>
        </p:spPr>
        <p:txBody>
          <a:bodyPr wrap="square" lIns="0" tIns="0" rIns="0" bIns="0" rtlCol="0" anchor="t"/>
          <a:lstStyle/>
          <a:p>
            <a:pPr indent="0" marL="0">
              <a:buNone/>
            </a:pPr>
            <a:r>
              <a:rPr lang="en-US" sz="1100" b="1" dirty="0">
                <a:solidFill>
                  <a:schemeClr val="tx1"/>
                </a:solidFill>
              </a:rPr>
              <a:t>La tensión ocurre en zonas y meses concretos</a:t>
            </a:r>
            <a:endParaRPr lang="en-US" sz="1100" dirty="0"/>
          </a:p>
        </p:txBody>
      </p:sp>
      <p:sp>
        <p:nvSpPr>
          <p:cNvPr id="14" name="tension-texto-13"/>
          <p:cNvSpPr txBox="1"/>
          <p:nvPr/>
        </p:nvSpPr>
        <p:spPr>
          <a:xfrm>
            <a:off x="1234440" y="3832860"/>
            <a:ext cx="4526280" cy="470916"/>
          </a:xfrm>
          <a:prstGeom prst="rect">
            <a:avLst/>
          </a:prstGeom>
          <a:noFill/>
          <a:ln/>
        </p:spPr>
        <p:txBody>
          <a:bodyPr wrap="square" lIns="0" tIns="0" rIns="0" bIns="0" rtlCol="0" anchor="t"/>
          <a:lstStyle/>
          <a:p>
            <a:pPr indent="0" marL="0">
              <a:buNone/>
            </a:pPr>
            <a:r>
              <a:rPr lang="en-US" sz="950" dirty="0">
                <a:solidFill>
                  <a:schemeClr val="tx2"/>
                </a:solidFill>
              </a:rPr>
              <a:t>La capacidad suele planearse por sede y por año. La saturación aparece en una zona específica, como consulta externa o admisión, y en los meses de mayor demanda estacional; un promedio anual por sede la oculta.</a:t>
            </a:r>
            <a:endParaRPr lang="en-US" sz="950" dirty="0"/>
          </a:p>
        </p:txBody>
      </p:sp>
      <p:sp>
        <p:nvSpPr>
          <p:cNvPr id="15" name="tension-14"/>
          <p:cNvSpPr/>
          <p:nvPr/>
        </p:nvSpPr>
        <p:spPr>
          <a:xfrm>
            <a:off x="457200" y="4614672"/>
            <a:ext cx="5486400" cy="1210056"/>
          </a:xfrm>
          <a:prstGeom prst="roundRect">
            <a:avLst>
              <a:gd name="adj" fmla="val 5290"/>
            </a:avLst>
          </a:prstGeom>
          <a:solidFill>
            <a:schemeClr val="bg2"/>
          </a:solidFill>
          <a:ln w="9525">
            <a:solidFill>
              <a:srgbClr val="D5DCE5"/>
            </a:solidFill>
            <a:prstDash val="solid"/>
          </a:ln>
        </p:spPr>
      </p:sp>
      <p:sp>
        <p:nvSpPr>
          <p:cNvPr id="16" name="icono-fondo-15"/>
          <p:cNvSpPr/>
          <p:nvPr/>
        </p:nvSpPr>
        <p:spPr>
          <a:xfrm>
            <a:off x="621792" y="4779264"/>
            <a:ext cx="438912" cy="438912"/>
          </a:xfrm>
          <a:prstGeom prst="ellipse">
            <a:avLst/>
          </a:prstGeom>
          <a:solidFill>
            <a:schemeClr val="accent1">
              <a:alpha val="12000"/>
            </a:schemeClr>
          </a:solidFill>
          <a:ln/>
        </p:spPr>
      </p:sp>
      <p:pic>
        <p:nvPicPr>
          <p:cNvPr id="17" name="icono-16" descr="preencoded.png">    </p:cNvPr>
          <p:cNvPicPr>
            <a:picLocks noChangeAspect="1"/>
          </p:cNvPicPr>
          <p:nvPr/>
        </p:nvPicPr>
        <p:blipFill>
          <a:blip r:embed="rId3"/>
          <a:stretch>
            <a:fillRect/>
          </a:stretch>
        </p:blipFill>
        <p:spPr>
          <a:xfrm>
            <a:off x="718353" y="4875825"/>
            <a:ext cx="245791" cy="245791"/>
          </a:xfrm>
          <a:prstGeom prst="rect">
            <a:avLst/>
          </a:prstGeom>
        </p:spPr>
      </p:pic>
      <p:sp>
        <p:nvSpPr>
          <p:cNvPr id="18" name="tension-titulo-17"/>
          <p:cNvSpPr txBox="1"/>
          <p:nvPr/>
        </p:nvSpPr>
        <p:spPr>
          <a:xfrm>
            <a:off x="1234440" y="4751832"/>
            <a:ext cx="4526280" cy="256032"/>
          </a:xfrm>
          <a:prstGeom prst="rect">
            <a:avLst/>
          </a:prstGeom>
          <a:noFill/>
          <a:ln/>
        </p:spPr>
        <p:txBody>
          <a:bodyPr wrap="square" lIns="0" tIns="0" rIns="0" bIns="0" rtlCol="0" anchor="t"/>
          <a:lstStyle/>
          <a:p>
            <a:pPr indent="0" marL="0">
              <a:buNone/>
            </a:pPr>
            <a:r>
              <a:rPr lang="en-US" sz="1100" b="1" dirty="0">
                <a:solidFill>
                  <a:schemeClr val="tx1"/>
                </a:solidFill>
              </a:rPr>
              <a:t>Los canales alternos se dimensionan aparte</a:t>
            </a:r>
            <a:endParaRPr lang="en-US" sz="1100" dirty="0"/>
          </a:p>
        </p:txBody>
      </p:sp>
      <p:sp>
        <p:nvSpPr>
          <p:cNvPr id="19" name="tension-texto-18"/>
          <p:cNvSpPr txBox="1"/>
          <p:nvPr/>
        </p:nvSpPr>
        <p:spPr>
          <a:xfrm>
            <a:off x="1234440" y="5035296"/>
            <a:ext cx="4526280" cy="615696"/>
          </a:xfrm>
          <a:prstGeom prst="rect">
            <a:avLst/>
          </a:prstGeom>
          <a:noFill/>
          <a:ln/>
        </p:spPr>
        <p:txBody>
          <a:bodyPr wrap="square" lIns="0" tIns="0" rIns="0" bIns="0" rtlCol="0" anchor="t"/>
          <a:lstStyle/>
          <a:p>
            <a:pPr indent="0" marL="0">
              <a:buNone/>
            </a:pPr>
            <a:r>
              <a:rPr lang="en-US" sz="950" dirty="0">
                <a:solidFill>
                  <a:schemeClr val="tx2"/>
                </a:solidFill>
              </a:rPr>
              <a:t>La atención domiciliaria y la virtual pueden absorber parte de los controles. Su efecto depende del estrato clínico de cada persona y de cuántas atenciones virtuales terminan regresando a consulta presencial, por lo que deben dimensionarse con la cohorte y no con promedios de la sede.</a:t>
            </a:r>
            <a:endParaRPr lang="en-US" sz="950" dirty="0"/>
          </a:p>
        </p:txBody>
      </p:sp>
      <p:sp>
        <p:nvSpPr>
          <p:cNvPr id="20" name="etiqueta-19"/>
          <p:cNvSpPr txBox="1"/>
          <p:nvPr/>
        </p:nvSpPr>
        <p:spPr>
          <a:xfrm>
            <a:off x="6309360" y="1645920"/>
            <a:ext cx="5425135" cy="201168"/>
          </a:xfrm>
          <a:prstGeom prst="rect">
            <a:avLst/>
          </a:prstGeom>
          <a:noFill/>
          <a:ln/>
        </p:spPr>
        <p:txBody>
          <a:bodyPr wrap="square" lIns="0" tIns="0" rIns="0" bIns="0" rtlCol="0" anchor="t"/>
          <a:lstStyle/>
          <a:p>
            <a:pPr indent="0" marL="0">
              <a:buNone/>
            </a:pPr>
            <a:r>
              <a:rPr lang="en-US" sz="850" b="1" spc="50" kern="0" dirty="0">
                <a:solidFill>
                  <a:schemeClr val="accent2"/>
                </a:solidFill>
              </a:rPr>
              <a:t>HALLAZGOS PRINCIPALES EN LA RED DE DEMOSTRACIÓN</a:t>
            </a:r>
            <a:endParaRPr lang="en-US" sz="850" dirty="0"/>
          </a:p>
        </p:txBody>
      </p:sp>
      <p:sp>
        <p:nvSpPr>
          <p:cNvPr id="21" name="insignia-20"/>
          <p:cNvSpPr/>
          <p:nvPr/>
        </p:nvSpPr>
        <p:spPr>
          <a:xfrm>
            <a:off x="6309360" y="1938528"/>
            <a:ext cx="292608" cy="292608"/>
          </a:xfrm>
          <a:prstGeom prst="ellipse">
            <a:avLst/>
          </a:prstGeom>
          <a:solidFill>
            <a:srgbClr val="009AA4"/>
          </a:solidFill>
          <a:ln/>
        </p:spPr>
      </p:sp>
      <p:sp>
        <p:nvSpPr>
          <p:cNvPr id="22" name="insignia-texto-21"/>
          <p:cNvSpPr txBox="1"/>
          <p:nvPr/>
        </p:nvSpPr>
        <p:spPr>
          <a:xfrm>
            <a:off x="6309360" y="193852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3" name="hallazgo-titulo-22"/>
          <p:cNvSpPr txBox="1"/>
          <p:nvPr/>
        </p:nvSpPr>
        <p:spPr>
          <a:xfrm>
            <a:off x="6766560" y="1920240"/>
            <a:ext cx="4967935" cy="237744"/>
          </a:xfrm>
          <a:prstGeom prst="rect">
            <a:avLst/>
          </a:prstGeom>
          <a:noFill/>
          <a:ln/>
        </p:spPr>
        <p:txBody>
          <a:bodyPr wrap="square" lIns="0" tIns="0" rIns="0" bIns="0" rtlCol="0" anchor="t"/>
          <a:lstStyle/>
          <a:p>
            <a:pPr indent="0" marL="0">
              <a:buNone/>
            </a:pPr>
            <a:r>
              <a:rPr lang="en-US" sz="1100" b="1" dirty="0">
                <a:solidFill>
                  <a:schemeClr val="tx1"/>
                </a:solidFill>
              </a:rPr>
              <a:t>Ampliar la cobertura sin ajustar la red empeora el acceso</a:t>
            </a:r>
            <a:endParaRPr lang="en-US" sz="1100" dirty="0"/>
          </a:p>
        </p:txBody>
      </p:sp>
      <p:sp>
        <p:nvSpPr>
          <p:cNvPr id="24" name="hallazgo-texto-23"/>
          <p:cNvSpPr txBox="1"/>
          <p:nvPr/>
        </p:nvSpPr>
        <p:spPr>
          <a:xfrm>
            <a:off x="6766560" y="2176272"/>
            <a:ext cx="4967935" cy="470916"/>
          </a:xfrm>
          <a:prstGeom prst="rect">
            <a:avLst/>
          </a:prstGeom>
          <a:noFill/>
          <a:ln/>
        </p:spPr>
        <p:txBody>
          <a:bodyPr wrap="square" lIns="0" tIns="0" rIns="0" bIns="0" rtlCol="0" anchor="t"/>
          <a:lstStyle/>
          <a:p>
            <a:pPr indent="0" marL="0">
              <a:buNone/>
            </a:pPr>
            <a:r>
              <a:rPr lang="en-US" sz="950" dirty="0">
                <a:solidFill>
                  <a:schemeClr val="tx2"/>
                </a:solidFill>
              </a:rPr>
              <a:t>El aumento de controles llega antes que cualquier alivio clínico y se concentra en consulta externa, por lo que las sedes más cargadas tardan más en asignar citas.</a:t>
            </a:r>
            <a:endParaRPr lang="en-US" sz="950" dirty="0"/>
          </a:p>
        </p:txBody>
      </p:sp>
      <p:sp>
        <p:nvSpPr>
          <p:cNvPr id="25" name="insignia-24"/>
          <p:cNvSpPr/>
          <p:nvPr/>
        </p:nvSpPr>
        <p:spPr>
          <a:xfrm>
            <a:off x="6309360" y="2811780"/>
            <a:ext cx="292608" cy="292608"/>
          </a:xfrm>
          <a:prstGeom prst="ellipse">
            <a:avLst/>
          </a:prstGeom>
          <a:solidFill>
            <a:srgbClr val="009AA4"/>
          </a:solidFill>
          <a:ln/>
        </p:spPr>
      </p:sp>
      <p:sp>
        <p:nvSpPr>
          <p:cNvPr id="26" name="insignia-texto-25"/>
          <p:cNvSpPr txBox="1"/>
          <p:nvPr/>
        </p:nvSpPr>
        <p:spPr>
          <a:xfrm>
            <a:off x="6309360" y="2811780"/>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7" name="hallazgo-titulo-26"/>
          <p:cNvSpPr txBox="1"/>
          <p:nvPr/>
        </p:nvSpPr>
        <p:spPr>
          <a:xfrm>
            <a:off x="6766560" y="2793492"/>
            <a:ext cx="4967935" cy="237744"/>
          </a:xfrm>
          <a:prstGeom prst="rect">
            <a:avLst/>
          </a:prstGeom>
          <a:noFill/>
          <a:ln/>
        </p:spPr>
        <p:txBody>
          <a:bodyPr wrap="square" lIns="0" tIns="0" rIns="0" bIns="0" rtlCol="0" anchor="t"/>
          <a:lstStyle/>
          <a:p>
            <a:pPr indent="0" marL="0">
              <a:buNone/>
            </a:pPr>
            <a:r>
              <a:rPr lang="en-US" sz="1100" b="1" dirty="0">
                <a:solidFill>
                  <a:schemeClr val="tx1"/>
                </a:solidFill>
              </a:rPr>
              <a:t>El beneficio clínico es real y gradual</a:t>
            </a:r>
            <a:endParaRPr lang="en-US" sz="1100" dirty="0"/>
          </a:p>
        </p:txBody>
      </p:sp>
      <p:sp>
        <p:nvSpPr>
          <p:cNvPr id="28" name="hallazgo-texto-27"/>
          <p:cNvSpPr txBox="1"/>
          <p:nvPr/>
        </p:nvSpPr>
        <p:spPr>
          <a:xfrm>
            <a:off x="6766560" y="3049524"/>
            <a:ext cx="4967935" cy="470916"/>
          </a:xfrm>
          <a:prstGeom prst="rect">
            <a:avLst/>
          </a:prstGeom>
          <a:noFill/>
          <a:ln/>
        </p:spPr>
        <p:txBody>
          <a:bodyPr wrap="square" lIns="0" tIns="0" rIns="0" bIns="0" rtlCol="0" anchor="t"/>
          <a:lstStyle/>
          <a:p>
            <a:pPr indent="0" marL="0">
              <a:buNone/>
            </a:pPr>
            <a:r>
              <a:rPr lang="en-US" sz="950" dirty="0">
                <a:solidFill>
                  <a:schemeClr val="tx2"/>
                </a:solidFill>
              </a:rPr>
              <a:t>Las personas avanzan hacia estratos controlados mes a mes; en un año, las hospitalizaciones evitadas son pocas frente al aumento de controles, y el efecto crece en horizontes más largos.</a:t>
            </a:r>
            <a:endParaRPr lang="en-US" sz="950" dirty="0"/>
          </a:p>
        </p:txBody>
      </p:sp>
      <p:sp>
        <p:nvSpPr>
          <p:cNvPr id="29" name="insignia-28"/>
          <p:cNvSpPr/>
          <p:nvPr/>
        </p:nvSpPr>
        <p:spPr>
          <a:xfrm>
            <a:off x="6309360" y="3685032"/>
            <a:ext cx="292608" cy="292608"/>
          </a:xfrm>
          <a:prstGeom prst="ellipse">
            <a:avLst/>
          </a:prstGeom>
          <a:solidFill>
            <a:srgbClr val="009AA4"/>
          </a:solidFill>
          <a:ln/>
        </p:spPr>
      </p:sp>
      <p:sp>
        <p:nvSpPr>
          <p:cNvPr id="30" name="insignia-texto-29"/>
          <p:cNvSpPr txBox="1"/>
          <p:nvPr/>
        </p:nvSpPr>
        <p:spPr>
          <a:xfrm>
            <a:off x="6309360" y="3685032"/>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31" name="hallazgo-titulo-30"/>
          <p:cNvSpPr txBox="1"/>
          <p:nvPr/>
        </p:nvSpPr>
        <p:spPr>
          <a:xfrm>
            <a:off x="6766560" y="3666744"/>
            <a:ext cx="4967935" cy="237744"/>
          </a:xfrm>
          <a:prstGeom prst="rect">
            <a:avLst/>
          </a:prstGeom>
          <a:noFill/>
          <a:ln/>
        </p:spPr>
        <p:txBody>
          <a:bodyPr wrap="square" lIns="0" tIns="0" rIns="0" bIns="0" rtlCol="0" anchor="t"/>
          <a:lstStyle/>
          <a:p>
            <a:pPr indent="0" marL="0">
              <a:buNone/>
            </a:pPr>
            <a:r>
              <a:rPr lang="en-US" sz="1100" b="1" dirty="0">
                <a:solidFill>
                  <a:schemeClr val="tx1"/>
                </a:solidFill>
              </a:rPr>
              <a:t>La saturación se concentra y permite actuar de forma focalizada</a:t>
            </a:r>
            <a:endParaRPr lang="en-US" sz="1100" dirty="0"/>
          </a:p>
        </p:txBody>
      </p:sp>
      <p:sp>
        <p:nvSpPr>
          <p:cNvPr id="32" name="hallazgo-texto-31"/>
          <p:cNvSpPr txBox="1"/>
          <p:nvPr/>
        </p:nvSpPr>
        <p:spPr>
          <a:xfrm>
            <a:off x="6766560" y="3922776"/>
            <a:ext cx="4967935" cy="326136"/>
          </a:xfrm>
          <a:prstGeom prst="rect">
            <a:avLst/>
          </a:prstGeom>
          <a:noFill/>
          <a:ln/>
        </p:spPr>
        <p:txBody>
          <a:bodyPr wrap="square" lIns="0" tIns="0" rIns="0" bIns="0" rtlCol="0" anchor="t"/>
          <a:lstStyle/>
          <a:p>
            <a:pPr indent="0" marL="0">
              <a:buNone/>
            </a:pPr>
            <a:r>
              <a:rPr lang="en-US" sz="950" dirty="0">
                <a:solidFill>
                  <a:schemeClr val="tx2"/>
                </a:solidFill>
              </a:rPr>
              <a:t>Pocas zonas en pocos meses explican casi toda la tensión de la red; una sede concentra la mayor parte del problema.</a:t>
            </a:r>
            <a:endParaRPr lang="en-US" sz="950" dirty="0"/>
          </a:p>
        </p:txBody>
      </p:sp>
      <p:sp>
        <p:nvSpPr>
          <p:cNvPr id="33" name="insignia-32"/>
          <p:cNvSpPr/>
          <p:nvPr/>
        </p:nvSpPr>
        <p:spPr>
          <a:xfrm>
            <a:off x="6309360" y="4413504"/>
            <a:ext cx="292608" cy="292608"/>
          </a:xfrm>
          <a:prstGeom prst="ellipse">
            <a:avLst/>
          </a:prstGeom>
          <a:solidFill>
            <a:srgbClr val="009AA4"/>
          </a:solidFill>
          <a:ln/>
        </p:spPr>
      </p:sp>
      <p:sp>
        <p:nvSpPr>
          <p:cNvPr id="34" name="insignia-texto-33"/>
          <p:cNvSpPr txBox="1"/>
          <p:nvPr/>
        </p:nvSpPr>
        <p:spPr>
          <a:xfrm>
            <a:off x="6309360" y="4413504"/>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5" name="hallazgo-titulo-34"/>
          <p:cNvSpPr txBox="1"/>
          <p:nvPr/>
        </p:nvSpPr>
        <p:spPr>
          <a:xfrm>
            <a:off x="6766560" y="4395216"/>
            <a:ext cx="4967935" cy="237744"/>
          </a:xfrm>
          <a:prstGeom prst="rect">
            <a:avLst/>
          </a:prstGeom>
          <a:noFill/>
          <a:ln/>
        </p:spPr>
        <p:txBody>
          <a:bodyPr wrap="square" lIns="0" tIns="0" rIns="0" bIns="0" rtlCol="0" anchor="t"/>
          <a:lstStyle/>
          <a:p>
            <a:pPr indent="0" marL="0">
              <a:buNone/>
            </a:pPr>
            <a:r>
              <a:rPr lang="en-US" sz="1100" b="1" dirty="0">
                <a:solidFill>
                  <a:schemeClr val="tx1"/>
                </a:solidFill>
              </a:rPr>
              <a:t>Los canales alternos devuelven el acceso</a:t>
            </a:r>
            <a:endParaRPr lang="en-US" sz="1100" dirty="0"/>
          </a:p>
        </p:txBody>
      </p:sp>
      <p:sp>
        <p:nvSpPr>
          <p:cNvPr id="36" name="hallazgo-texto-35"/>
          <p:cNvSpPr txBox="1"/>
          <p:nvPr/>
        </p:nvSpPr>
        <p:spPr>
          <a:xfrm>
            <a:off x="6766560" y="4651248"/>
            <a:ext cx="4967935" cy="470916"/>
          </a:xfrm>
          <a:prstGeom prst="rect">
            <a:avLst/>
          </a:prstGeom>
          <a:noFill/>
          <a:ln/>
        </p:spPr>
        <p:txBody>
          <a:bodyPr wrap="square" lIns="0" tIns="0" rIns="0" bIns="0" rtlCol="0" anchor="t"/>
          <a:lstStyle/>
          <a:p>
            <a:pPr indent="0" marL="0">
              <a:buNone/>
            </a:pPr>
            <a:r>
              <a:rPr lang="en-US" sz="950" dirty="0">
                <a:solidFill>
                  <a:schemeClr val="tx2"/>
                </a:solidFill>
              </a:rPr>
              <a:t>La atención domiciliaria y la virtual, dimensionadas por estrato y acompañadas de recordatorios, liberan suficiente capacidad presencial para eliminar la saturación en toda la red.</a:t>
            </a:r>
            <a:endParaRPr lang="en-US" sz="950" dirty="0"/>
          </a:p>
        </p:txBody>
      </p:sp>
      <p:sp>
        <p:nvSpPr>
          <p:cNvPr id="37" name="insignia-36"/>
          <p:cNvSpPr/>
          <p:nvPr/>
        </p:nvSpPr>
        <p:spPr>
          <a:xfrm>
            <a:off x="6309360" y="5286756"/>
            <a:ext cx="292608" cy="292608"/>
          </a:xfrm>
          <a:prstGeom prst="ellipse">
            <a:avLst/>
          </a:prstGeom>
          <a:solidFill>
            <a:srgbClr val="009AA4"/>
          </a:solidFill>
          <a:ln/>
        </p:spPr>
      </p:sp>
      <p:sp>
        <p:nvSpPr>
          <p:cNvPr id="38" name="insignia-texto-37"/>
          <p:cNvSpPr txBox="1"/>
          <p:nvPr/>
        </p:nvSpPr>
        <p:spPr>
          <a:xfrm>
            <a:off x="6309360" y="5286756"/>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9" name="hallazgo-titulo-38"/>
          <p:cNvSpPr txBox="1"/>
          <p:nvPr/>
        </p:nvSpPr>
        <p:spPr>
          <a:xfrm>
            <a:off x="6766560" y="5268468"/>
            <a:ext cx="4967935" cy="237744"/>
          </a:xfrm>
          <a:prstGeom prst="rect">
            <a:avLst/>
          </a:prstGeom>
          <a:noFill/>
          <a:ln/>
        </p:spPr>
        <p:txBody>
          <a:bodyPr wrap="square" lIns="0" tIns="0" rIns="0" bIns="0" rtlCol="0" anchor="t"/>
          <a:lstStyle/>
          <a:p>
            <a:pPr indent="0" marL="0">
              <a:buNone/>
            </a:pPr>
            <a:r>
              <a:rPr lang="en-US" sz="1100" b="1" dirty="0">
                <a:solidFill>
                  <a:schemeClr val="tx1"/>
                </a:solidFill>
              </a:rPr>
              <a:t>Ese alivio tiene un costo que debe decidirse</a:t>
            </a:r>
            <a:endParaRPr lang="en-US" sz="1100" dirty="0"/>
          </a:p>
        </p:txBody>
      </p:sp>
      <p:sp>
        <p:nvSpPr>
          <p:cNvPr id="40" name="hallazgo-texto-39"/>
          <p:cNvSpPr txBox="1"/>
          <p:nvPr/>
        </p:nvSpPr>
        <p:spPr>
          <a:xfrm>
            <a:off x="6766560" y="5524500"/>
            <a:ext cx="4967935" cy="326136"/>
          </a:xfrm>
          <a:prstGeom prst="rect">
            <a:avLst/>
          </a:prstGeom>
          <a:noFill/>
          <a:ln/>
        </p:spPr>
        <p:txBody>
          <a:bodyPr wrap="square" lIns="0" tIns="0" rIns="0" bIns="0" rtlCol="0" anchor="t"/>
          <a:lstStyle/>
          <a:p>
            <a:pPr indent="0" marL="0">
              <a:buNone/>
            </a:pPr>
            <a:r>
              <a:rPr lang="en-US" sz="950" dirty="0">
                <a:solidFill>
                  <a:schemeClr val="tx2"/>
                </a:solidFill>
              </a:rPr>
              <a:t>Los canales requieren equipos domiciliarios y médicos virtuales adicionales; su costo debe compararse con el valor del acceso oportuno y con la UPC.</a:t>
            </a:r>
            <a:endParaRPr lang="en-US" sz="950" dirty="0"/>
          </a:p>
        </p:txBody>
      </p:sp>
      <p:sp>
        <p:nvSpPr>
          <p:cNvPr id="41" name="nota-hallazgos-40"/>
          <p:cNvSpPr txBox="1"/>
          <p:nvPr/>
        </p:nvSpPr>
        <p:spPr>
          <a:xfrm>
            <a:off x="6309360" y="5943600"/>
            <a:ext cx="5425135" cy="320040"/>
          </a:xfrm>
          <a:prstGeom prst="rect">
            <a:avLst/>
          </a:prstGeom>
          <a:noFill/>
          <a:ln/>
        </p:spPr>
        <p:txBody>
          <a:bodyPr wrap="square" lIns="0" tIns="0" rIns="0" bIns="0" rtlCol="0" anchor="t"/>
          <a:lstStyle/>
          <a:p>
            <a:pPr indent="0" marL="0">
              <a:buNone/>
            </a:pPr>
            <a:r>
              <a:rPr lang="en-US" sz="850" i="1" dirty="0">
                <a:solidFill>
                  <a:schemeClr val="tx2"/>
                </a:solidFill>
              </a:rPr>
              <a:t>Hallazgos obtenidos con datos sintéticos de una red de cuatro sedes. Describen el mecanismo; su magnitud se confirma en la fase de calibración con datos de SURA.</a:t>
            </a:r>
            <a:endParaRPr lang="en-US" sz="8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Un modelo poblacional y un modelo de capacidad conectados traducen el riesgo de cada cohorte en demanda por sede, zona y mes</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Cada etapa produce una salida que consume la siguiente; la decisión vuelve al modelo como cambio de cobertura, canal o capacidad.</a:t>
            </a:r>
            <a:endParaRPr lang="en-US" sz="1250" dirty="0"/>
          </a:p>
        </p:txBody>
      </p:sp>
      <p:sp>
        <p:nvSpPr>
          <p:cNvPr id="4" name="etapa-41"/>
          <p:cNvSpPr/>
          <p:nvPr/>
        </p:nvSpPr>
        <p:spPr>
          <a:xfrm>
            <a:off x="457200" y="1673352"/>
            <a:ext cx="2075688" cy="3429000"/>
          </a:xfrm>
          <a:prstGeom prst="roundRect">
            <a:avLst>
              <a:gd name="adj" fmla="val 3084"/>
            </a:avLst>
          </a:prstGeom>
          <a:solidFill>
            <a:srgbClr val="FFFFFF"/>
          </a:solidFill>
          <a:ln w="9525">
            <a:solidFill>
              <a:srgbClr val="D5DCE5"/>
            </a:solidFill>
            <a:prstDash val="solid"/>
          </a:ln>
        </p:spPr>
      </p:sp>
      <p:sp>
        <p:nvSpPr>
          <p:cNvPr id="5" name="icono-fondo-42"/>
          <p:cNvSpPr/>
          <p:nvPr/>
        </p:nvSpPr>
        <p:spPr>
          <a:xfrm>
            <a:off x="621792" y="1837944"/>
            <a:ext cx="438912" cy="438912"/>
          </a:xfrm>
          <a:prstGeom prst="ellipse">
            <a:avLst/>
          </a:prstGeom>
          <a:solidFill>
            <a:schemeClr val="accent1"/>
          </a:solidFill>
          <a:ln/>
        </p:spPr>
      </p:sp>
      <p:pic>
        <p:nvPicPr>
          <p:cNvPr id="6" name="icono-43" descr="preencoded.png">    </p:cNvPr>
          <p:cNvPicPr>
            <a:picLocks noChangeAspect="1"/>
          </p:cNvPicPr>
          <p:nvPr/>
        </p:nvPicPr>
        <p:blipFill>
          <a:blip r:embed="rId1"/>
          <a:stretch>
            <a:fillRect/>
          </a:stretch>
        </p:blipFill>
        <p:spPr>
          <a:xfrm>
            <a:off x="718353" y="1934505"/>
            <a:ext cx="245791" cy="245791"/>
          </a:xfrm>
          <a:prstGeom prst="rect">
            <a:avLst/>
          </a:prstGeom>
        </p:spPr>
      </p:pic>
      <p:sp>
        <p:nvSpPr>
          <p:cNvPr id="7" name="etapa-num-44"/>
          <p:cNvSpPr txBox="1"/>
          <p:nvPr/>
        </p:nvSpPr>
        <p:spPr>
          <a:xfrm>
            <a:off x="1984248" y="1856232"/>
            <a:ext cx="384048" cy="365760"/>
          </a:xfrm>
          <a:prstGeom prst="rect">
            <a:avLst/>
          </a:prstGeom>
          <a:noFill/>
          <a:ln/>
        </p:spPr>
        <p:txBody>
          <a:bodyPr wrap="square" lIns="0" tIns="0" rIns="0" bIns="0" rtlCol="0" anchor="t"/>
          <a:lstStyle/>
          <a:p>
            <a:pPr algn="r" indent="0" marL="0">
              <a:buNone/>
            </a:pPr>
            <a:r>
              <a:rPr lang="en-US" sz="1600" b="1" dirty="0">
                <a:solidFill>
                  <a:srgbClr val="D5DCE5"/>
                </a:solidFill>
              </a:rPr>
              <a:t>01</a:t>
            </a:r>
            <a:endParaRPr lang="en-US" sz="1600" dirty="0"/>
          </a:p>
        </p:txBody>
      </p:sp>
      <p:sp>
        <p:nvSpPr>
          <p:cNvPr id="8" name="etapa-titulo-45"/>
          <p:cNvSpPr txBox="1"/>
          <p:nvPr/>
        </p:nvSpPr>
        <p:spPr>
          <a:xfrm>
            <a:off x="621792" y="2331720"/>
            <a:ext cx="1746504" cy="420624"/>
          </a:xfrm>
          <a:prstGeom prst="rect">
            <a:avLst/>
          </a:prstGeom>
          <a:noFill/>
          <a:ln/>
        </p:spPr>
        <p:txBody>
          <a:bodyPr wrap="square" lIns="0" tIns="0" rIns="0" bIns="0" rtlCol="0" anchor="b"/>
          <a:lstStyle/>
          <a:p>
            <a:pPr indent="0" marL="0">
              <a:buNone/>
            </a:pPr>
            <a:r>
              <a:rPr lang="en-US" sz="1150" b="1" dirty="0">
                <a:solidFill>
                  <a:schemeClr val="tx1"/>
                </a:solidFill>
              </a:rPr>
              <a:t>Agregados federados</a:t>
            </a:r>
            <a:endParaRPr lang="en-US" sz="1150" dirty="0"/>
          </a:p>
        </p:txBody>
      </p:sp>
      <p:sp>
        <p:nvSpPr>
          <p:cNvPr id="9" name="etapa-texto-46"/>
          <p:cNvSpPr txBox="1"/>
          <p:nvPr/>
        </p:nvSpPr>
        <p:spPr>
          <a:xfrm>
            <a:off x="621792" y="2816352"/>
            <a:ext cx="1746504" cy="1600200"/>
          </a:xfrm>
          <a:prstGeom prst="rect">
            <a:avLst/>
          </a:prstGeom>
          <a:noFill/>
          <a:ln/>
        </p:spPr>
        <p:txBody>
          <a:bodyPr wrap="square" lIns="0" tIns="0" rIns="0" bIns="0" rtlCol="0" anchor="t"/>
          <a:lstStyle/>
          <a:p>
            <a:pPr indent="0" marL="0">
              <a:buNone/>
            </a:pPr>
            <a:r>
              <a:rPr lang="en-US" sz="900" dirty="0">
                <a:solidFill>
                  <a:schemeClr val="tx2"/>
                </a:solidFill>
              </a:rPr>
              <a:t>Cada Data Partner ejecuta la consulta sobre su propio OMOP CDM y devuelve conteos de personas por celda territorial, cohorte y combinación de condiciones. Los conteos menores a 11 se suprimen, de modo que ningún dato individual sale de la fuente.</a:t>
            </a:r>
            <a:endParaRPr lang="en-US" sz="900" dirty="0"/>
          </a:p>
        </p:txBody>
      </p:sp>
      <p:sp>
        <p:nvSpPr>
          <p:cNvPr id="10" name="separador-47"/>
          <p:cNvSpPr/>
          <p:nvPr/>
        </p:nvSpPr>
        <p:spPr>
          <a:xfrm>
            <a:off x="621792" y="4416552"/>
            <a:ext cx="1746504" cy="0"/>
          </a:xfrm>
          <a:prstGeom prst="line">
            <a:avLst/>
          </a:prstGeom>
          <a:noFill/>
          <a:ln w="9525">
            <a:solidFill>
              <a:srgbClr val="D5DCE5"/>
            </a:solidFill>
            <a:prstDash val="solid"/>
          </a:ln>
        </p:spPr>
      </p:sp>
      <p:sp>
        <p:nvSpPr>
          <p:cNvPr id="11" name="produce-48"/>
          <p:cNvSpPr txBox="1"/>
          <p:nvPr/>
        </p:nvSpPr>
        <p:spPr>
          <a:xfrm>
            <a:off x="621792" y="4480560"/>
            <a:ext cx="1371600" cy="164592"/>
          </a:xfrm>
          <a:prstGeom prst="rect">
            <a:avLst/>
          </a:prstGeom>
          <a:noFill/>
          <a:ln/>
        </p:spPr>
        <p:txBody>
          <a:bodyPr wrap="square" lIns="0" tIns="0" rIns="0" bIns="0" rtlCol="0" anchor="t"/>
          <a:lstStyle/>
          <a:p>
            <a:pPr indent="0" marL="0">
              <a:buNone/>
            </a:pPr>
            <a:r>
              <a:rPr lang="en-US" sz="750" b="1" dirty="0">
                <a:solidFill>
                  <a:schemeClr val="accent1"/>
                </a:solidFill>
              </a:rPr>
              <a:t>PRODUCE</a:t>
            </a:r>
            <a:endParaRPr lang="en-US" sz="750" dirty="0"/>
          </a:p>
        </p:txBody>
      </p:sp>
      <p:sp>
        <p:nvSpPr>
          <p:cNvPr id="12" name="salida-49"/>
          <p:cNvSpPr txBox="1"/>
          <p:nvPr/>
        </p:nvSpPr>
        <p:spPr>
          <a:xfrm>
            <a:off x="621792" y="4645152"/>
            <a:ext cx="1746504" cy="411480"/>
          </a:xfrm>
          <a:prstGeom prst="rect">
            <a:avLst/>
          </a:prstGeom>
          <a:noFill/>
          <a:ln/>
        </p:spPr>
        <p:txBody>
          <a:bodyPr wrap="square" lIns="0" tIns="0" rIns="0" bIns="0" rtlCol="0" anchor="t"/>
          <a:lstStyle/>
          <a:p>
            <a:pPr indent="0" marL="0">
              <a:buNone/>
            </a:pPr>
            <a:r>
              <a:rPr lang="en-US" sz="950" b="1" dirty="0">
                <a:solidFill>
                  <a:schemeClr val="tx1"/>
                </a:solidFill>
              </a:rPr>
              <a:t>Población en riesgo por celda</a:t>
            </a:r>
            <a:endParaRPr lang="en-US" sz="950" dirty="0"/>
          </a:p>
        </p:txBody>
      </p:sp>
      <p:pic>
        <p:nvPicPr>
          <p:cNvPr id="13" name="flecha-50" descr="preencoded.png">    </p:cNvPr>
          <p:cNvPicPr>
            <a:picLocks noChangeAspect="1"/>
          </p:cNvPicPr>
          <p:nvPr/>
        </p:nvPicPr>
        <p:blipFill>
          <a:blip r:embed="rId2"/>
          <a:stretch>
            <a:fillRect/>
          </a:stretch>
        </p:blipFill>
        <p:spPr>
          <a:xfrm>
            <a:off x="2551176" y="3273552"/>
            <a:ext cx="182880" cy="182880"/>
          </a:xfrm>
          <a:prstGeom prst="rect">
            <a:avLst/>
          </a:prstGeom>
        </p:spPr>
      </p:pic>
      <p:sp>
        <p:nvSpPr>
          <p:cNvPr id="14" name="etapa-51"/>
          <p:cNvSpPr/>
          <p:nvPr/>
        </p:nvSpPr>
        <p:spPr>
          <a:xfrm>
            <a:off x="2756916" y="1673352"/>
            <a:ext cx="2075688" cy="3429000"/>
          </a:xfrm>
          <a:prstGeom prst="roundRect">
            <a:avLst>
              <a:gd name="adj" fmla="val 3084"/>
            </a:avLst>
          </a:prstGeom>
          <a:solidFill>
            <a:srgbClr val="FFFFFF"/>
          </a:solidFill>
          <a:ln w="9525">
            <a:solidFill>
              <a:srgbClr val="D5DCE5"/>
            </a:solidFill>
            <a:prstDash val="solid"/>
          </a:ln>
        </p:spPr>
      </p:sp>
      <p:sp>
        <p:nvSpPr>
          <p:cNvPr id="15" name="icono-fondo-52"/>
          <p:cNvSpPr/>
          <p:nvPr/>
        </p:nvSpPr>
        <p:spPr>
          <a:xfrm>
            <a:off x="2921508" y="1837944"/>
            <a:ext cx="438912" cy="438912"/>
          </a:xfrm>
          <a:prstGeom prst="ellipse">
            <a:avLst/>
          </a:prstGeom>
          <a:solidFill>
            <a:schemeClr val="accent4"/>
          </a:solidFill>
          <a:ln/>
        </p:spPr>
      </p:sp>
      <p:pic>
        <p:nvPicPr>
          <p:cNvPr id="16" name="icono-53" descr="preencoded.png">    </p:cNvPr>
          <p:cNvPicPr>
            <a:picLocks noChangeAspect="1"/>
          </p:cNvPicPr>
          <p:nvPr/>
        </p:nvPicPr>
        <p:blipFill>
          <a:blip r:embed="rId3"/>
          <a:stretch>
            <a:fillRect/>
          </a:stretch>
        </p:blipFill>
        <p:spPr>
          <a:xfrm>
            <a:off x="3018069" y="1934505"/>
            <a:ext cx="245791" cy="245791"/>
          </a:xfrm>
          <a:prstGeom prst="rect">
            <a:avLst/>
          </a:prstGeom>
        </p:spPr>
      </p:pic>
      <p:sp>
        <p:nvSpPr>
          <p:cNvPr id="17" name="etapa-num-54"/>
          <p:cNvSpPr txBox="1"/>
          <p:nvPr/>
        </p:nvSpPr>
        <p:spPr>
          <a:xfrm>
            <a:off x="4283964" y="1856232"/>
            <a:ext cx="384048" cy="365760"/>
          </a:xfrm>
          <a:prstGeom prst="rect">
            <a:avLst/>
          </a:prstGeom>
          <a:noFill/>
          <a:ln/>
        </p:spPr>
        <p:txBody>
          <a:bodyPr wrap="square" lIns="0" tIns="0" rIns="0" bIns="0" rtlCol="0" anchor="t"/>
          <a:lstStyle/>
          <a:p>
            <a:pPr algn="r" indent="0" marL="0">
              <a:buNone/>
            </a:pPr>
            <a:r>
              <a:rPr lang="en-US" sz="1600" b="1" dirty="0">
                <a:solidFill>
                  <a:srgbClr val="D5DCE5"/>
                </a:solidFill>
              </a:rPr>
              <a:t>02</a:t>
            </a:r>
            <a:endParaRPr lang="en-US" sz="1600" dirty="0"/>
          </a:p>
        </p:txBody>
      </p:sp>
      <p:sp>
        <p:nvSpPr>
          <p:cNvPr id="18" name="etapa-titulo-55"/>
          <p:cNvSpPr txBox="1"/>
          <p:nvPr/>
        </p:nvSpPr>
        <p:spPr>
          <a:xfrm>
            <a:off x="2921508" y="2331720"/>
            <a:ext cx="1746504" cy="420624"/>
          </a:xfrm>
          <a:prstGeom prst="rect">
            <a:avLst/>
          </a:prstGeom>
          <a:noFill/>
          <a:ln/>
        </p:spPr>
        <p:txBody>
          <a:bodyPr wrap="square" lIns="0" tIns="0" rIns="0" bIns="0" rtlCol="0" anchor="b"/>
          <a:lstStyle/>
          <a:p>
            <a:pPr indent="0" marL="0">
              <a:buNone/>
            </a:pPr>
            <a:r>
              <a:rPr lang="en-US" sz="1150" b="1" dirty="0">
                <a:solidFill>
                  <a:schemeClr val="tx1"/>
                </a:solidFill>
              </a:rPr>
              <a:t>Estratos y transiciones</a:t>
            </a:r>
            <a:endParaRPr lang="en-US" sz="1150" dirty="0"/>
          </a:p>
        </p:txBody>
      </p:sp>
      <p:sp>
        <p:nvSpPr>
          <p:cNvPr id="19" name="etapa-texto-56"/>
          <p:cNvSpPr txBox="1"/>
          <p:nvPr/>
        </p:nvSpPr>
        <p:spPr>
          <a:xfrm>
            <a:off x="2921508" y="2816352"/>
            <a:ext cx="1746504" cy="1600200"/>
          </a:xfrm>
          <a:prstGeom prst="rect">
            <a:avLst/>
          </a:prstGeom>
          <a:noFill/>
          <a:ln/>
        </p:spPr>
        <p:txBody>
          <a:bodyPr wrap="square" lIns="0" tIns="0" rIns="0" bIns="0" rtlCol="0" anchor="t"/>
          <a:lstStyle/>
          <a:p>
            <a:pPr indent="0" marL="0">
              <a:buNone/>
            </a:pPr>
            <a:r>
              <a:rPr lang="en-US" sz="900" dirty="0">
                <a:solidFill>
                  <a:schemeClr val="tx2"/>
                </a:solidFill>
              </a:rPr>
              <a:t>Cada cohorte se divide en cuatro estratos clínicos. Una cadena de Markov mensual mueve a las personas entre estratos y la cobertura del programa cambia esas probabilidades. Se repite 200 veces con parámetros inciertos para obtener rangos.</a:t>
            </a:r>
            <a:endParaRPr lang="en-US" sz="900" dirty="0"/>
          </a:p>
        </p:txBody>
      </p:sp>
      <p:sp>
        <p:nvSpPr>
          <p:cNvPr id="20" name="separador-57"/>
          <p:cNvSpPr/>
          <p:nvPr/>
        </p:nvSpPr>
        <p:spPr>
          <a:xfrm>
            <a:off x="2921508" y="4416552"/>
            <a:ext cx="1746504" cy="0"/>
          </a:xfrm>
          <a:prstGeom prst="line">
            <a:avLst/>
          </a:prstGeom>
          <a:noFill/>
          <a:ln w="9525">
            <a:solidFill>
              <a:srgbClr val="D5DCE5"/>
            </a:solidFill>
            <a:prstDash val="solid"/>
          </a:ln>
        </p:spPr>
      </p:sp>
      <p:sp>
        <p:nvSpPr>
          <p:cNvPr id="21" name="produce-58"/>
          <p:cNvSpPr txBox="1"/>
          <p:nvPr/>
        </p:nvSpPr>
        <p:spPr>
          <a:xfrm>
            <a:off x="2921508" y="4480560"/>
            <a:ext cx="1371600" cy="164592"/>
          </a:xfrm>
          <a:prstGeom prst="rect">
            <a:avLst/>
          </a:prstGeom>
          <a:noFill/>
          <a:ln/>
        </p:spPr>
        <p:txBody>
          <a:bodyPr wrap="square" lIns="0" tIns="0" rIns="0" bIns="0" rtlCol="0" anchor="t"/>
          <a:lstStyle/>
          <a:p>
            <a:pPr indent="0" marL="0">
              <a:buNone/>
            </a:pPr>
            <a:r>
              <a:rPr lang="en-US" sz="750" b="1" dirty="0">
                <a:solidFill>
                  <a:schemeClr val="accent4"/>
                </a:solidFill>
              </a:rPr>
              <a:t>PRODUCE</a:t>
            </a:r>
            <a:endParaRPr lang="en-US" sz="750" dirty="0"/>
          </a:p>
        </p:txBody>
      </p:sp>
      <p:sp>
        <p:nvSpPr>
          <p:cNvPr id="22" name="salida-59"/>
          <p:cNvSpPr txBox="1"/>
          <p:nvPr/>
        </p:nvSpPr>
        <p:spPr>
          <a:xfrm>
            <a:off x="2921508" y="4645152"/>
            <a:ext cx="1746504" cy="411480"/>
          </a:xfrm>
          <a:prstGeom prst="rect">
            <a:avLst/>
          </a:prstGeom>
          <a:noFill/>
          <a:ln/>
        </p:spPr>
        <p:txBody>
          <a:bodyPr wrap="square" lIns="0" tIns="0" rIns="0" bIns="0" rtlCol="0" anchor="t"/>
          <a:lstStyle/>
          <a:p>
            <a:pPr indent="0" marL="0">
              <a:buNone/>
            </a:pPr>
            <a:r>
              <a:rPr lang="en-US" sz="950" b="1" dirty="0">
                <a:solidFill>
                  <a:schemeClr val="tx1"/>
                </a:solidFill>
              </a:rPr>
              <a:t>Composición por estrato y mes, con banda P10–P90</a:t>
            </a:r>
            <a:endParaRPr lang="en-US" sz="950" dirty="0"/>
          </a:p>
        </p:txBody>
      </p:sp>
      <p:pic>
        <p:nvPicPr>
          <p:cNvPr id="23" name="flecha-60" descr="preencoded.png">    </p:cNvPr>
          <p:cNvPicPr>
            <a:picLocks noChangeAspect="1"/>
          </p:cNvPicPr>
          <p:nvPr/>
        </p:nvPicPr>
        <p:blipFill>
          <a:blip r:embed="rId4"/>
          <a:stretch>
            <a:fillRect/>
          </a:stretch>
        </p:blipFill>
        <p:spPr>
          <a:xfrm>
            <a:off x="4850892" y="3273552"/>
            <a:ext cx="182880" cy="182880"/>
          </a:xfrm>
          <a:prstGeom prst="rect">
            <a:avLst/>
          </a:prstGeom>
        </p:spPr>
      </p:pic>
      <p:sp>
        <p:nvSpPr>
          <p:cNvPr id="24" name="etapa-61"/>
          <p:cNvSpPr/>
          <p:nvPr/>
        </p:nvSpPr>
        <p:spPr>
          <a:xfrm>
            <a:off x="5056632" y="1673352"/>
            <a:ext cx="2075688" cy="3429000"/>
          </a:xfrm>
          <a:prstGeom prst="roundRect">
            <a:avLst>
              <a:gd name="adj" fmla="val 3084"/>
            </a:avLst>
          </a:prstGeom>
          <a:solidFill>
            <a:srgbClr val="FFFFFF"/>
          </a:solidFill>
          <a:ln w="9525">
            <a:solidFill>
              <a:srgbClr val="D5DCE5"/>
            </a:solidFill>
            <a:prstDash val="solid"/>
          </a:ln>
        </p:spPr>
      </p:sp>
      <p:sp>
        <p:nvSpPr>
          <p:cNvPr id="25" name="icono-fondo-62"/>
          <p:cNvSpPr/>
          <p:nvPr/>
        </p:nvSpPr>
        <p:spPr>
          <a:xfrm>
            <a:off x="5221224" y="1837944"/>
            <a:ext cx="438912" cy="438912"/>
          </a:xfrm>
          <a:prstGeom prst="ellipse">
            <a:avLst/>
          </a:prstGeom>
          <a:solidFill>
            <a:schemeClr val="accent4"/>
          </a:solidFill>
          <a:ln/>
        </p:spPr>
      </p:sp>
      <p:pic>
        <p:nvPicPr>
          <p:cNvPr id="26" name="icono-63" descr="preencoded.png">    </p:cNvPr>
          <p:cNvPicPr>
            <a:picLocks noChangeAspect="1"/>
          </p:cNvPicPr>
          <p:nvPr/>
        </p:nvPicPr>
        <p:blipFill>
          <a:blip r:embed="rId5"/>
          <a:stretch>
            <a:fillRect/>
          </a:stretch>
        </p:blipFill>
        <p:spPr>
          <a:xfrm>
            <a:off x="5317785" y="1934505"/>
            <a:ext cx="245791" cy="245791"/>
          </a:xfrm>
          <a:prstGeom prst="rect">
            <a:avLst/>
          </a:prstGeom>
        </p:spPr>
      </p:pic>
      <p:sp>
        <p:nvSpPr>
          <p:cNvPr id="27" name="etapa-num-64"/>
          <p:cNvSpPr txBox="1"/>
          <p:nvPr/>
        </p:nvSpPr>
        <p:spPr>
          <a:xfrm>
            <a:off x="6583680" y="1856232"/>
            <a:ext cx="384048" cy="365760"/>
          </a:xfrm>
          <a:prstGeom prst="rect">
            <a:avLst/>
          </a:prstGeom>
          <a:noFill/>
          <a:ln/>
        </p:spPr>
        <p:txBody>
          <a:bodyPr wrap="square" lIns="0" tIns="0" rIns="0" bIns="0" rtlCol="0" anchor="t"/>
          <a:lstStyle/>
          <a:p>
            <a:pPr algn="r" indent="0" marL="0">
              <a:buNone/>
            </a:pPr>
            <a:r>
              <a:rPr lang="en-US" sz="1600" b="1" dirty="0">
                <a:solidFill>
                  <a:srgbClr val="D5DCE5"/>
                </a:solidFill>
              </a:rPr>
              <a:t>03</a:t>
            </a:r>
            <a:endParaRPr lang="en-US" sz="1600" dirty="0"/>
          </a:p>
        </p:txBody>
      </p:sp>
      <p:sp>
        <p:nvSpPr>
          <p:cNvPr id="28" name="etapa-titulo-65"/>
          <p:cNvSpPr txBox="1"/>
          <p:nvPr/>
        </p:nvSpPr>
        <p:spPr>
          <a:xfrm>
            <a:off x="5221224" y="2331720"/>
            <a:ext cx="1746504" cy="420624"/>
          </a:xfrm>
          <a:prstGeom prst="rect">
            <a:avLst/>
          </a:prstGeom>
          <a:noFill/>
          <a:ln/>
        </p:spPr>
        <p:txBody>
          <a:bodyPr wrap="square" lIns="0" tIns="0" rIns="0" bIns="0" rtlCol="0" anchor="b"/>
          <a:lstStyle/>
          <a:p>
            <a:pPr indent="0" marL="0">
              <a:buNone/>
            </a:pPr>
            <a:r>
              <a:rPr lang="en-US" sz="1150" b="1" dirty="0">
                <a:solidFill>
                  <a:schemeClr val="tx1"/>
                </a:solidFill>
              </a:rPr>
              <a:t>Demanda por zona y canal</a:t>
            </a:r>
            <a:endParaRPr lang="en-US" sz="1150" dirty="0"/>
          </a:p>
        </p:txBody>
      </p:sp>
      <p:sp>
        <p:nvSpPr>
          <p:cNvPr id="29" name="etapa-texto-66"/>
          <p:cNvSpPr txBox="1"/>
          <p:nvPr/>
        </p:nvSpPr>
        <p:spPr>
          <a:xfrm>
            <a:off x="5221224" y="2816352"/>
            <a:ext cx="1746504" cy="1600200"/>
          </a:xfrm>
          <a:prstGeom prst="rect">
            <a:avLst/>
          </a:prstGeom>
          <a:noFill/>
          <a:ln/>
        </p:spPr>
        <p:txBody>
          <a:bodyPr wrap="square" lIns="0" tIns="0" rIns="0" bIns="0" rtlCol="0" anchor="t"/>
          <a:lstStyle/>
          <a:p>
            <a:pPr indent="0" marL="0">
              <a:buNone/>
            </a:pPr>
            <a:r>
              <a:rPr lang="en-US" sz="900" dirty="0">
                <a:solidFill>
                  <a:schemeClr val="tx2"/>
                </a:solidFill>
              </a:rPr>
              <a:t>Cada estrato tiene tasas de uso por tipo de atención: controles, consultas no programadas, urgencias, hospitalizaciones, laboratorio y procedimientos. Las atenciones se asignan a zonas de la sede, a la red hospitalaria o a los canales domiciliario y virtual.</a:t>
            </a:r>
            <a:endParaRPr lang="en-US" sz="900" dirty="0"/>
          </a:p>
        </p:txBody>
      </p:sp>
      <p:sp>
        <p:nvSpPr>
          <p:cNvPr id="30" name="separador-67"/>
          <p:cNvSpPr/>
          <p:nvPr/>
        </p:nvSpPr>
        <p:spPr>
          <a:xfrm>
            <a:off x="5221224" y="4416552"/>
            <a:ext cx="1746504" cy="0"/>
          </a:xfrm>
          <a:prstGeom prst="line">
            <a:avLst/>
          </a:prstGeom>
          <a:noFill/>
          <a:ln w="9525">
            <a:solidFill>
              <a:srgbClr val="D5DCE5"/>
            </a:solidFill>
            <a:prstDash val="solid"/>
          </a:ln>
        </p:spPr>
      </p:sp>
      <p:sp>
        <p:nvSpPr>
          <p:cNvPr id="31" name="produce-68"/>
          <p:cNvSpPr txBox="1"/>
          <p:nvPr/>
        </p:nvSpPr>
        <p:spPr>
          <a:xfrm>
            <a:off x="5221224" y="4480560"/>
            <a:ext cx="1371600" cy="164592"/>
          </a:xfrm>
          <a:prstGeom prst="rect">
            <a:avLst/>
          </a:prstGeom>
          <a:noFill/>
          <a:ln/>
        </p:spPr>
        <p:txBody>
          <a:bodyPr wrap="square" lIns="0" tIns="0" rIns="0" bIns="0" rtlCol="0" anchor="t"/>
          <a:lstStyle/>
          <a:p>
            <a:pPr indent="0" marL="0">
              <a:buNone/>
            </a:pPr>
            <a:r>
              <a:rPr lang="en-US" sz="750" b="1" dirty="0">
                <a:solidFill>
                  <a:schemeClr val="accent4"/>
                </a:solidFill>
              </a:rPr>
              <a:t>PRODUCE</a:t>
            </a:r>
            <a:endParaRPr lang="en-US" sz="750" dirty="0"/>
          </a:p>
        </p:txBody>
      </p:sp>
      <p:sp>
        <p:nvSpPr>
          <p:cNvPr id="32" name="salida-69"/>
          <p:cNvSpPr txBox="1"/>
          <p:nvPr/>
        </p:nvSpPr>
        <p:spPr>
          <a:xfrm>
            <a:off x="5221224" y="4645152"/>
            <a:ext cx="1746504" cy="411480"/>
          </a:xfrm>
          <a:prstGeom prst="rect">
            <a:avLst/>
          </a:prstGeom>
          <a:noFill/>
          <a:ln/>
        </p:spPr>
        <p:txBody>
          <a:bodyPr wrap="square" lIns="0" tIns="0" rIns="0" bIns="0" rtlCol="0" anchor="t"/>
          <a:lstStyle/>
          <a:p>
            <a:pPr indent="0" marL="0">
              <a:buNone/>
            </a:pPr>
            <a:r>
              <a:rPr lang="en-US" sz="950" b="1" dirty="0">
                <a:solidFill>
                  <a:schemeClr val="tx1"/>
                </a:solidFill>
              </a:rPr>
              <a:t>Atenciones por sede, zona, mes y canal</a:t>
            </a:r>
            <a:endParaRPr lang="en-US" sz="950" dirty="0"/>
          </a:p>
        </p:txBody>
      </p:sp>
      <p:pic>
        <p:nvPicPr>
          <p:cNvPr id="33" name="flecha-70" descr="preencoded.png">    </p:cNvPr>
          <p:cNvPicPr>
            <a:picLocks noChangeAspect="1"/>
          </p:cNvPicPr>
          <p:nvPr/>
        </p:nvPicPr>
        <p:blipFill>
          <a:blip r:embed="rId6"/>
          <a:stretch>
            <a:fillRect/>
          </a:stretch>
        </p:blipFill>
        <p:spPr>
          <a:xfrm>
            <a:off x="7150608" y="3273552"/>
            <a:ext cx="182880" cy="182880"/>
          </a:xfrm>
          <a:prstGeom prst="rect">
            <a:avLst/>
          </a:prstGeom>
        </p:spPr>
      </p:pic>
      <p:sp>
        <p:nvSpPr>
          <p:cNvPr id="34" name="etapa-71"/>
          <p:cNvSpPr/>
          <p:nvPr/>
        </p:nvSpPr>
        <p:spPr>
          <a:xfrm>
            <a:off x="7356348" y="1673352"/>
            <a:ext cx="2075688" cy="3429000"/>
          </a:xfrm>
          <a:prstGeom prst="roundRect">
            <a:avLst>
              <a:gd name="adj" fmla="val 3084"/>
            </a:avLst>
          </a:prstGeom>
          <a:solidFill>
            <a:srgbClr val="FFFFFF"/>
          </a:solidFill>
          <a:ln w="9525">
            <a:solidFill>
              <a:srgbClr val="D5DCE5"/>
            </a:solidFill>
            <a:prstDash val="solid"/>
          </a:ln>
        </p:spPr>
      </p:sp>
      <p:sp>
        <p:nvSpPr>
          <p:cNvPr id="35" name="icono-fondo-72"/>
          <p:cNvSpPr/>
          <p:nvPr/>
        </p:nvSpPr>
        <p:spPr>
          <a:xfrm>
            <a:off x="7520940" y="1837944"/>
            <a:ext cx="438912" cy="438912"/>
          </a:xfrm>
          <a:prstGeom prst="ellipse">
            <a:avLst/>
          </a:prstGeom>
          <a:solidFill>
            <a:schemeClr val="accent3"/>
          </a:solidFill>
          <a:ln/>
        </p:spPr>
      </p:sp>
      <p:pic>
        <p:nvPicPr>
          <p:cNvPr id="36" name="icono-73" descr="preencoded.png">    </p:cNvPr>
          <p:cNvPicPr>
            <a:picLocks noChangeAspect="1"/>
          </p:cNvPicPr>
          <p:nvPr/>
        </p:nvPicPr>
        <p:blipFill>
          <a:blip r:embed="rId7"/>
          <a:stretch>
            <a:fillRect/>
          </a:stretch>
        </p:blipFill>
        <p:spPr>
          <a:xfrm>
            <a:off x="7617501" y="1934505"/>
            <a:ext cx="245791" cy="245791"/>
          </a:xfrm>
          <a:prstGeom prst="rect">
            <a:avLst/>
          </a:prstGeom>
        </p:spPr>
      </p:pic>
      <p:sp>
        <p:nvSpPr>
          <p:cNvPr id="37" name="etapa-num-74"/>
          <p:cNvSpPr txBox="1"/>
          <p:nvPr/>
        </p:nvSpPr>
        <p:spPr>
          <a:xfrm>
            <a:off x="8883396" y="1856232"/>
            <a:ext cx="384048" cy="365760"/>
          </a:xfrm>
          <a:prstGeom prst="rect">
            <a:avLst/>
          </a:prstGeom>
          <a:noFill/>
          <a:ln/>
        </p:spPr>
        <p:txBody>
          <a:bodyPr wrap="square" lIns="0" tIns="0" rIns="0" bIns="0" rtlCol="0" anchor="t"/>
          <a:lstStyle/>
          <a:p>
            <a:pPr algn="r" indent="0" marL="0">
              <a:buNone/>
            </a:pPr>
            <a:r>
              <a:rPr lang="en-US" sz="1600" b="1" dirty="0">
                <a:solidFill>
                  <a:srgbClr val="D5DCE5"/>
                </a:solidFill>
              </a:rPr>
              <a:t>04</a:t>
            </a:r>
            <a:endParaRPr lang="en-US" sz="1600" dirty="0"/>
          </a:p>
        </p:txBody>
      </p:sp>
      <p:sp>
        <p:nvSpPr>
          <p:cNvPr id="38" name="etapa-titulo-75"/>
          <p:cNvSpPr txBox="1"/>
          <p:nvPr/>
        </p:nvSpPr>
        <p:spPr>
          <a:xfrm>
            <a:off x="7520940" y="2331720"/>
            <a:ext cx="1746504" cy="420624"/>
          </a:xfrm>
          <a:prstGeom prst="rect">
            <a:avLst/>
          </a:prstGeom>
          <a:noFill/>
          <a:ln/>
        </p:spPr>
        <p:txBody>
          <a:bodyPr wrap="square" lIns="0" tIns="0" rIns="0" bIns="0" rtlCol="0" anchor="b"/>
          <a:lstStyle/>
          <a:p>
            <a:pPr indent="0" marL="0">
              <a:buNone/>
            </a:pPr>
            <a:r>
              <a:rPr lang="en-US" sz="1150" b="1" dirty="0">
                <a:solidFill>
                  <a:schemeClr val="tx1"/>
                </a:solidFill>
              </a:rPr>
              <a:t>Colas y backlog</a:t>
            </a:r>
            <a:endParaRPr lang="en-US" sz="1150" dirty="0"/>
          </a:p>
        </p:txBody>
      </p:sp>
      <p:sp>
        <p:nvSpPr>
          <p:cNvPr id="39" name="etapa-texto-76"/>
          <p:cNvSpPr txBox="1"/>
          <p:nvPr/>
        </p:nvSpPr>
        <p:spPr>
          <a:xfrm>
            <a:off x="7520940" y="2816352"/>
            <a:ext cx="1746504" cy="1600200"/>
          </a:xfrm>
          <a:prstGeom prst="rect">
            <a:avLst/>
          </a:prstGeom>
          <a:noFill/>
          <a:ln/>
        </p:spPr>
        <p:txBody>
          <a:bodyPr wrap="square" lIns="0" tIns="0" rIns="0" bIns="0" rtlCol="0" anchor="t"/>
          <a:lstStyle/>
          <a:p>
            <a:pPr indent="0" marL="0">
              <a:buNone/>
            </a:pPr>
            <a:r>
              <a:rPr lang="en-US" sz="900" dirty="0">
                <a:solidFill>
                  <a:schemeClr val="tx2"/>
                </a:solidFill>
              </a:rPr>
              <a:t>En zonas sin cita se calcula la espera hora a hora con modelos de colas. En zonas con cita se simula día a día la acumulación de solicitudes pendientes, con inasistencia y sobreagenda, para estimar en cuántos días se asigna la cita.</a:t>
            </a:r>
            <a:endParaRPr lang="en-US" sz="900" dirty="0"/>
          </a:p>
        </p:txBody>
      </p:sp>
      <p:sp>
        <p:nvSpPr>
          <p:cNvPr id="40" name="separador-77"/>
          <p:cNvSpPr/>
          <p:nvPr/>
        </p:nvSpPr>
        <p:spPr>
          <a:xfrm>
            <a:off x="7520940" y="4416552"/>
            <a:ext cx="1746504" cy="0"/>
          </a:xfrm>
          <a:prstGeom prst="line">
            <a:avLst/>
          </a:prstGeom>
          <a:noFill/>
          <a:ln w="9525">
            <a:solidFill>
              <a:srgbClr val="D5DCE5"/>
            </a:solidFill>
            <a:prstDash val="solid"/>
          </a:ln>
        </p:spPr>
      </p:sp>
      <p:sp>
        <p:nvSpPr>
          <p:cNvPr id="41" name="produce-78"/>
          <p:cNvSpPr txBox="1"/>
          <p:nvPr/>
        </p:nvSpPr>
        <p:spPr>
          <a:xfrm>
            <a:off x="7520940" y="4480560"/>
            <a:ext cx="1371600" cy="164592"/>
          </a:xfrm>
          <a:prstGeom prst="rect">
            <a:avLst/>
          </a:prstGeom>
          <a:noFill/>
          <a:ln/>
        </p:spPr>
        <p:txBody>
          <a:bodyPr wrap="square" lIns="0" tIns="0" rIns="0" bIns="0" rtlCol="0" anchor="t"/>
          <a:lstStyle/>
          <a:p>
            <a:pPr indent="0" marL="0">
              <a:buNone/>
            </a:pPr>
            <a:r>
              <a:rPr lang="en-US" sz="750" b="1" dirty="0">
                <a:solidFill>
                  <a:schemeClr val="accent3"/>
                </a:solidFill>
              </a:rPr>
              <a:t>PRODUCE</a:t>
            </a:r>
            <a:endParaRPr lang="en-US" sz="750" dirty="0"/>
          </a:p>
        </p:txBody>
      </p:sp>
      <p:sp>
        <p:nvSpPr>
          <p:cNvPr id="42" name="salida-79"/>
          <p:cNvSpPr txBox="1"/>
          <p:nvPr/>
        </p:nvSpPr>
        <p:spPr>
          <a:xfrm>
            <a:off x="7520940" y="4645152"/>
            <a:ext cx="1746504" cy="411480"/>
          </a:xfrm>
          <a:prstGeom prst="rect">
            <a:avLst/>
          </a:prstGeom>
          <a:noFill/>
          <a:ln/>
        </p:spPr>
        <p:txBody>
          <a:bodyPr wrap="square" lIns="0" tIns="0" rIns="0" bIns="0" rtlCol="0" anchor="t"/>
          <a:lstStyle/>
          <a:p>
            <a:pPr indent="0" marL="0">
              <a:buNone/>
            </a:pPr>
            <a:r>
              <a:rPr lang="en-US" sz="950" b="1" dirty="0">
                <a:solidFill>
                  <a:schemeClr val="tx1"/>
                </a:solidFill>
              </a:rPr>
              <a:t>Utilización, espera y oportunidad de cita</a:t>
            </a:r>
            <a:endParaRPr lang="en-US" sz="950" dirty="0"/>
          </a:p>
        </p:txBody>
      </p:sp>
      <p:pic>
        <p:nvPicPr>
          <p:cNvPr id="43" name="flecha-80" descr="preencoded.png">    </p:cNvPr>
          <p:cNvPicPr>
            <a:picLocks noChangeAspect="1"/>
          </p:cNvPicPr>
          <p:nvPr/>
        </p:nvPicPr>
        <p:blipFill>
          <a:blip r:embed="rId8"/>
          <a:stretch>
            <a:fillRect/>
          </a:stretch>
        </p:blipFill>
        <p:spPr>
          <a:xfrm>
            <a:off x="9450324" y="3273552"/>
            <a:ext cx="182880" cy="182880"/>
          </a:xfrm>
          <a:prstGeom prst="rect">
            <a:avLst/>
          </a:prstGeom>
        </p:spPr>
      </p:pic>
      <p:sp>
        <p:nvSpPr>
          <p:cNvPr id="44" name="etapa-81"/>
          <p:cNvSpPr/>
          <p:nvPr/>
        </p:nvSpPr>
        <p:spPr>
          <a:xfrm>
            <a:off x="9656064" y="1673352"/>
            <a:ext cx="2075688" cy="3429000"/>
          </a:xfrm>
          <a:prstGeom prst="roundRect">
            <a:avLst>
              <a:gd name="adj" fmla="val 3084"/>
            </a:avLst>
          </a:prstGeom>
          <a:solidFill>
            <a:srgbClr val="FFFFFF"/>
          </a:solidFill>
          <a:ln w="9525">
            <a:solidFill>
              <a:srgbClr val="D5DCE5"/>
            </a:solidFill>
            <a:prstDash val="solid"/>
          </a:ln>
        </p:spPr>
      </p:sp>
      <p:sp>
        <p:nvSpPr>
          <p:cNvPr id="45" name="icono-fondo-82"/>
          <p:cNvSpPr/>
          <p:nvPr/>
        </p:nvSpPr>
        <p:spPr>
          <a:xfrm>
            <a:off x="9820656" y="1837944"/>
            <a:ext cx="438912" cy="438912"/>
          </a:xfrm>
          <a:prstGeom prst="ellipse">
            <a:avLst/>
          </a:prstGeom>
          <a:solidFill>
            <a:schemeClr val="accent5"/>
          </a:solidFill>
          <a:ln/>
        </p:spPr>
      </p:sp>
      <p:pic>
        <p:nvPicPr>
          <p:cNvPr id="46" name="icono-83" descr="preencoded.png">    </p:cNvPr>
          <p:cNvPicPr>
            <a:picLocks noChangeAspect="1"/>
          </p:cNvPicPr>
          <p:nvPr/>
        </p:nvPicPr>
        <p:blipFill>
          <a:blip r:embed="rId9"/>
          <a:stretch>
            <a:fillRect/>
          </a:stretch>
        </p:blipFill>
        <p:spPr>
          <a:xfrm>
            <a:off x="9917217" y="1934505"/>
            <a:ext cx="245791" cy="245791"/>
          </a:xfrm>
          <a:prstGeom prst="rect">
            <a:avLst/>
          </a:prstGeom>
        </p:spPr>
      </p:pic>
      <p:sp>
        <p:nvSpPr>
          <p:cNvPr id="47" name="etapa-num-84"/>
          <p:cNvSpPr txBox="1"/>
          <p:nvPr/>
        </p:nvSpPr>
        <p:spPr>
          <a:xfrm>
            <a:off x="11183112" y="1856232"/>
            <a:ext cx="384048" cy="365760"/>
          </a:xfrm>
          <a:prstGeom prst="rect">
            <a:avLst/>
          </a:prstGeom>
          <a:noFill/>
          <a:ln/>
        </p:spPr>
        <p:txBody>
          <a:bodyPr wrap="square" lIns="0" tIns="0" rIns="0" bIns="0" rtlCol="0" anchor="t"/>
          <a:lstStyle/>
          <a:p>
            <a:pPr algn="r" indent="0" marL="0">
              <a:buNone/>
            </a:pPr>
            <a:r>
              <a:rPr lang="en-US" sz="1600" b="1" dirty="0">
                <a:solidFill>
                  <a:srgbClr val="D5DCE5"/>
                </a:solidFill>
              </a:rPr>
              <a:t>05</a:t>
            </a:r>
            <a:endParaRPr lang="en-US" sz="1600" dirty="0"/>
          </a:p>
        </p:txBody>
      </p:sp>
      <p:sp>
        <p:nvSpPr>
          <p:cNvPr id="48" name="etapa-titulo-85"/>
          <p:cNvSpPr txBox="1"/>
          <p:nvPr/>
        </p:nvSpPr>
        <p:spPr>
          <a:xfrm>
            <a:off x="9820656" y="2331720"/>
            <a:ext cx="1746504" cy="420624"/>
          </a:xfrm>
          <a:prstGeom prst="rect">
            <a:avLst/>
          </a:prstGeom>
          <a:noFill/>
          <a:ln/>
        </p:spPr>
        <p:txBody>
          <a:bodyPr wrap="square" lIns="0" tIns="0" rIns="0" bIns="0" rtlCol="0" anchor="b"/>
          <a:lstStyle/>
          <a:p>
            <a:pPr indent="0" marL="0">
              <a:buNone/>
            </a:pPr>
            <a:r>
              <a:rPr lang="en-US" sz="1150" b="1" dirty="0">
                <a:solidFill>
                  <a:schemeClr val="tx1"/>
                </a:solidFill>
              </a:rPr>
              <a:t>Decisiones</a:t>
            </a:r>
            <a:endParaRPr lang="en-US" sz="1150" dirty="0"/>
          </a:p>
        </p:txBody>
      </p:sp>
      <p:sp>
        <p:nvSpPr>
          <p:cNvPr id="49" name="etapa-texto-86"/>
          <p:cNvSpPr txBox="1"/>
          <p:nvPr/>
        </p:nvSpPr>
        <p:spPr>
          <a:xfrm>
            <a:off x="9820656" y="2816352"/>
            <a:ext cx="1746504" cy="1600200"/>
          </a:xfrm>
          <a:prstGeom prst="rect">
            <a:avLst/>
          </a:prstGeom>
          <a:noFill/>
          <a:ln/>
        </p:spPr>
        <p:txBody>
          <a:bodyPr wrap="square" lIns="0" tIns="0" rIns="0" bIns="0" rtlCol="0" anchor="t"/>
          <a:lstStyle/>
          <a:p>
            <a:pPr indent="0" marL="0">
              <a:buNone/>
            </a:pPr>
            <a:r>
              <a:rPr lang="en-US" sz="900" dirty="0">
                <a:solidFill>
                  <a:schemeClr val="tx2"/>
                </a:solidFill>
              </a:rPr>
              <a:t>El usuario compara escenarios que combinan cobertura por cohorte, equipos domiciliarios, médicos virtuales y recordatorios, y observa su efecto en saturación, oportunidad de cita, hospitalizaciones evitables y costo.</a:t>
            </a:r>
            <a:endParaRPr lang="en-US" sz="900" dirty="0"/>
          </a:p>
        </p:txBody>
      </p:sp>
      <p:sp>
        <p:nvSpPr>
          <p:cNvPr id="50" name="separador-87"/>
          <p:cNvSpPr/>
          <p:nvPr/>
        </p:nvSpPr>
        <p:spPr>
          <a:xfrm>
            <a:off x="9820656" y="4416552"/>
            <a:ext cx="1746504" cy="0"/>
          </a:xfrm>
          <a:prstGeom prst="line">
            <a:avLst/>
          </a:prstGeom>
          <a:noFill/>
          <a:ln w="9525">
            <a:solidFill>
              <a:srgbClr val="D5DCE5"/>
            </a:solidFill>
            <a:prstDash val="solid"/>
          </a:ln>
        </p:spPr>
      </p:sp>
      <p:sp>
        <p:nvSpPr>
          <p:cNvPr id="51" name="produce-88"/>
          <p:cNvSpPr txBox="1"/>
          <p:nvPr/>
        </p:nvSpPr>
        <p:spPr>
          <a:xfrm>
            <a:off x="9820656" y="4480560"/>
            <a:ext cx="1371600" cy="164592"/>
          </a:xfrm>
          <a:prstGeom prst="rect">
            <a:avLst/>
          </a:prstGeom>
          <a:noFill/>
          <a:ln/>
        </p:spPr>
        <p:txBody>
          <a:bodyPr wrap="square" lIns="0" tIns="0" rIns="0" bIns="0" rtlCol="0" anchor="t"/>
          <a:lstStyle/>
          <a:p>
            <a:pPr indent="0" marL="0">
              <a:buNone/>
            </a:pPr>
            <a:r>
              <a:rPr lang="en-US" sz="750" b="1" dirty="0">
                <a:solidFill>
                  <a:schemeClr val="accent5"/>
                </a:solidFill>
              </a:rPr>
              <a:t>PRODUCE</a:t>
            </a:r>
            <a:endParaRPr lang="en-US" sz="750" dirty="0"/>
          </a:p>
        </p:txBody>
      </p:sp>
      <p:sp>
        <p:nvSpPr>
          <p:cNvPr id="52" name="salida-89"/>
          <p:cNvSpPr txBox="1"/>
          <p:nvPr/>
        </p:nvSpPr>
        <p:spPr>
          <a:xfrm>
            <a:off x="9820656" y="4645152"/>
            <a:ext cx="1746504" cy="411480"/>
          </a:xfrm>
          <a:prstGeom prst="rect">
            <a:avLst/>
          </a:prstGeom>
          <a:noFill/>
          <a:ln/>
        </p:spPr>
        <p:txBody>
          <a:bodyPr wrap="square" lIns="0" tIns="0" rIns="0" bIns="0" rtlCol="0" anchor="t"/>
          <a:lstStyle/>
          <a:p>
            <a:pPr indent="0" marL="0">
              <a:buNone/>
            </a:pPr>
            <a:r>
              <a:rPr lang="en-US" sz="950" b="1" dirty="0">
                <a:solidFill>
                  <a:schemeClr val="tx1"/>
                </a:solidFill>
              </a:rPr>
              <a:t>Escenario recomendado y su costo</a:t>
            </a:r>
            <a:endParaRPr lang="en-US" sz="950" dirty="0"/>
          </a:p>
        </p:txBody>
      </p:sp>
      <p:sp>
        <p:nvSpPr>
          <p:cNvPr id="53" name="barra-madurez-90"/>
          <p:cNvSpPr/>
          <p:nvPr/>
        </p:nvSpPr>
        <p:spPr>
          <a:xfrm>
            <a:off x="457200" y="5285232"/>
            <a:ext cx="11277295" cy="978408"/>
          </a:xfrm>
          <a:prstGeom prst="roundRect">
            <a:avLst>
              <a:gd name="adj" fmla="val 6542"/>
            </a:avLst>
          </a:prstGeom>
          <a:solidFill>
            <a:schemeClr val="tx1"/>
          </a:solidFill>
          <a:ln/>
        </p:spPr>
      </p:sp>
      <p:sp>
        <p:nvSpPr>
          <p:cNvPr id="54" name="madurez-etiqueta-91"/>
          <p:cNvSpPr txBox="1"/>
          <p:nvPr/>
        </p:nvSpPr>
        <p:spPr>
          <a:xfrm>
            <a:off x="731520" y="5422392"/>
            <a:ext cx="2011680" cy="182880"/>
          </a:xfrm>
          <a:prstGeom prst="rect">
            <a:avLst/>
          </a:prstGeom>
          <a:noFill/>
          <a:ln/>
        </p:spPr>
        <p:txBody>
          <a:bodyPr wrap="square" lIns="0" tIns="0" rIns="0" bIns="0" rtlCol="0" anchor="t"/>
          <a:lstStyle/>
          <a:p>
            <a:pPr indent="0" marL="0">
              <a:buNone/>
            </a:pPr>
            <a:r>
              <a:rPr lang="en-US" sz="850" b="1" dirty="0">
                <a:solidFill>
                  <a:srgbClr val="00DFED"/>
                </a:solidFill>
              </a:rPr>
              <a:t>NIVEL DE MADUREZ</a:t>
            </a:r>
            <a:endParaRPr lang="en-US" sz="850" dirty="0"/>
          </a:p>
        </p:txBody>
      </p:sp>
      <p:sp>
        <p:nvSpPr>
          <p:cNvPr id="55" name="madurez-actual-92"/>
          <p:cNvSpPr txBox="1"/>
          <p:nvPr/>
        </p:nvSpPr>
        <p:spPr>
          <a:xfrm>
            <a:off x="731520" y="5632704"/>
            <a:ext cx="4206240" cy="566928"/>
          </a:xfrm>
          <a:prstGeom prst="rect">
            <a:avLst/>
          </a:prstGeom>
          <a:noFill/>
          <a:ln/>
        </p:spPr>
        <p:txBody>
          <a:bodyPr wrap="square" lIns="0" tIns="0" rIns="0" bIns="0" rtlCol="0" anchor="t"/>
          <a:lstStyle/>
          <a:p>
            <a:pPr indent="0" marL="0">
              <a:buNone/>
            </a:pPr>
            <a:r>
              <a:rPr lang="en-US" sz="950" dirty="0">
                <a:solidFill>
                  <a:schemeClr val="bg1"/>
                </a:solidFill>
              </a:rPr>
              <a:t>La demostración opera como modelo digital: los parámetros son sintéticos y no hay flujo automático desde la operación. Llamarlo gemelo exige ingesta automática y cierre de ciclo.</a:t>
            </a:r>
            <a:endParaRPr lang="en-US" sz="950" dirty="0"/>
          </a:p>
        </p:txBody>
      </p:sp>
      <p:sp>
        <p:nvSpPr>
          <p:cNvPr id="56" name="nivel-93"/>
          <p:cNvSpPr/>
          <p:nvPr/>
        </p:nvSpPr>
        <p:spPr>
          <a:xfrm>
            <a:off x="5257800" y="5422392"/>
            <a:ext cx="2057400" cy="704088"/>
          </a:xfrm>
          <a:prstGeom prst="roundRect">
            <a:avLst>
              <a:gd name="adj" fmla="val 7792"/>
            </a:avLst>
          </a:prstGeom>
          <a:solidFill>
            <a:schemeClr val="accent2"/>
          </a:solidFill>
          <a:ln w="9525">
            <a:solidFill>
              <a:srgbClr val="009AA4"/>
            </a:solidFill>
            <a:prstDash val="solid"/>
          </a:ln>
        </p:spPr>
      </p:sp>
      <p:sp>
        <p:nvSpPr>
          <p:cNvPr id="57" name="nivel-titulo-94"/>
          <p:cNvSpPr txBox="1"/>
          <p:nvPr/>
        </p:nvSpPr>
        <p:spPr>
          <a:xfrm>
            <a:off x="5385816" y="5486400"/>
            <a:ext cx="1828800" cy="219456"/>
          </a:xfrm>
          <a:prstGeom prst="rect">
            <a:avLst/>
          </a:prstGeom>
          <a:noFill/>
          <a:ln/>
        </p:spPr>
        <p:txBody>
          <a:bodyPr wrap="square" lIns="0" tIns="0" rIns="0" bIns="0" rtlCol="0" anchor="t"/>
          <a:lstStyle/>
          <a:p>
            <a:pPr indent="0" marL="0">
              <a:buNone/>
            </a:pPr>
            <a:r>
              <a:rPr lang="en-US" sz="1000" b="1" dirty="0">
                <a:solidFill>
                  <a:schemeClr val="bg1"/>
                </a:solidFill>
              </a:rPr>
              <a:t>1. Modelo digital</a:t>
            </a:r>
            <a:endParaRPr lang="en-US" sz="1000" dirty="0"/>
          </a:p>
        </p:txBody>
      </p:sp>
      <p:sp>
        <p:nvSpPr>
          <p:cNvPr id="58" name="nivel-texto-95"/>
          <p:cNvSpPr txBox="1"/>
          <p:nvPr/>
        </p:nvSpPr>
        <p:spPr>
          <a:xfrm>
            <a:off x="5385816" y="5715000"/>
            <a:ext cx="1828800" cy="384048"/>
          </a:xfrm>
          <a:prstGeom prst="rect">
            <a:avLst/>
          </a:prstGeom>
          <a:noFill/>
          <a:ln/>
        </p:spPr>
        <p:txBody>
          <a:bodyPr wrap="square" lIns="0" tIns="0" rIns="0" bIns="0" rtlCol="0" anchor="t"/>
          <a:lstStyle/>
          <a:p>
            <a:pPr indent="0" marL="0">
              <a:buNone/>
            </a:pPr>
            <a:r>
              <a:rPr lang="en-US" sz="850" dirty="0">
                <a:solidFill>
                  <a:srgbClr val="FFFFFF"/>
                </a:solidFill>
              </a:rPr>
              <a:t>Parámetros e históricos, sin conexión con la operación</a:t>
            </a:r>
            <a:endParaRPr lang="en-US" sz="850" dirty="0"/>
          </a:p>
        </p:txBody>
      </p:sp>
      <p:sp>
        <p:nvSpPr>
          <p:cNvPr id="59" name="nivel-96"/>
          <p:cNvSpPr/>
          <p:nvPr/>
        </p:nvSpPr>
        <p:spPr>
          <a:xfrm>
            <a:off x="7452360" y="5422392"/>
            <a:ext cx="2057400" cy="704088"/>
          </a:xfrm>
          <a:prstGeom prst="roundRect">
            <a:avLst>
              <a:gd name="adj" fmla="val 7792"/>
            </a:avLst>
          </a:prstGeom>
          <a:solidFill>
            <a:srgbClr val="FFFFFF">
              <a:alpha val="10000"/>
            </a:srgbClr>
          </a:solidFill>
          <a:ln w="9525">
            <a:solidFill>
              <a:srgbClr val="3A4560"/>
            </a:solidFill>
            <a:prstDash val="solid"/>
          </a:ln>
        </p:spPr>
      </p:sp>
      <p:sp>
        <p:nvSpPr>
          <p:cNvPr id="60" name="nivel-titulo-97"/>
          <p:cNvSpPr txBox="1"/>
          <p:nvPr/>
        </p:nvSpPr>
        <p:spPr>
          <a:xfrm>
            <a:off x="7580376" y="5486400"/>
            <a:ext cx="1828800" cy="219456"/>
          </a:xfrm>
          <a:prstGeom prst="rect">
            <a:avLst/>
          </a:prstGeom>
          <a:noFill/>
          <a:ln/>
        </p:spPr>
        <p:txBody>
          <a:bodyPr wrap="square" lIns="0" tIns="0" rIns="0" bIns="0" rtlCol="0" anchor="t"/>
          <a:lstStyle/>
          <a:p>
            <a:pPr indent="0" marL="0">
              <a:buNone/>
            </a:pPr>
            <a:r>
              <a:rPr lang="en-US" sz="1000" b="1" dirty="0">
                <a:solidFill>
                  <a:schemeClr val="bg1"/>
                </a:solidFill>
              </a:rPr>
              <a:t>2. Sombra digital</a:t>
            </a:r>
            <a:endParaRPr lang="en-US" sz="1000" dirty="0"/>
          </a:p>
        </p:txBody>
      </p:sp>
      <p:sp>
        <p:nvSpPr>
          <p:cNvPr id="61" name="nivel-texto-98"/>
          <p:cNvSpPr txBox="1"/>
          <p:nvPr/>
        </p:nvSpPr>
        <p:spPr>
          <a:xfrm>
            <a:off x="7580376" y="5715000"/>
            <a:ext cx="1828800" cy="384048"/>
          </a:xfrm>
          <a:prstGeom prst="rect">
            <a:avLst/>
          </a:prstGeom>
          <a:noFill/>
          <a:ln/>
        </p:spPr>
        <p:txBody>
          <a:bodyPr wrap="square" lIns="0" tIns="0" rIns="0" bIns="0" rtlCol="0" anchor="t"/>
          <a:lstStyle/>
          <a:p>
            <a:pPr indent="0" marL="0">
              <a:buNone/>
            </a:pPr>
            <a:r>
              <a:rPr lang="en-US" sz="850" dirty="0">
                <a:solidFill>
                  <a:srgbClr val="B8C2D6"/>
                </a:solidFill>
              </a:rPr>
              <a:t>Ingesta automática de agenda, zonas y equipos</a:t>
            </a:r>
            <a:endParaRPr lang="en-US" sz="850" dirty="0"/>
          </a:p>
        </p:txBody>
      </p:sp>
      <p:sp>
        <p:nvSpPr>
          <p:cNvPr id="62" name="nivel-99"/>
          <p:cNvSpPr/>
          <p:nvPr/>
        </p:nvSpPr>
        <p:spPr>
          <a:xfrm>
            <a:off x="9646920" y="5422392"/>
            <a:ext cx="2057400" cy="704088"/>
          </a:xfrm>
          <a:prstGeom prst="roundRect">
            <a:avLst>
              <a:gd name="adj" fmla="val 7792"/>
            </a:avLst>
          </a:prstGeom>
          <a:solidFill>
            <a:srgbClr val="FFFFFF">
              <a:alpha val="10000"/>
            </a:srgbClr>
          </a:solidFill>
          <a:ln w="9525">
            <a:solidFill>
              <a:srgbClr val="3A4560"/>
            </a:solidFill>
            <a:prstDash val="solid"/>
          </a:ln>
        </p:spPr>
      </p:sp>
      <p:sp>
        <p:nvSpPr>
          <p:cNvPr id="63" name="nivel-titulo-100"/>
          <p:cNvSpPr txBox="1"/>
          <p:nvPr/>
        </p:nvSpPr>
        <p:spPr>
          <a:xfrm>
            <a:off x="9774936" y="5486400"/>
            <a:ext cx="1828800" cy="219456"/>
          </a:xfrm>
          <a:prstGeom prst="rect">
            <a:avLst/>
          </a:prstGeom>
          <a:noFill/>
          <a:ln/>
        </p:spPr>
        <p:txBody>
          <a:bodyPr wrap="square" lIns="0" tIns="0" rIns="0" bIns="0" rtlCol="0" anchor="t"/>
          <a:lstStyle/>
          <a:p>
            <a:pPr indent="0" marL="0">
              <a:buNone/>
            </a:pPr>
            <a:r>
              <a:rPr lang="en-US" sz="1000" b="1" dirty="0">
                <a:solidFill>
                  <a:schemeClr val="bg1"/>
                </a:solidFill>
              </a:rPr>
              <a:t>3. Gemelo digital</a:t>
            </a:r>
            <a:endParaRPr lang="en-US" sz="1000" dirty="0"/>
          </a:p>
        </p:txBody>
      </p:sp>
      <p:sp>
        <p:nvSpPr>
          <p:cNvPr id="64" name="nivel-texto-101"/>
          <p:cNvSpPr txBox="1"/>
          <p:nvPr/>
        </p:nvSpPr>
        <p:spPr>
          <a:xfrm>
            <a:off x="9774936" y="5715000"/>
            <a:ext cx="1828800" cy="384048"/>
          </a:xfrm>
          <a:prstGeom prst="rect">
            <a:avLst/>
          </a:prstGeom>
          <a:noFill/>
          <a:ln/>
        </p:spPr>
        <p:txBody>
          <a:bodyPr wrap="square" lIns="0" tIns="0" rIns="0" bIns="0" rtlCol="0" anchor="t"/>
          <a:lstStyle/>
          <a:p>
            <a:pPr indent="0" marL="0">
              <a:buNone/>
            </a:pPr>
            <a:r>
              <a:rPr lang="en-US" sz="850" dirty="0">
                <a:solidFill>
                  <a:srgbClr val="B8C2D6"/>
                </a:solidFill>
              </a:rPr>
              <a:t>Calibración continua y cierre de ciclo trazable</a:t>
            </a:r>
            <a:endParaRPr lang="en-US" sz="8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Los indicadores del portal combinan medidas clínicas de cada cohorte y medidas de servicio de cada zona de la sede</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Definiciones que se usan en todos los módulos y en el resto de esta presentación.</a:t>
            </a:r>
            <a:endParaRPr lang="en-US" sz="1250" dirty="0"/>
          </a:p>
        </p:txBody>
      </p:sp>
      <p:sp>
        <p:nvSpPr>
          <p:cNvPr id="4" name="definicion-102"/>
          <p:cNvSpPr/>
          <p:nvPr/>
        </p:nvSpPr>
        <p:spPr>
          <a:xfrm>
            <a:off x="457200" y="1645920"/>
            <a:ext cx="5501488" cy="835762"/>
          </a:xfrm>
          <a:prstGeom prst="roundRect">
            <a:avLst>
              <a:gd name="adj" fmla="val 7659"/>
            </a:avLst>
          </a:prstGeom>
          <a:solidFill>
            <a:schemeClr val="bg2"/>
          </a:solidFill>
          <a:ln w="9525">
            <a:solidFill>
              <a:srgbClr val="D5DCE5"/>
            </a:solidFill>
            <a:prstDash val="solid"/>
          </a:ln>
        </p:spPr>
      </p:sp>
      <p:sp>
        <p:nvSpPr>
          <p:cNvPr id="5" name="marca-103"/>
          <p:cNvSpPr/>
          <p:nvPr/>
        </p:nvSpPr>
        <p:spPr>
          <a:xfrm>
            <a:off x="621792" y="1819656"/>
            <a:ext cx="128016" cy="128016"/>
          </a:xfrm>
          <a:prstGeom prst="ellipse">
            <a:avLst/>
          </a:prstGeom>
          <a:solidFill>
            <a:schemeClr val="accent1"/>
          </a:solidFill>
          <a:ln/>
        </p:spPr>
      </p:sp>
      <p:sp>
        <p:nvSpPr>
          <p:cNvPr id="6" name="definicion-termino-104"/>
          <p:cNvSpPr txBox="1"/>
          <p:nvPr/>
        </p:nvSpPr>
        <p:spPr>
          <a:xfrm>
            <a:off x="841248" y="1755648"/>
            <a:ext cx="1828800" cy="652882"/>
          </a:xfrm>
          <a:prstGeom prst="rect">
            <a:avLst/>
          </a:prstGeom>
          <a:noFill/>
          <a:ln/>
        </p:spPr>
        <p:txBody>
          <a:bodyPr wrap="square" lIns="0" tIns="0" rIns="0" bIns="0" rtlCol="0" anchor="t"/>
          <a:lstStyle/>
          <a:p>
            <a:pPr indent="0" marL="0">
              <a:buNone/>
            </a:pPr>
            <a:r>
              <a:rPr lang="en-US" sz="1050" b="1" dirty="0">
                <a:solidFill>
                  <a:schemeClr val="tx1"/>
                </a:solidFill>
              </a:rPr>
              <a:t>Escenario regular</a:t>
            </a:r>
            <a:endParaRPr lang="en-US" sz="1050" dirty="0"/>
          </a:p>
        </p:txBody>
      </p:sp>
      <p:sp>
        <p:nvSpPr>
          <p:cNvPr id="7" name="definicion-texto-105"/>
          <p:cNvSpPr txBox="1"/>
          <p:nvPr/>
        </p:nvSpPr>
        <p:spPr>
          <a:xfrm>
            <a:off x="2743200" y="1755648"/>
            <a:ext cx="3050896" cy="652882"/>
          </a:xfrm>
          <a:prstGeom prst="rect">
            <a:avLst/>
          </a:prstGeom>
          <a:noFill/>
          <a:ln/>
        </p:spPr>
        <p:txBody>
          <a:bodyPr wrap="square" lIns="0" tIns="0" rIns="0" bIns="0" rtlCol="0" anchor="t"/>
          <a:lstStyle/>
          <a:p>
            <a:pPr indent="0" marL="0">
              <a:buNone/>
            </a:pPr>
            <a:r>
              <a:rPr lang="en-US" sz="900" dirty="0">
                <a:solidFill>
                  <a:schemeClr val="tx1"/>
                </a:solidFill>
              </a:rPr>
              <a:t>Proyección de 2027 con la cobertura vigente del programa y sin canales alternos. Es la referencia contra la que se comparan los demás escenarios y no se puede editar.</a:t>
            </a:r>
            <a:endParaRPr lang="en-US" sz="900" dirty="0"/>
          </a:p>
        </p:txBody>
      </p:sp>
      <p:sp>
        <p:nvSpPr>
          <p:cNvPr id="8" name="definicion-106"/>
          <p:cNvSpPr/>
          <p:nvPr/>
        </p:nvSpPr>
        <p:spPr>
          <a:xfrm>
            <a:off x="457200" y="2591410"/>
            <a:ext cx="5501488" cy="835762"/>
          </a:xfrm>
          <a:prstGeom prst="roundRect">
            <a:avLst>
              <a:gd name="adj" fmla="val 7659"/>
            </a:avLst>
          </a:prstGeom>
          <a:solidFill>
            <a:schemeClr val="bg2"/>
          </a:solidFill>
          <a:ln w="9525">
            <a:solidFill>
              <a:srgbClr val="D5DCE5"/>
            </a:solidFill>
            <a:prstDash val="solid"/>
          </a:ln>
        </p:spPr>
      </p:sp>
      <p:sp>
        <p:nvSpPr>
          <p:cNvPr id="9" name="marca-107"/>
          <p:cNvSpPr/>
          <p:nvPr/>
        </p:nvSpPr>
        <p:spPr>
          <a:xfrm>
            <a:off x="621792" y="2765146"/>
            <a:ext cx="128016" cy="128016"/>
          </a:xfrm>
          <a:prstGeom prst="ellipse">
            <a:avLst/>
          </a:prstGeom>
          <a:solidFill>
            <a:schemeClr val="accent1"/>
          </a:solidFill>
          <a:ln/>
        </p:spPr>
      </p:sp>
      <p:sp>
        <p:nvSpPr>
          <p:cNvPr id="10" name="definicion-termino-108"/>
          <p:cNvSpPr txBox="1"/>
          <p:nvPr/>
        </p:nvSpPr>
        <p:spPr>
          <a:xfrm>
            <a:off x="841248" y="2701138"/>
            <a:ext cx="1828800" cy="652882"/>
          </a:xfrm>
          <a:prstGeom prst="rect">
            <a:avLst/>
          </a:prstGeom>
          <a:noFill/>
          <a:ln/>
        </p:spPr>
        <p:txBody>
          <a:bodyPr wrap="square" lIns="0" tIns="0" rIns="0" bIns="0" rtlCol="0" anchor="t"/>
          <a:lstStyle/>
          <a:p>
            <a:pPr indent="0" marL="0">
              <a:buNone/>
            </a:pPr>
            <a:r>
              <a:rPr lang="en-US" sz="1050" b="1" dirty="0">
                <a:solidFill>
                  <a:schemeClr val="tx1"/>
                </a:solidFill>
              </a:rPr>
              <a:t>Cobertura de gestión del riesgo</a:t>
            </a:r>
            <a:endParaRPr lang="en-US" sz="1050" dirty="0"/>
          </a:p>
        </p:txBody>
      </p:sp>
      <p:sp>
        <p:nvSpPr>
          <p:cNvPr id="11" name="definicion-texto-109"/>
          <p:cNvSpPr txBox="1"/>
          <p:nvPr/>
        </p:nvSpPr>
        <p:spPr>
          <a:xfrm>
            <a:off x="2743200" y="2701138"/>
            <a:ext cx="3050896" cy="652882"/>
          </a:xfrm>
          <a:prstGeom prst="rect">
            <a:avLst/>
          </a:prstGeom>
          <a:noFill/>
          <a:ln/>
        </p:spPr>
        <p:txBody>
          <a:bodyPr wrap="square" lIns="0" tIns="0" rIns="0" bIns="0" rtlCol="0" anchor="t"/>
          <a:lstStyle/>
          <a:p>
            <a:pPr indent="0" marL="0">
              <a:buNone/>
            </a:pPr>
            <a:r>
              <a:rPr lang="en-US" sz="900" dirty="0">
                <a:solidFill>
                  <a:schemeClr val="tx1"/>
                </a:solidFill>
              </a:rPr>
              <a:t>Proporción de personas de la cohorte inscritas en el programa con seguimiento activo. Al aumentar, más personas pasan a estratos controlados y se programan más controles.</a:t>
            </a:r>
            <a:endParaRPr lang="en-US" sz="900" dirty="0"/>
          </a:p>
        </p:txBody>
      </p:sp>
      <p:sp>
        <p:nvSpPr>
          <p:cNvPr id="12" name="definicion-110"/>
          <p:cNvSpPr/>
          <p:nvPr/>
        </p:nvSpPr>
        <p:spPr>
          <a:xfrm>
            <a:off x="457200" y="3536899"/>
            <a:ext cx="5501488" cy="835762"/>
          </a:xfrm>
          <a:prstGeom prst="roundRect">
            <a:avLst>
              <a:gd name="adj" fmla="val 7659"/>
            </a:avLst>
          </a:prstGeom>
          <a:solidFill>
            <a:schemeClr val="bg2"/>
          </a:solidFill>
          <a:ln w="9525">
            <a:solidFill>
              <a:srgbClr val="D5DCE5"/>
            </a:solidFill>
            <a:prstDash val="solid"/>
          </a:ln>
        </p:spPr>
      </p:sp>
      <p:sp>
        <p:nvSpPr>
          <p:cNvPr id="13" name="marca-111"/>
          <p:cNvSpPr/>
          <p:nvPr/>
        </p:nvSpPr>
        <p:spPr>
          <a:xfrm>
            <a:off x="621792" y="3710635"/>
            <a:ext cx="128016" cy="128016"/>
          </a:xfrm>
          <a:prstGeom prst="ellipse">
            <a:avLst/>
          </a:prstGeom>
          <a:solidFill>
            <a:schemeClr val="accent4"/>
          </a:solidFill>
          <a:ln/>
        </p:spPr>
      </p:sp>
      <p:sp>
        <p:nvSpPr>
          <p:cNvPr id="14" name="definicion-termino-112"/>
          <p:cNvSpPr txBox="1"/>
          <p:nvPr/>
        </p:nvSpPr>
        <p:spPr>
          <a:xfrm>
            <a:off x="841248" y="3646627"/>
            <a:ext cx="1828800" cy="652882"/>
          </a:xfrm>
          <a:prstGeom prst="rect">
            <a:avLst/>
          </a:prstGeom>
          <a:noFill/>
          <a:ln/>
        </p:spPr>
        <p:txBody>
          <a:bodyPr wrap="square" lIns="0" tIns="0" rIns="0" bIns="0" rtlCol="0" anchor="t"/>
          <a:lstStyle/>
          <a:p>
            <a:pPr indent="0" marL="0">
              <a:buNone/>
            </a:pPr>
            <a:r>
              <a:rPr lang="en-US" sz="1050" b="1" dirty="0">
                <a:solidFill>
                  <a:schemeClr val="tx1"/>
                </a:solidFill>
              </a:rPr>
              <a:t>Estrato clínico</a:t>
            </a:r>
            <a:endParaRPr lang="en-US" sz="1050" dirty="0"/>
          </a:p>
        </p:txBody>
      </p:sp>
      <p:sp>
        <p:nvSpPr>
          <p:cNvPr id="15" name="definicion-texto-113"/>
          <p:cNvSpPr txBox="1"/>
          <p:nvPr/>
        </p:nvSpPr>
        <p:spPr>
          <a:xfrm>
            <a:off x="2743200" y="3646627"/>
            <a:ext cx="3050896" cy="652882"/>
          </a:xfrm>
          <a:prstGeom prst="rect">
            <a:avLst/>
          </a:prstGeom>
          <a:noFill/>
          <a:ln/>
        </p:spPr>
        <p:txBody>
          <a:bodyPr wrap="square" lIns="0" tIns="0" rIns="0" bIns="0" rtlCol="0" anchor="t"/>
          <a:lstStyle/>
          <a:p>
            <a:pPr indent="0" marL="0">
              <a:buNone/>
            </a:pPr>
            <a:r>
              <a:rPr lang="en-US" sz="900" dirty="0">
                <a:solidFill>
                  <a:schemeClr val="tx1"/>
                </a:solidFill>
              </a:rPr>
              <a:t>Nivel de control y daño dentro de la cohorte; en hipertensión: controlada, no controlada, con daño de órgano blanco y alto riesgo. Cada estrato usa los servicios con distinta intensidad.</a:t>
            </a:r>
            <a:endParaRPr lang="en-US" sz="900" dirty="0"/>
          </a:p>
        </p:txBody>
      </p:sp>
      <p:sp>
        <p:nvSpPr>
          <p:cNvPr id="16" name="definicion-114"/>
          <p:cNvSpPr/>
          <p:nvPr/>
        </p:nvSpPr>
        <p:spPr>
          <a:xfrm>
            <a:off x="457200" y="4482389"/>
            <a:ext cx="5501488" cy="835762"/>
          </a:xfrm>
          <a:prstGeom prst="roundRect">
            <a:avLst>
              <a:gd name="adj" fmla="val 7659"/>
            </a:avLst>
          </a:prstGeom>
          <a:solidFill>
            <a:schemeClr val="bg2"/>
          </a:solidFill>
          <a:ln w="9525">
            <a:solidFill>
              <a:srgbClr val="D5DCE5"/>
            </a:solidFill>
            <a:prstDash val="solid"/>
          </a:ln>
        </p:spPr>
      </p:sp>
      <p:sp>
        <p:nvSpPr>
          <p:cNvPr id="17" name="marca-115"/>
          <p:cNvSpPr/>
          <p:nvPr/>
        </p:nvSpPr>
        <p:spPr>
          <a:xfrm>
            <a:off x="621792" y="4656125"/>
            <a:ext cx="128016" cy="128016"/>
          </a:xfrm>
          <a:prstGeom prst="ellipse">
            <a:avLst/>
          </a:prstGeom>
          <a:solidFill>
            <a:schemeClr val="accent4"/>
          </a:solidFill>
          <a:ln/>
        </p:spPr>
      </p:sp>
      <p:sp>
        <p:nvSpPr>
          <p:cNvPr id="18" name="definicion-termino-116"/>
          <p:cNvSpPr txBox="1"/>
          <p:nvPr/>
        </p:nvSpPr>
        <p:spPr>
          <a:xfrm>
            <a:off x="841248" y="4592117"/>
            <a:ext cx="1828800" cy="652882"/>
          </a:xfrm>
          <a:prstGeom prst="rect">
            <a:avLst/>
          </a:prstGeom>
          <a:noFill/>
          <a:ln/>
        </p:spPr>
        <p:txBody>
          <a:bodyPr wrap="square" lIns="0" tIns="0" rIns="0" bIns="0" rtlCol="0" anchor="t"/>
          <a:lstStyle/>
          <a:p>
            <a:pPr indent="0" marL="0">
              <a:buNone/>
            </a:pPr>
            <a:r>
              <a:rPr lang="en-US" sz="1050" b="1" dirty="0">
                <a:solidFill>
                  <a:schemeClr val="tx1"/>
                </a:solidFill>
              </a:rPr>
              <a:t>Hospitalizaciones CSCA</a:t>
            </a:r>
            <a:endParaRPr lang="en-US" sz="1050" dirty="0"/>
          </a:p>
        </p:txBody>
      </p:sp>
      <p:sp>
        <p:nvSpPr>
          <p:cNvPr id="19" name="definicion-texto-117"/>
          <p:cNvSpPr txBox="1"/>
          <p:nvPr/>
        </p:nvSpPr>
        <p:spPr>
          <a:xfrm>
            <a:off x="2743200" y="4592117"/>
            <a:ext cx="3050896" cy="652882"/>
          </a:xfrm>
          <a:prstGeom prst="rect">
            <a:avLst/>
          </a:prstGeom>
          <a:noFill/>
          <a:ln/>
        </p:spPr>
        <p:txBody>
          <a:bodyPr wrap="square" lIns="0" tIns="0" rIns="0" bIns="0" rtlCol="0" anchor="t"/>
          <a:lstStyle/>
          <a:p>
            <a:pPr indent="0" marL="0">
              <a:buNone/>
            </a:pPr>
            <a:r>
              <a:rPr lang="en-US" sz="900" dirty="0">
                <a:solidFill>
                  <a:schemeClr val="tx1"/>
                </a:solidFill>
              </a:rPr>
              <a:t>Hospitalizaciones por condiciones sensibles al cuidado ambulatorio, las que un buen control en atención primaria puede evitar. Son las únicas sobre las que el modelo aplica el efecto del programa.</a:t>
            </a:r>
            <a:endParaRPr lang="en-US" sz="900" dirty="0"/>
          </a:p>
        </p:txBody>
      </p:sp>
      <p:sp>
        <p:nvSpPr>
          <p:cNvPr id="20" name="definicion-118"/>
          <p:cNvSpPr/>
          <p:nvPr/>
        </p:nvSpPr>
        <p:spPr>
          <a:xfrm>
            <a:off x="457200" y="5427878"/>
            <a:ext cx="5501488" cy="835762"/>
          </a:xfrm>
          <a:prstGeom prst="roundRect">
            <a:avLst>
              <a:gd name="adj" fmla="val 7659"/>
            </a:avLst>
          </a:prstGeom>
          <a:solidFill>
            <a:schemeClr val="bg2"/>
          </a:solidFill>
          <a:ln w="9525">
            <a:solidFill>
              <a:srgbClr val="D5DCE5"/>
            </a:solidFill>
            <a:prstDash val="solid"/>
          </a:ln>
        </p:spPr>
      </p:sp>
      <p:sp>
        <p:nvSpPr>
          <p:cNvPr id="21" name="marca-119"/>
          <p:cNvSpPr/>
          <p:nvPr/>
        </p:nvSpPr>
        <p:spPr>
          <a:xfrm>
            <a:off x="621792" y="5601614"/>
            <a:ext cx="128016" cy="128016"/>
          </a:xfrm>
          <a:prstGeom prst="ellipse">
            <a:avLst/>
          </a:prstGeom>
          <a:solidFill>
            <a:schemeClr val="accent4"/>
          </a:solidFill>
          <a:ln/>
        </p:spPr>
      </p:sp>
      <p:sp>
        <p:nvSpPr>
          <p:cNvPr id="22" name="definicion-termino-120"/>
          <p:cNvSpPr txBox="1"/>
          <p:nvPr/>
        </p:nvSpPr>
        <p:spPr>
          <a:xfrm>
            <a:off x="841248" y="5537606"/>
            <a:ext cx="1828800" cy="652882"/>
          </a:xfrm>
          <a:prstGeom prst="rect">
            <a:avLst/>
          </a:prstGeom>
          <a:noFill/>
          <a:ln/>
        </p:spPr>
        <p:txBody>
          <a:bodyPr wrap="square" lIns="0" tIns="0" rIns="0" bIns="0" rtlCol="0" anchor="t"/>
          <a:lstStyle/>
          <a:p>
            <a:pPr indent="0" marL="0">
              <a:buNone/>
            </a:pPr>
            <a:r>
              <a:rPr lang="en-US" sz="1050" b="1" dirty="0">
                <a:solidFill>
                  <a:schemeClr val="tx1"/>
                </a:solidFill>
              </a:rPr>
              <a:t>Banda P10–P90</a:t>
            </a:r>
            <a:endParaRPr lang="en-US" sz="1050" dirty="0"/>
          </a:p>
        </p:txBody>
      </p:sp>
      <p:sp>
        <p:nvSpPr>
          <p:cNvPr id="23" name="definicion-texto-121"/>
          <p:cNvSpPr txBox="1"/>
          <p:nvPr/>
        </p:nvSpPr>
        <p:spPr>
          <a:xfrm>
            <a:off x="2743200" y="5537606"/>
            <a:ext cx="3050896" cy="652882"/>
          </a:xfrm>
          <a:prstGeom prst="rect">
            <a:avLst/>
          </a:prstGeom>
          <a:noFill/>
          <a:ln/>
        </p:spPr>
        <p:txBody>
          <a:bodyPr wrap="square" lIns="0" tIns="0" rIns="0" bIns="0" rtlCol="0" anchor="t"/>
          <a:lstStyle/>
          <a:p>
            <a:pPr indent="0" marL="0">
              <a:buNone/>
            </a:pPr>
            <a:r>
              <a:rPr lang="en-US" sz="900" dirty="0">
                <a:solidFill>
                  <a:schemeClr val="tx1"/>
                </a:solidFill>
              </a:rPr>
              <a:t>Rango que contiene el 80 % central de las 200 simulaciones. Expresa la incertidumbre de los parámetros; una banda ancha indica que el resultado depende de supuestos por calibrar.</a:t>
            </a:r>
            <a:endParaRPr lang="en-US" sz="900" dirty="0"/>
          </a:p>
        </p:txBody>
      </p:sp>
      <p:sp>
        <p:nvSpPr>
          <p:cNvPr id="24" name="definicion-122"/>
          <p:cNvSpPr/>
          <p:nvPr/>
        </p:nvSpPr>
        <p:spPr>
          <a:xfrm>
            <a:off x="6233008" y="1645920"/>
            <a:ext cx="5501488" cy="835762"/>
          </a:xfrm>
          <a:prstGeom prst="roundRect">
            <a:avLst>
              <a:gd name="adj" fmla="val 7659"/>
            </a:avLst>
          </a:prstGeom>
          <a:solidFill>
            <a:schemeClr val="bg2"/>
          </a:solidFill>
          <a:ln w="9525">
            <a:solidFill>
              <a:srgbClr val="D5DCE5"/>
            </a:solidFill>
            <a:prstDash val="solid"/>
          </a:ln>
        </p:spPr>
      </p:sp>
      <p:sp>
        <p:nvSpPr>
          <p:cNvPr id="25" name="marca-123"/>
          <p:cNvSpPr/>
          <p:nvPr/>
        </p:nvSpPr>
        <p:spPr>
          <a:xfrm>
            <a:off x="6397600" y="1819656"/>
            <a:ext cx="128016" cy="128016"/>
          </a:xfrm>
          <a:prstGeom prst="ellipse">
            <a:avLst/>
          </a:prstGeom>
          <a:solidFill>
            <a:schemeClr val="accent3"/>
          </a:solidFill>
          <a:ln/>
        </p:spPr>
      </p:sp>
      <p:sp>
        <p:nvSpPr>
          <p:cNvPr id="26" name="definicion-termino-124"/>
          <p:cNvSpPr txBox="1"/>
          <p:nvPr/>
        </p:nvSpPr>
        <p:spPr>
          <a:xfrm>
            <a:off x="6617056" y="1755648"/>
            <a:ext cx="1828800" cy="652882"/>
          </a:xfrm>
          <a:prstGeom prst="rect">
            <a:avLst/>
          </a:prstGeom>
          <a:noFill/>
          <a:ln/>
        </p:spPr>
        <p:txBody>
          <a:bodyPr wrap="square" lIns="0" tIns="0" rIns="0" bIns="0" rtlCol="0" anchor="t"/>
          <a:lstStyle/>
          <a:p>
            <a:pPr indent="0" marL="0">
              <a:buNone/>
            </a:pPr>
            <a:r>
              <a:rPr lang="en-US" sz="1050" b="1" dirty="0">
                <a:solidFill>
                  <a:schemeClr val="tx1"/>
                </a:solidFill>
              </a:rPr>
              <a:t>Utilización</a:t>
            </a:r>
            <a:endParaRPr lang="en-US" sz="1050" dirty="0"/>
          </a:p>
        </p:txBody>
      </p:sp>
      <p:sp>
        <p:nvSpPr>
          <p:cNvPr id="27" name="definicion-texto-125"/>
          <p:cNvSpPr txBox="1"/>
          <p:nvPr/>
        </p:nvSpPr>
        <p:spPr>
          <a:xfrm>
            <a:off x="8519008" y="1755648"/>
            <a:ext cx="3050896" cy="652882"/>
          </a:xfrm>
          <a:prstGeom prst="rect">
            <a:avLst/>
          </a:prstGeom>
          <a:noFill/>
          <a:ln/>
        </p:spPr>
        <p:txBody>
          <a:bodyPr wrap="square" lIns="0" tIns="0" rIns="0" bIns="0" rtlCol="0" anchor="t"/>
          <a:lstStyle/>
          <a:p>
            <a:pPr indent="0" marL="0">
              <a:buNone/>
            </a:pPr>
            <a:r>
              <a:rPr lang="en-US" sz="900" dirty="0">
                <a:solidFill>
                  <a:schemeClr val="tx1"/>
                </a:solidFill>
              </a:rPr>
              <a:t>Demanda de la zona dividida por su capacidad en el día. Por encima de 100 % la demanda supera lo que la zona puede atender y las solicitudes se acumulan para días siguientes.</a:t>
            </a:r>
            <a:endParaRPr lang="en-US" sz="900" dirty="0"/>
          </a:p>
        </p:txBody>
      </p:sp>
      <p:sp>
        <p:nvSpPr>
          <p:cNvPr id="28" name="definicion-126"/>
          <p:cNvSpPr/>
          <p:nvPr/>
        </p:nvSpPr>
        <p:spPr>
          <a:xfrm>
            <a:off x="6233008" y="2591410"/>
            <a:ext cx="5501488" cy="835762"/>
          </a:xfrm>
          <a:prstGeom prst="roundRect">
            <a:avLst>
              <a:gd name="adj" fmla="val 7659"/>
            </a:avLst>
          </a:prstGeom>
          <a:solidFill>
            <a:schemeClr val="bg2"/>
          </a:solidFill>
          <a:ln w="9525">
            <a:solidFill>
              <a:srgbClr val="D5DCE5"/>
            </a:solidFill>
            <a:prstDash val="solid"/>
          </a:ln>
        </p:spPr>
      </p:sp>
      <p:sp>
        <p:nvSpPr>
          <p:cNvPr id="29" name="marca-127"/>
          <p:cNvSpPr/>
          <p:nvPr/>
        </p:nvSpPr>
        <p:spPr>
          <a:xfrm>
            <a:off x="6397600" y="2765146"/>
            <a:ext cx="128016" cy="128016"/>
          </a:xfrm>
          <a:prstGeom prst="ellipse">
            <a:avLst/>
          </a:prstGeom>
          <a:solidFill>
            <a:schemeClr val="accent3"/>
          </a:solidFill>
          <a:ln/>
        </p:spPr>
      </p:sp>
      <p:sp>
        <p:nvSpPr>
          <p:cNvPr id="30" name="definicion-termino-128"/>
          <p:cNvSpPr txBox="1"/>
          <p:nvPr/>
        </p:nvSpPr>
        <p:spPr>
          <a:xfrm>
            <a:off x="6617056" y="2701138"/>
            <a:ext cx="1828800" cy="652882"/>
          </a:xfrm>
          <a:prstGeom prst="rect">
            <a:avLst/>
          </a:prstGeom>
          <a:noFill/>
          <a:ln/>
        </p:spPr>
        <p:txBody>
          <a:bodyPr wrap="square" lIns="0" tIns="0" rIns="0" bIns="0" rtlCol="0" anchor="t"/>
          <a:lstStyle/>
          <a:p>
            <a:pPr indent="0" marL="0">
              <a:buNone/>
            </a:pPr>
            <a:r>
              <a:rPr lang="en-US" sz="1050" b="1" dirty="0">
                <a:solidFill>
                  <a:schemeClr val="tx1"/>
                </a:solidFill>
              </a:rPr>
              <a:t>Oportunidad de cita P50 y P90</a:t>
            </a:r>
            <a:endParaRPr lang="en-US" sz="1050" dirty="0"/>
          </a:p>
        </p:txBody>
      </p:sp>
      <p:sp>
        <p:nvSpPr>
          <p:cNvPr id="31" name="definicion-texto-129"/>
          <p:cNvSpPr txBox="1"/>
          <p:nvPr/>
        </p:nvSpPr>
        <p:spPr>
          <a:xfrm>
            <a:off x="8519008" y="2701138"/>
            <a:ext cx="3050896" cy="652882"/>
          </a:xfrm>
          <a:prstGeom prst="rect">
            <a:avLst/>
          </a:prstGeom>
          <a:noFill/>
          <a:ln/>
        </p:spPr>
        <p:txBody>
          <a:bodyPr wrap="square" lIns="0" tIns="0" rIns="0" bIns="0" rtlCol="0" anchor="t"/>
          <a:lstStyle/>
          <a:p>
            <a:pPr indent="0" marL="0">
              <a:buNone/>
            </a:pPr>
            <a:r>
              <a:rPr lang="en-US" sz="900" dirty="0">
                <a:solidFill>
                  <a:schemeClr val="tx1"/>
                </a:solidFill>
              </a:rPr>
              <a:t>Días entre la solicitud y la cita asignada. P50 es el valor que no supera la mitad de los pacientes; P90, el que no supera el 90 %, y por eso refleja a quienes más esperan. La referencia para medicina general es de 3 días hábiles.</a:t>
            </a:r>
            <a:endParaRPr lang="en-US" sz="900" dirty="0"/>
          </a:p>
        </p:txBody>
      </p:sp>
      <p:sp>
        <p:nvSpPr>
          <p:cNvPr id="32" name="definicion-130"/>
          <p:cNvSpPr/>
          <p:nvPr/>
        </p:nvSpPr>
        <p:spPr>
          <a:xfrm>
            <a:off x="6233008" y="3536899"/>
            <a:ext cx="5501488" cy="835762"/>
          </a:xfrm>
          <a:prstGeom prst="roundRect">
            <a:avLst>
              <a:gd name="adj" fmla="val 7659"/>
            </a:avLst>
          </a:prstGeom>
          <a:solidFill>
            <a:schemeClr val="bg2"/>
          </a:solidFill>
          <a:ln w="9525">
            <a:solidFill>
              <a:srgbClr val="D5DCE5"/>
            </a:solidFill>
            <a:prstDash val="solid"/>
          </a:ln>
        </p:spPr>
      </p:sp>
      <p:sp>
        <p:nvSpPr>
          <p:cNvPr id="33" name="marca-131"/>
          <p:cNvSpPr/>
          <p:nvPr/>
        </p:nvSpPr>
        <p:spPr>
          <a:xfrm>
            <a:off x="6397600" y="3710635"/>
            <a:ext cx="128016" cy="128016"/>
          </a:xfrm>
          <a:prstGeom prst="ellipse">
            <a:avLst/>
          </a:prstGeom>
          <a:solidFill>
            <a:schemeClr val="accent3"/>
          </a:solidFill>
          <a:ln/>
        </p:spPr>
      </p:sp>
      <p:sp>
        <p:nvSpPr>
          <p:cNvPr id="34" name="definicion-termino-132"/>
          <p:cNvSpPr txBox="1"/>
          <p:nvPr/>
        </p:nvSpPr>
        <p:spPr>
          <a:xfrm>
            <a:off x="6617056" y="3646627"/>
            <a:ext cx="1828800" cy="652882"/>
          </a:xfrm>
          <a:prstGeom prst="rect">
            <a:avLst/>
          </a:prstGeom>
          <a:noFill/>
          <a:ln/>
        </p:spPr>
        <p:txBody>
          <a:bodyPr wrap="square" lIns="0" tIns="0" rIns="0" bIns="0" rtlCol="0" anchor="t"/>
          <a:lstStyle/>
          <a:p>
            <a:pPr indent="0" marL="0">
              <a:buNone/>
            </a:pPr>
            <a:r>
              <a:rPr lang="en-US" sz="1050" b="1" dirty="0">
                <a:solidFill>
                  <a:schemeClr val="tx1"/>
                </a:solidFill>
              </a:rPr>
              <a:t>Espera mayor que la meta</a:t>
            </a:r>
            <a:endParaRPr lang="en-US" sz="1050" dirty="0"/>
          </a:p>
        </p:txBody>
      </p:sp>
      <p:sp>
        <p:nvSpPr>
          <p:cNvPr id="35" name="definicion-texto-133"/>
          <p:cNvSpPr txBox="1"/>
          <p:nvPr/>
        </p:nvSpPr>
        <p:spPr>
          <a:xfrm>
            <a:off x="8519008" y="3646627"/>
            <a:ext cx="3050896" cy="652882"/>
          </a:xfrm>
          <a:prstGeom prst="rect">
            <a:avLst/>
          </a:prstGeom>
          <a:noFill/>
          <a:ln/>
        </p:spPr>
        <p:txBody>
          <a:bodyPr wrap="square" lIns="0" tIns="0" rIns="0" bIns="0" rtlCol="0" anchor="t"/>
          <a:lstStyle/>
          <a:p>
            <a:pPr indent="0" marL="0">
              <a:buNone/>
            </a:pPr>
            <a:r>
              <a:rPr lang="en-US" sz="900" dirty="0">
                <a:solidFill>
                  <a:schemeClr val="tx1"/>
                </a:solidFill>
              </a:rPr>
              <a:t>En zonas sin cita (admisión, prioritaria y laboratorio), proporción de pacientes que espera más que la meta de la zona en la hora de mayor demanda.</a:t>
            </a:r>
            <a:endParaRPr lang="en-US" sz="900" dirty="0"/>
          </a:p>
        </p:txBody>
      </p:sp>
      <p:sp>
        <p:nvSpPr>
          <p:cNvPr id="36" name="definicion-134"/>
          <p:cNvSpPr/>
          <p:nvPr/>
        </p:nvSpPr>
        <p:spPr>
          <a:xfrm>
            <a:off x="6233008" y="4482389"/>
            <a:ext cx="5501488" cy="835762"/>
          </a:xfrm>
          <a:prstGeom prst="roundRect">
            <a:avLst>
              <a:gd name="adj" fmla="val 7659"/>
            </a:avLst>
          </a:prstGeom>
          <a:solidFill>
            <a:schemeClr val="bg2"/>
          </a:solidFill>
          <a:ln w="9525">
            <a:solidFill>
              <a:srgbClr val="D5DCE5"/>
            </a:solidFill>
            <a:prstDash val="solid"/>
          </a:ln>
        </p:spPr>
      </p:sp>
      <p:sp>
        <p:nvSpPr>
          <p:cNvPr id="37" name="marca-135"/>
          <p:cNvSpPr/>
          <p:nvPr/>
        </p:nvSpPr>
        <p:spPr>
          <a:xfrm>
            <a:off x="6397600" y="4656125"/>
            <a:ext cx="128016" cy="128016"/>
          </a:xfrm>
          <a:prstGeom prst="ellipse">
            <a:avLst/>
          </a:prstGeom>
          <a:solidFill>
            <a:schemeClr val="accent6"/>
          </a:solidFill>
          <a:ln/>
        </p:spPr>
      </p:sp>
      <p:sp>
        <p:nvSpPr>
          <p:cNvPr id="38" name="definicion-termino-136"/>
          <p:cNvSpPr txBox="1"/>
          <p:nvPr/>
        </p:nvSpPr>
        <p:spPr>
          <a:xfrm>
            <a:off x="6617056" y="4592117"/>
            <a:ext cx="1828800" cy="652882"/>
          </a:xfrm>
          <a:prstGeom prst="rect">
            <a:avLst/>
          </a:prstGeom>
          <a:noFill/>
          <a:ln/>
        </p:spPr>
        <p:txBody>
          <a:bodyPr wrap="square" lIns="0" tIns="0" rIns="0" bIns="0" rtlCol="0" anchor="t"/>
          <a:lstStyle/>
          <a:p>
            <a:pPr indent="0" marL="0">
              <a:buNone/>
            </a:pPr>
            <a:r>
              <a:rPr lang="en-US" sz="1050" b="1" dirty="0">
                <a:solidFill>
                  <a:schemeClr val="tx1"/>
                </a:solidFill>
              </a:rPr>
              <a:t>Estado de la zona</a:t>
            </a:r>
            <a:endParaRPr lang="en-US" sz="1050" dirty="0"/>
          </a:p>
        </p:txBody>
      </p:sp>
      <p:sp>
        <p:nvSpPr>
          <p:cNvPr id="39" name="definicion-texto-137"/>
          <p:cNvSpPr txBox="1"/>
          <p:nvPr/>
        </p:nvSpPr>
        <p:spPr>
          <a:xfrm>
            <a:off x="8519008" y="4592117"/>
            <a:ext cx="3050896" cy="652882"/>
          </a:xfrm>
          <a:prstGeom prst="rect">
            <a:avLst/>
          </a:prstGeom>
          <a:noFill/>
          <a:ln/>
        </p:spPr>
        <p:txBody>
          <a:bodyPr wrap="square" lIns="0" tIns="0" rIns="0" bIns="0" rtlCol="0" anchor="t"/>
          <a:lstStyle/>
          <a:p>
            <a:pPr indent="0" marL="0">
              <a:buNone/>
            </a:pPr>
            <a:r>
              <a:rPr lang="en-US" sz="900" dirty="0">
                <a:solidFill>
                  <a:schemeClr val="tx1"/>
                </a:solidFill>
              </a:rPr>
              <a:t>Holgada, tensionada o saturada. Con cita: saturada si el P90 supera 1,5 veces la meta o la utilización llega a 100 %. Sin cita: saturada si la cola es inestable o la espera excede el doble del máximo. Domicilio y virtual: tensionada desde 80 % y saturada desde 95 %.</a:t>
            </a:r>
            <a:endParaRPr lang="en-US" sz="900" dirty="0"/>
          </a:p>
        </p:txBody>
      </p:sp>
      <p:sp>
        <p:nvSpPr>
          <p:cNvPr id="40" name="definicion-138"/>
          <p:cNvSpPr/>
          <p:nvPr/>
        </p:nvSpPr>
        <p:spPr>
          <a:xfrm>
            <a:off x="6233008" y="5427878"/>
            <a:ext cx="5501488" cy="835762"/>
          </a:xfrm>
          <a:prstGeom prst="roundRect">
            <a:avLst>
              <a:gd name="adj" fmla="val 7659"/>
            </a:avLst>
          </a:prstGeom>
          <a:solidFill>
            <a:schemeClr val="bg2"/>
          </a:solidFill>
          <a:ln w="9525">
            <a:solidFill>
              <a:srgbClr val="D5DCE5"/>
            </a:solidFill>
            <a:prstDash val="solid"/>
          </a:ln>
        </p:spPr>
      </p:sp>
      <p:sp>
        <p:nvSpPr>
          <p:cNvPr id="41" name="marca-139"/>
          <p:cNvSpPr/>
          <p:nvPr/>
        </p:nvSpPr>
        <p:spPr>
          <a:xfrm>
            <a:off x="6397600" y="5601614"/>
            <a:ext cx="128016" cy="128016"/>
          </a:xfrm>
          <a:prstGeom prst="ellipse">
            <a:avLst/>
          </a:prstGeom>
          <a:solidFill>
            <a:schemeClr val="accent6"/>
          </a:solidFill>
          <a:ln/>
        </p:spPr>
      </p:sp>
      <p:sp>
        <p:nvSpPr>
          <p:cNvPr id="42" name="definicion-termino-140"/>
          <p:cNvSpPr txBox="1"/>
          <p:nvPr/>
        </p:nvSpPr>
        <p:spPr>
          <a:xfrm>
            <a:off x="6617056" y="5537606"/>
            <a:ext cx="1828800" cy="652882"/>
          </a:xfrm>
          <a:prstGeom prst="rect">
            <a:avLst/>
          </a:prstGeom>
          <a:noFill/>
          <a:ln/>
        </p:spPr>
        <p:txBody>
          <a:bodyPr wrap="square" lIns="0" tIns="0" rIns="0" bIns="0" rtlCol="0" anchor="t"/>
          <a:lstStyle/>
          <a:p>
            <a:pPr indent="0" marL="0">
              <a:buNone/>
            </a:pPr>
            <a:r>
              <a:rPr lang="en-US" sz="1050" b="1" dirty="0">
                <a:solidFill>
                  <a:schemeClr val="tx1"/>
                </a:solidFill>
              </a:rPr>
              <a:t>Mes crítico y meses-sede</a:t>
            </a:r>
            <a:endParaRPr lang="en-US" sz="1050" dirty="0"/>
          </a:p>
        </p:txBody>
      </p:sp>
      <p:sp>
        <p:nvSpPr>
          <p:cNvPr id="43" name="definicion-texto-141"/>
          <p:cNvSpPr txBox="1"/>
          <p:nvPr/>
        </p:nvSpPr>
        <p:spPr>
          <a:xfrm>
            <a:off x="8519008" y="5537606"/>
            <a:ext cx="3050896" cy="652882"/>
          </a:xfrm>
          <a:prstGeom prst="rect">
            <a:avLst/>
          </a:prstGeom>
          <a:noFill/>
          <a:ln/>
        </p:spPr>
        <p:txBody>
          <a:bodyPr wrap="square" lIns="0" tIns="0" rIns="0" bIns="0" rtlCol="0" anchor="t"/>
          <a:lstStyle/>
          <a:p>
            <a:pPr indent="0" marL="0">
              <a:buNone/>
            </a:pPr>
            <a:r>
              <a:rPr lang="en-US" sz="900" dirty="0">
                <a:solidFill>
                  <a:schemeClr val="tx1"/>
                </a:solidFill>
              </a:rPr>
              <a:t>El mes crítico es el de peor estado de la sede en el año. Con cuatro sedes y doce meses hay 48 combinaciones; los meses-sede saturados cuentan en cuántas de ellas alguna zona queda saturada.</a:t>
            </a:r>
            <a:endParaRPr lang="en-US" sz="90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El portal organiza el trabajo en seis módulos, desde el estado de la red hasta la configuración del modelo</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Todos los módulos comparten la barra superior de escenario, sede y mes; un cambio allí se refleja en todas las vistas.</a:t>
            </a:r>
            <a:endParaRPr lang="en-US" sz="1250" dirty="0"/>
          </a:p>
        </p:txBody>
      </p:sp>
      <p:sp>
        <p:nvSpPr>
          <p:cNvPr id="4" name="modulo-142"/>
          <p:cNvSpPr/>
          <p:nvPr/>
        </p:nvSpPr>
        <p:spPr>
          <a:xfrm>
            <a:off x="457200" y="1645920"/>
            <a:ext cx="3576218" cy="2212848"/>
          </a:xfrm>
          <a:prstGeom prst="roundRect">
            <a:avLst>
              <a:gd name="adj" fmla="val 2893"/>
            </a:avLst>
          </a:prstGeom>
          <a:solidFill>
            <a:schemeClr val="bg2"/>
          </a:solidFill>
          <a:ln w="9525">
            <a:solidFill>
              <a:srgbClr val="D5DCE5"/>
            </a:solidFill>
            <a:prstDash val="solid"/>
          </a:ln>
        </p:spPr>
      </p:sp>
      <p:sp>
        <p:nvSpPr>
          <p:cNvPr id="5" name="icono-fondo-143"/>
          <p:cNvSpPr/>
          <p:nvPr/>
        </p:nvSpPr>
        <p:spPr>
          <a:xfrm>
            <a:off x="640080" y="1810512"/>
            <a:ext cx="420624" cy="420624"/>
          </a:xfrm>
          <a:prstGeom prst="ellipse">
            <a:avLst/>
          </a:prstGeom>
          <a:solidFill>
            <a:srgbClr val="FFFFFF"/>
          </a:solidFill>
          <a:ln/>
        </p:spPr>
      </p:sp>
      <p:pic>
        <p:nvPicPr>
          <p:cNvPr id="6" name="icono-144" descr="preencoded.png">    </p:cNvPr>
          <p:cNvPicPr>
            <a:picLocks noChangeAspect="1"/>
          </p:cNvPicPr>
          <p:nvPr/>
        </p:nvPicPr>
        <p:blipFill>
          <a:blip r:embed="rId1"/>
          <a:stretch>
            <a:fillRect/>
          </a:stretch>
        </p:blipFill>
        <p:spPr>
          <a:xfrm>
            <a:off x="732617" y="1903049"/>
            <a:ext cx="235549" cy="235549"/>
          </a:xfrm>
          <a:prstGeom prst="rect">
            <a:avLst/>
          </a:prstGeom>
        </p:spPr>
      </p:pic>
      <p:sp>
        <p:nvSpPr>
          <p:cNvPr id="7" name="modulo-nombre-145"/>
          <p:cNvSpPr txBox="1"/>
          <p:nvPr/>
        </p:nvSpPr>
        <p:spPr>
          <a:xfrm>
            <a:off x="1188720" y="1883664"/>
            <a:ext cx="2661818" cy="292608"/>
          </a:xfrm>
          <a:prstGeom prst="rect">
            <a:avLst/>
          </a:prstGeom>
          <a:noFill/>
          <a:ln/>
        </p:spPr>
        <p:txBody>
          <a:bodyPr wrap="square" lIns="0" tIns="0" rIns="0" bIns="0" rtlCol="0" anchor="t"/>
          <a:lstStyle/>
          <a:p>
            <a:pPr indent="0" marL="0">
              <a:buNone/>
            </a:pPr>
            <a:r>
              <a:rPr lang="en-US" sz="1350" b="1" dirty="0">
                <a:solidFill>
                  <a:schemeClr val="tx1"/>
                </a:solidFill>
              </a:rPr>
              <a:t>Vista general</a:t>
            </a:r>
            <a:endParaRPr lang="en-US" sz="1350" dirty="0"/>
          </a:p>
        </p:txBody>
      </p:sp>
      <p:sp>
        <p:nvSpPr>
          <p:cNvPr id="8" name="modulo-pregunta-146"/>
          <p:cNvSpPr txBox="1"/>
          <p:nvPr/>
        </p:nvSpPr>
        <p:spPr>
          <a:xfrm>
            <a:off x="640080" y="2340864"/>
            <a:ext cx="3210458" cy="457200"/>
          </a:xfrm>
          <a:prstGeom prst="rect">
            <a:avLst/>
          </a:prstGeom>
          <a:noFill/>
          <a:ln/>
        </p:spPr>
        <p:txBody>
          <a:bodyPr wrap="square" lIns="0" tIns="0" rIns="0" bIns="0" rtlCol="0" anchor="t"/>
          <a:lstStyle/>
          <a:p>
            <a:pPr indent="0" marL="0">
              <a:buNone/>
            </a:pPr>
            <a:r>
              <a:rPr lang="en-US" sz="1000" b="1" dirty="0">
                <a:solidFill>
                  <a:schemeClr val="accent1"/>
                </a:solidFill>
              </a:rPr>
              <a:t>¿Qué sedes y meses llegan a saturación en 2027?</a:t>
            </a:r>
            <a:endParaRPr lang="en-US" sz="1000" dirty="0"/>
          </a:p>
        </p:txBody>
      </p:sp>
      <p:sp>
        <p:nvSpPr>
          <p:cNvPr id="9" name="modulo-vista-147"/>
          <p:cNvSpPr txBox="1"/>
          <p:nvPr/>
        </p:nvSpPr>
        <p:spPr>
          <a:xfrm>
            <a:off x="640080" y="2816352"/>
            <a:ext cx="3210458" cy="658368"/>
          </a:xfrm>
          <a:prstGeom prst="rect">
            <a:avLst/>
          </a:prstGeom>
          <a:noFill/>
          <a:ln/>
        </p:spPr>
        <p:txBody>
          <a:bodyPr wrap="square" lIns="0" tIns="0" rIns="0" bIns="0" rtlCol="0" anchor="t"/>
          <a:lstStyle/>
          <a:p>
            <a:pPr indent="0" marL="0">
              <a:buNone/>
            </a:pPr>
            <a:r>
              <a:rPr lang="en-US" sz="900" dirty="0">
                <a:solidFill>
                  <a:schemeClr val="tx2"/>
                </a:solidFill>
              </a:rPr>
              <a:t>Tarjetas por sede con su mes crítico, mapa de calor de sedes por meses y alertas priorizadas. Desde cualquier celda se abre la sede en ese mes.</a:t>
            </a:r>
            <a:endParaRPr lang="en-US" sz="900" dirty="0"/>
          </a:p>
        </p:txBody>
      </p:sp>
      <p:sp>
        <p:nvSpPr>
          <p:cNvPr id="10" name="modulo-usuario-148"/>
          <p:cNvSpPr txBox="1"/>
          <p:nvPr/>
        </p:nvSpPr>
        <p:spPr>
          <a:xfrm>
            <a:off x="640080" y="3529584"/>
            <a:ext cx="3210458" cy="219456"/>
          </a:xfrm>
          <a:prstGeom prst="rect">
            <a:avLst/>
          </a:prstGeom>
          <a:noFill/>
          <a:ln/>
        </p:spPr>
        <p:txBody>
          <a:bodyPr wrap="square" lIns="0" tIns="0" rIns="0" bIns="0" rtlCol="0" anchor="t"/>
          <a:lstStyle/>
          <a:p>
            <a:pPr indent="0" marL="0">
              <a:buNone/>
            </a:pPr>
            <a:r>
              <a:rPr lang="en-US" sz="900" b="1" dirty="0">
                <a:solidFill>
                  <a:schemeClr val="tx1"/>
                </a:solidFill>
              </a:rPr>
              <a:t>Usuario: </a:t>
            </a:r>
            <a:pPr indent="0" marL="0">
              <a:buNone/>
            </a:pPr>
            <a:r>
              <a:rPr lang="en-US" sz="900" dirty="0">
                <a:solidFill>
                  <a:schemeClr val="tx1"/>
                </a:solidFill>
              </a:rPr>
              <a:t>Dirección de red y PHM</a:t>
            </a:r>
            <a:endParaRPr lang="en-US" sz="900" dirty="0"/>
          </a:p>
        </p:txBody>
      </p:sp>
      <p:sp>
        <p:nvSpPr>
          <p:cNvPr id="11" name="modulo-149"/>
          <p:cNvSpPr/>
          <p:nvPr/>
        </p:nvSpPr>
        <p:spPr>
          <a:xfrm>
            <a:off x="4307738" y="1645920"/>
            <a:ext cx="3576218" cy="2212848"/>
          </a:xfrm>
          <a:prstGeom prst="roundRect">
            <a:avLst>
              <a:gd name="adj" fmla="val 2893"/>
            </a:avLst>
          </a:prstGeom>
          <a:solidFill>
            <a:schemeClr val="bg2"/>
          </a:solidFill>
          <a:ln w="9525">
            <a:solidFill>
              <a:srgbClr val="D5DCE5"/>
            </a:solidFill>
            <a:prstDash val="solid"/>
          </a:ln>
        </p:spPr>
      </p:sp>
      <p:sp>
        <p:nvSpPr>
          <p:cNvPr id="12" name="icono-fondo-150"/>
          <p:cNvSpPr/>
          <p:nvPr/>
        </p:nvSpPr>
        <p:spPr>
          <a:xfrm>
            <a:off x="4490618" y="1810512"/>
            <a:ext cx="420624" cy="420624"/>
          </a:xfrm>
          <a:prstGeom prst="ellipse">
            <a:avLst/>
          </a:prstGeom>
          <a:solidFill>
            <a:srgbClr val="FFFFFF"/>
          </a:solidFill>
          <a:ln/>
        </p:spPr>
      </p:sp>
      <p:pic>
        <p:nvPicPr>
          <p:cNvPr id="13" name="icono-151" descr="preencoded.png">    </p:cNvPr>
          <p:cNvPicPr>
            <a:picLocks noChangeAspect="1"/>
          </p:cNvPicPr>
          <p:nvPr/>
        </p:nvPicPr>
        <p:blipFill>
          <a:blip r:embed="rId2"/>
          <a:stretch>
            <a:fillRect/>
          </a:stretch>
        </p:blipFill>
        <p:spPr>
          <a:xfrm>
            <a:off x="4583156" y="1903049"/>
            <a:ext cx="235549" cy="235549"/>
          </a:xfrm>
          <a:prstGeom prst="rect">
            <a:avLst/>
          </a:prstGeom>
        </p:spPr>
      </p:pic>
      <p:sp>
        <p:nvSpPr>
          <p:cNvPr id="14" name="modulo-nombre-152"/>
          <p:cNvSpPr txBox="1"/>
          <p:nvPr/>
        </p:nvSpPr>
        <p:spPr>
          <a:xfrm>
            <a:off x="5039258" y="1883664"/>
            <a:ext cx="2661818" cy="292608"/>
          </a:xfrm>
          <a:prstGeom prst="rect">
            <a:avLst/>
          </a:prstGeom>
          <a:noFill/>
          <a:ln/>
        </p:spPr>
        <p:txBody>
          <a:bodyPr wrap="square" lIns="0" tIns="0" rIns="0" bIns="0" rtlCol="0" anchor="t"/>
          <a:lstStyle/>
          <a:p>
            <a:pPr indent="0" marL="0">
              <a:buNone/>
            </a:pPr>
            <a:r>
              <a:rPr lang="en-US" sz="1350" b="1" dirty="0">
                <a:solidFill>
                  <a:schemeClr val="tx1"/>
                </a:solidFill>
              </a:rPr>
              <a:t>Cohortes</a:t>
            </a:r>
            <a:endParaRPr lang="en-US" sz="1350" dirty="0"/>
          </a:p>
        </p:txBody>
      </p:sp>
      <p:sp>
        <p:nvSpPr>
          <p:cNvPr id="15" name="modulo-pregunta-153"/>
          <p:cNvSpPr txBox="1"/>
          <p:nvPr/>
        </p:nvSpPr>
        <p:spPr>
          <a:xfrm>
            <a:off x="4490618" y="2340864"/>
            <a:ext cx="3210458" cy="457200"/>
          </a:xfrm>
          <a:prstGeom prst="rect">
            <a:avLst/>
          </a:prstGeom>
          <a:noFill/>
          <a:ln/>
        </p:spPr>
        <p:txBody>
          <a:bodyPr wrap="square" lIns="0" tIns="0" rIns="0" bIns="0" rtlCol="0" anchor="t"/>
          <a:lstStyle/>
          <a:p>
            <a:pPr indent="0" marL="0">
              <a:buNone/>
            </a:pPr>
            <a:r>
              <a:rPr lang="en-US" sz="1000" b="1" dirty="0">
                <a:solidFill>
                  <a:schemeClr val="accent1"/>
                </a:solidFill>
              </a:rPr>
              <a:t>¿Cómo cambia la composición clínica con la cobertura y cuánta demanda genera?</a:t>
            </a:r>
            <a:endParaRPr lang="en-US" sz="1000" dirty="0"/>
          </a:p>
        </p:txBody>
      </p:sp>
      <p:sp>
        <p:nvSpPr>
          <p:cNvPr id="16" name="modulo-vista-154"/>
          <p:cNvSpPr txBox="1"/>
          <p:nvPr/>
        </p:nvSpPr>
        <p:spPr>
          <a:xfrm>
            <a:off x="4490618" y="2816352"/>
            <a:ext cx="3210458" cy="658368"/>
          </a:xfrm>
          <a:prstGeom prst="rect">
            <a:avLst/>
          </a:prstGeom>
          <a:noFill/>
          <a:ln/>
        </p:spPr>
        <p:txBody>
          <a:bodyPr wrap="square" lIns="0" tIns="0" rIns="0" bIns="0" rtlCol="0" anchor="t"/>
          <a:lstStyle/>
          <a:p>
            <a:pPr indent="0" marL="0">
              <a:buNone/>
            </a:pPr>
            <a:r>
              <a:rPr lang="en-US" sz="900" dirty="0">
                <a:solidFill>
                  <a:schemeClr val="tx2"/>
                </a:solidFill>
              </a:rPr>
              <a:t>Composición por estrato, transiciones de enero a diciembre, proyección mensual de atenciones con banda de incertidumbre y combinaciones de condiciones.</a:t>
            </a:r>
            <a:endParaRPr lang="en-US" sz="900" dirty="0"/>
          </a:p>
        </p:txBody>
      </p:sp>
      <p:sp>
        <p:nvSpPr>
          <p:cNvPr id="17" name="modulo-usuario-155"/>
          <p:cNvSpPr txBox="1"/>
          <p:nvPr/>
        </p:nvSpPr>
        <p:spPr>
          <a:xfrm>
            <a:off x="4490618" y="3529584"/>
            <a:ext cx="3210458" cy="219456"/>
          </a:xfrm>
          <a:prstGeom prst="rect">
            <a:avLst/>
          </a:prstGeom>
          <a:noFill/>
          <a:ln/>
        </p:spPr>
        <p:txBody>
          <a:bodyPr wrap="square" lIns="0" tIns="0" rIns="0" bIns="0" rtlCol="0" anchor="t"/>
          <a:lstStyle/>
          <a:p>
            <a:pPr indent="0" marL="0">
              <a:buNone/>
            </a:pPr>
            <a:r>
              <a:rPr lang="en-US" sz="900" b="1" dirty="0">
                <a:solidFill>
                  <a:schemeClr val="tx1"/>
                </a:solidFill>
              </a:rPr>
              <a:t>Usuario: </a:t>
            </a:r>
            <a:pPr indent="0" marL="0">
              <a:buNone/>
            </a:pPr>
            <a:r>
              <a:rPr lang="en-US" sz="900" dirty="0">
                <a:solidFill>
                  <a:schemeClr val="tx1"/>
                </a:solidFill>
              </a:rPr>
              <a:t>Gestión del riesgo en salud</a:t>
            </a:r>
            <a:endParaRPr lang="en-US" sz="900" dirty="0"/>
          </a:p>
        </p:txBody>
      </p:sp>
      <p:sp>
        <p:nvSpPr>
          <p:cNvPr id="18" name="modulo-156"/>
          <p:cNvSpPr/>
          <p:nvPr/>
        </p:nvSpPr>
        <p:spPr>
          <a:xfrm>
            <a:off x="8158277" y="1645920"/>
            <a:ext cx="3576218" cy="2212848"/>
          </a:xfrm>
          <a:prstGeom prst="roundRect">
            <a:avLst>
              <a:gd name="adj" fmla="val 2893"/>
            </a:avLst>
          </a:prstGeom>
          <a:solidFill>
            <a:schemeClr val="bg2"/>
          </a:solidFill>
          <a:ln w="9525">
            <a:solidFill>
              <a:srgbClr val="D5DCE5"/>
            </a:solidFill>
            <a:prstDash val="solid"/>
          </a:ln>
        </p:spPr>
      </p:sp>
      <p:sp>
        <p:nvSpPr>
          <p:cNvPr id="19" name="icono-fondo-157"/>
          <p:cNvSpPr/>
          <p:nvPr/>
        </p:nvSpPr>
        <p:spPr>
          <a:xfrm>
            <a:off x="8341157" y="1810512"/>
            <a:ext cx="420624" cy="420624"/>
          </a:xfrm>
          <a:prstGeom prst="ellipse">
            <a:avLst/>
          </a:prstGeom>
          <a:solidFill>
            <a:srgbClr val="FFFFFF"/>
          </a:solidFill>
          <a:ln/>
        </p:spPr>
      </p:sp>
      <p:pic>
        <p:nvPicPr>
          <p:cNvPr id="20" name="icono-158" descr="preencoded.png">    </p:cNvPr>
          <p:cNvPicPr>
            <a:picLocks noChangeAspect="1"/>
          </p:cNvPicPr>
          <p:nvPr/>
        </p:nvPicPr>
        <p:blipFill>
          <a:blip r:embed="rId3"/>
          <a:stretch>
            <a:fillRect/>
          </a:stretch>
        </p:blipFill>
        <p:spPr>
          <a:xfrm>
            <a:off x="8433694" y="1903049"/>
            <a:ext cx="235549" cy="235549"/>
          </a:xfrm>
          <a:prstGeom prst="rect">
            <a:avLst/>
          </a:prstGeom>
        </p:spPr>
      </p:pic>
      <p:sp>
        <p:nvSpPr>
          <p:cNvPr id="21" name="modulo-nombre-159"/>
          <p:cNvSpPr txBox="1"/>
          <p:nvPr/>
        </p:nvSpPr>
        <p:spPr>
          <a:xfrm>
            <a:off x="8889797" y="1883664"/>
            <a:ext cx="2661818" cy="292608"/>
          </a:xfrm>
          <a:prstGeom prst="rect">
            <a:avLst/>
          </a:prstGeom>
          <a:noFill/>
          <a:ln/>
        </p:spPr>
        <p:txBody>
          <a:bodyPr wrap="square" lIns="0" tIns="0" rIns="0" bIns="0" rtlCol="0" anchor="t"/>
          <a:lstStyle/>
          <a:p>
            <a:pPr indent="0" marL="0">
              <a:buNone/>
            </a:pPr>
            <a:r>
              <a:rPr lang="en-US" sz="1350" b="1" dirty="0">
                <a:solidFill>
                  <a:schemeClr val="tx1"/>
                </a:solidFill>
              </a:rPr>
              <a:t>Territorio</a:t>
            </a:r>
            <a:endParaRPr lang="en-US" sz="1350" dirty="0"/>
          </a:p>
        </p:txBody>
      </p:sp>
      <p:sp>
        <p:nvSpPr>
          <p:cNvPr id="22" name="modulo-pregunta-160"/>
          <p:cNvSpPr txBox="1"/>
          <p:nvPr/>
        </p:nvSpPr>
        <p:spPr>
          <a:xfrm>
            <a:off x="8341157" y="2340864"/>
            <a:ext cx="3210458" cy="457200"/>
          </a:xfrm>
          <a:prstGeom prst="rect">
            <a:avLst/>
          </a:prstGeom>
          <a:noFill/>
          <a:ln/>
        </p:spPr>
        <p:txBody>
          <a:bodyPr wrap="square" lIns="0" tIns="0" rIns="0" bIns="0" rtlCol="0" anchor="t"/>
          <a:lstStyle/>
          <a:p>
            <a:pPr indent="0" marL="0">
              <a:buNone/>
            </a:pPr>
            <a:r>
              <a:rPr lang="en-US" sz="1000" b="1" dirty="0">
                <a:solidFill>
                  <a:schemeClr val="accent1"/>
                </a:solidFill>
              </a:rPr>
              <a:t>¿Dónde se concentra la carga crónica y quién vive lejos de su sede?</a:t>
            </a:r>
            <a:endParaRPr lang="en-US" sz="1000" dirty="0"/>
          </a:p>
        </p:txBody>
      </p:sp>
      <p:sp>
        <p:nvSpPr>
          <p:cNvPr id="23" name="modulo-vista-161"/>
          <p:cNvSpPr txBox="1"/>
          <p:nvPr/>
        </p:nvSpPr>
        <p:spPr>
          <a:xfrm>
            <a:off x="8341157" y="2816352"/>
            <a:ext cx="3210458" cy="658368"/>
          </a:xfrm>
          <a:prstGeom prst="rect">
            <a:avLst/>
          </a:prstGeom>
          <a:noFill/>
          <a:ln/>
        </p:spPr>
        <p:txBody>
          <a:bodyPr wrap="square" lIns="0" tIns="0" rIns="0" bIns="0" rtlCol="0" anchor="t"/>
          <a:lstStyle/>
          <a:p>
            <a:pPr indent="0" marL="0">
              <a:buNone/>
            </a:pPr>
            <a:r>
              <a:rPr lang="en-US" sz="900" dirty="0">
                <a:solidFill>
                  <a:schemeClr val="tx2"/>
                </a:solidFill>
              </a:rPr>
              <a:t>Mapa de 111 hexágonos coloreado por prevalencia, alto riesgo, demanda o tiempo a la sede, con el detalle de cada celda y un resumen por sede.</a:t>
            </a:r>
            <a:endParaRPr lang="en-US" sz="900" dirty="0"/>
          </a:p>
        </p:txBody>
      </p:sp>
      <p:sp>
        <p:nvSpPr>
          <p:cNvPr id="24" name="modulo-usuario-162"/>
          <p:cNvSpPr txBox="1"/>
          <p:nvPr/>
        </p:nvSpPr>
        <p:spPr>
          <a:xfrm>
            <a:off x="8341157" y="3529584"/>
            <a:ext cx="3210458" cy="219456"/>
          </a:xfrm>
          <a:prstGeom prst="rect">
            <a:avLst/>
          </a:prstGeom>
          <a:noFill/>
          <a:ln/>
        </p:spPr>
        <p:txBody>
          <a:bodyPr wrap="square" lIns="0" tIns="0" rIns="0" bIns="0" rtlCol="0" anchor="t"/>
          <a:lstStyle/>
          <a:p>
            <a:pPr indent="0" marL="0">
              <a:buNone/>
            </a:pPr>
            <a:r>
              <a:rPr lang="en-US" sz="900" b="1" dirty="0">
                <a:solidFill>
                  <a:schemeClr val="tx1"/>
                </a:solidFill>
              </a:rPr>
              <a:t>Usuario: </a:t>
            </a:r>
            <a:pPr indent="0" marL="0">
              <a:buNone/>
            </a:pPr>
            <a:r>
              <a:rPr lang="en-US" sz="900" dirty="0">
                <a:solidFill>
                  <a:schemeClr val="tx1"/>
                </a:solidFill>
              </a:rPr>
              <a:t>Planeación territorial y atención domiciliaria</a:t>
            </a:r>
            <a:endParaRPr lang="en-US" sz="900" dirty="0"/>
          </a:p>
        </p:txBody>
      </p:sp>
      <p:sp>
        <p:nvSpPr>
          <p:cNvPr id="25" name="modulo-163"/>
          <p:cNvSpPr/>
          <p:nvPr/>
        </p:nvSpPr>
        <p:spPr>
          <a:xfrm>
            <a:off x="457200" y="4041648"/>
            <a:ext cx="3576218" cy="2212848"/>
          </a:xfrm>
          <a:prstGeom prst="roundRect">
            <a:avLst>
              <a:gd name="adj" fmla="val 2893"/>
            </a:avLst>
          </a:prstGeom>
          <a:solidFill>
            <a:schemeClr val="bg2"/>
          </a:solidFill>
          <a:ln w="9525">
            <a:solidFill>
              <a:srgbClr val="D5DCE5"/>
            </a:solidFill>
            <a:prstDash val="solid"/>
          </a:ln>
        </p:spPr>
      </p:sp>
      <p:sp>
        <p:nvSpPr>
          <p:cNvPr id="26" name="icono-fondo-164"/>
          <p:cNvSpPr/>
          <p:nvPr/>
        </p:nvSpPr>
        <p:spPr>
          <a:xfrm>
            <a:off x="640080" y="4206240"/>
            <a:ext cx="420624" cy="420624"/>
          </a:xfrm>
          <a:prstGeom prst="ellipse">
            <a:avLst/>
          </a:prstGeom>
          <a:solidFill>
            <a:srgbClr val="FFFFFF"/>
          </a:solidFill>
          <a:ln/>
        </p:spPr>
      </p:sp>
      <p:pic>
        <p:nvPicPr>
          <p:cNvPr id="27" name="icono-165" descr="preencoded.png">    </p:cNvPr>
          <p:cNvPicPr>
            <a:picLocks noChangeAspect="1"/>
          </p:cNvPicPr>
          <p:nvPr/>
        </p:nvPicPr>
        <p:blipFill>
          <a:blip r:embed="rId4"/>
          <a:stretch>
            <a:fillRect/>
          </a:stretch>
        </p:blipFill>
        <p:spPr>
          <a:xfrm>
            <a:off x="732617" y="4298777"/>
            <a:ext cx="235549" cy="235549"/>
          </a:xfrm>
          <a:prstGeom prst="rect">
            <a:avLst/>
          </a:prstGeom>
        </p:spPr>
      </p:pic>
      <p:sp>
        <p:nvSpPr>
          <p:cNvPr id="28" name="modulo-nombre-166"/>
          <p:cNvSpPr txBox="1"/>
          <p:nvPr/>
        </p:nvSpPr>
        <p:spPr>
          <a:xfrm>
            <a:off x="1188720" y="4279392"/>
            <a:ext cx="2661818" cy="292608"/>
          </a:xfrm>
          <a:prstGeom prst="rect">
            <a:avLst/>
          </a:prstGeom>
          <a:noFill/>
          <a:ln/>
        </p:spPr>
        <p:txBody>
          <a:bodyPr wrap="square" lIns="0" tIns="0" rIns="0" bIns="0" rtlCol="0" anchor="t"/>
          <a:lstStyle/>
          <a:p>
            <a:pPr indent="0" marL="0">
              <a:buNone/>
            </a:pPr>
            <a:r>
              <a:rPr lang="en-US" sz="1350" b="1" dirty="0">
                <a:solidFill>
                  <a:schemeClr val="tx1"/>
                </a:solidFill>
              </a:rPr>
              <a:t>Sede</a:t>
            </a:r>
            <a:endParaRPr lang="en-US" sz="1350" dirty="0"/>
          </a:p>
        </p:txBody>
      </p:sp>
      <p:sp>
        <p:nvSpPr>
          <p:cNvPr id="29" name="modulo-pregunta-167"/>
          <p:cNvSpPr txBox="1"/>
          <p:nvPr/>
        </p:nvSpPr>
        <p:spPr>
          <a:xfrm>
            <a:off x="640080" y="4736592"/>
            <a:ext cx="3210458" cy="457200"/>
          </a:xfrm>
          <a:prstGeom prst="rect">
            <a:avLst/>
          </a:prstGeom>
          <a:noFill/>
          <a:ln/>
        </p:spPr>
        <p:txBody>
          <a:bodyPr wrap="square" lIns="0" tIns="0" rIns="0" bIns="0" rtlCol="0" anchor="t"/>
          <a:lstStyle/>
          <a:p>
            <a:pPr indent="0" marL="0">
              <a:buNone/>
            </a:pPr>
            <a:r>
              <a:rPr lang="en-US" sz="1000" b="1" dirty="0">
                <a:solidFill>
                  <a:schemeClr val="accent1"/>
                </a:solidFill>
              </a:rPr>
              <a:t>¿Qué zona se satura, en qué mes y con qué indicador de servicio?</a:t>
            </a:r>
            <a:endParaRPr lang="en-US" sz="1000" dirty="0"/>
          </a:p>
        </p:txBody>
      </p:sp>
      <p:sp>
        <p:nvSpPr>
          <p:cNvPr id="30" name="modulo-vista-168"/>
          <p:cNvSpPr txBox="1"/>
          <p:nvPr/>
        </p:nvSpPr>
        <p:spPr>
          <a:xfrm>
            <a:off x="640080" y="5212080"/>
            <a:ext cx="3210458" cy="658368"/>
          </a:xfrm>
          <a:prstGeom prst="rect">
            <a:avLst/>
          </a:prstGeom>
          <a:noFill/>
          <a:ln/>
        </p:spPr>
        <p:txBody>
          <a:bodyPr wrap="square" lIns="0" tIns="0" rIns="0" bIns="0" rtlCol="0" anchor="t"/>
          <a:lstStyle/>
          <a:p>
            <a:pPr indent="0" marL="0">
              <a:buNone/>
            </a:pPr>
            <a:r>
              <a:rPr lang="en-US" sz="900" dirty="0">
                <a:solidFill>
                  <a:schemeClr val="tx2"/>
                </a:solidFill>
              </a:rPr>
              <a:t>Modelo 3D de la sede con siete zonas, panel con el indicador de la zona elegida, utilización hora a hora y estado simulado de equipos.</a:t>
            </a:r>
            <a:endParaRPr lang="en-US" sz="900" dirty="0"/>
          </a:p>
        </p:txBody>
      </p:sp>
      <p:sp>
        <p:nvSpPr>
          <p:cNvPr id="31" name="modulo-usuario-169"/>
          <p:cNvSpPr txBox="1"/>
          <p:nvPr/>
        </p:nvSpPr>
        <p:spPr>
          <a:xfrm>
            <a:off x="640080" y="5925312"/>
            <a:ext cx="3210458" cy="219456"/>
          </a:xfrm>
          <a:prstGeom prst="rect">
            <a:avLst/>
          </a:prstGeom>
          <a:noFill/>
          <a:ln/>
        </p:spPr>
        <p:txBody>
          <a:bodyPr wrap="square" lIns="0" tIns="0" rIns="0" bIns="0" rtlCol="0" anchor="t"/>
          <a:lstStyle/>
          <a:p>
            <a:pPr indent="0" marL="0">
              <a:buNone/>
            </a:pPr>
            <a:r>
              <a:rPr lang="en-US" sz="900" b="1" dirty="0">
                <a:solidFill>
                  <a:schemeClr val="tx1"/>
                </a:solidFill>
              </a:rPr>
              <a:t>Usuario: </a:t>
            </a:r>
            <a:pPr indent="0" marL="0">
              <a:buNone/>
            </a:pPr>
            <a:r>
              <a:rPr lang="en-US" sz="900" dirty="0">
                <a:solidFill>
                  <a:schemeClr val="tx1"/>
                </a:solidFill>
              </a:rPr>
              <a:t>Coordinación de sede</a:t>
            </a:r>
            <a:endParaRPr lang="en-US" sz="900" dirty="0"/>
          </a:p>
        </p:txBody>
      </p:sp>
      <p:sp>
        <p:nvSpPr>
          <p:cNvPr id="32" name="modulo-170"/>
          <p:cNvSpPr/>
          <p:nvPr/>
        </p:nvSpPr>
        <p:spPr>
          <a:xfrm>
            <a:off x="4307738" y="4041648"/>
            <a:ext cx="3576218" cy="2212848"/>
          </a:xfrm>
          <a:prstGeom prst="roundRect">
            <a:avLst>
              <a:gd name="adj" fmla="val 2893"/>
            </a:avLst>
          </a:prstGeom>
          <a:solidFill>
            <a:schemeClr val="bg2"/>
          </a:solidFill>
          <a:ln w="9525">
            <a:solidFill>
              <a:srgbClr val="D5DCE5"/>
            </a:solidFill>
            <a:prstDash val="solid"/>
          </a:ln>
        </p:spPr>
      </p:sp>
      <p:sp>
        <p:nvSpPr>
          <p:cNvPr id="33" name="icono-fondo-171"/>
          <p:cNvSpPr/>
          <p:nvPr/>
        </p:nvSpPr>
        <p:spPr>
          <a:xfrm>
            <a:off x="4490618" y="4206240"/>
            <a:ext cx="420624" cy="420624"/>
          </a:xfrm>
          <a:prstGeom prst="ellipse">
            <a:avLst/>
          </a:prstGeom>
          <a:solidFill>
            <a:srgbClr val="FFFFFF"/>
          </a:solidFill>
          <a:ln/>
        </p:spPr>
      </p:sp>
      <p:pic>
        <p:nvPicPr>
          <p:cNvPr id="34" name="icono-172" descr="preencoded.png">    </p:cNvPr>
          <p:cNvPicPr>
            <a:picLocks noChangeAspect="1"/>
          </p:cNvPicPr>
          <p:nvPr/>
        </p:nvPicPr>
        <p:blipFill>
          <a:blip r:embed="rId5"/>
          <a:stretch>
            <a:fillRect/>
          </a:stretch>
        </p:blipFill>
        <p:spPr>
          <a:xfrm>
            <a:off x="4583156" y="4298777"/>
            <a:ext cx="235549" cy="235549"/>
          </a:xfrm>
          <a:prstGeom prst="rect">
            <a:avLst/>
          </a:prstGeom>
        </p:spPr>
      </p:pic>
      <p:sp>
        <p:nvSpPr>
          <p:cNvPr id="35" name="modulo-nombre-173"/>
          <p:cNvSpPr txBox="1"/>
          <p:nvPr/>
        </p:nvSpPr>
        <p:spPr>
          <a:xfrm>
            <a:off x="5039258" y="4279392"/>
            <a:ext cx="2661818" cy="292608"/>
          </a:xfrm>
          <a:prstGeom prst="rect">
            <a:avLst/>
          </a:prstGeom>
          <a:noFill/>
          <a:ln/>
        </p:spPr>
        <p:txBody>
          <a:bodyPr wrap="square" lIns="0" tIns="0" rIns="0" bIns="0" rtlCol="0" anchor="t"/>
          <a:lstStyle/>
          <a:p>
            <a:pPr indent="0" marL="0">
              <a:buNone/>
            </a:pPr>
            <a:r>
              <a:rPr lang="en-US" sz="1350" b="1" dirty="0">
                <a:solidFill>
                  <a:schemeClr val="tx1"/>
                </a:solidFill>
              </a:rPr>
              <a:t>Escenarios</a:t>
            </a:r>
            <a:endParaRPr lang="en-US" sz="1350" dirty="0"/>
          </a:p>
        </p:txBody>
      </p:sp>
      <p:sp>
        <p:nvSpPr>
          <p:cNvPr id="36" name="modulo-pregunta-174"/>
          <p:cNvSpPr txBox="1"/>
          <p:nvPr/>
        </p:nvSpPr>
        <p:spPr>
          <a:xfrm>
            <a:off x="4490618" y="4736592"/>
            <a:ext cx="3210458" cy="457200"/>
          </a:xfrm>
          <a:prstGeom prst="rect">
            <a:avLst/>
          </a:prstGeom>
          <a:noFill/>
          <a:ln/>
        </p:spPr>
        <p:txBody>
          <a:bodyPr wrap="square" lIns="0" tIns="0" rIns="0" bIns="0" rtlCol="0" anchor="t"/>
          <a:lstStyle/>
          <a:p>
            <a:pPr indent="0" marL="0">
              <a:buNone/>
            </a:pPr>
            <a:r>
              <a:rPr lang="en-US" sz="1000" b="1" dirty="0">
                <a:solidFill>
                  <a:schemeClr val="accent1"/>
                </a:solidFill>
              </a:rPr>
              <a:t>¿Qué combinación de cobertura y canales mejora el acceso y a qué costo?</a:t>
            </a:r>
            <a:endParaRPr lang="en-US" sz="1000" dirty="0"/>
          </a:p>
        </p:txBody>
      </p:sp>
      <p:sp>
        <p:nvSpPr>
          <p:cNvPr id="37" name="modulo-vista-175"/>
          <p:cNvSpPr txBox="1"/>
          <p:nvPr/>
        </p:nvSpPr>
        <p:spPr>
          <a:xfrm>
            <a:off x="4490618" y="5212080"/>
            <a:ext cx="3210458" cy="658368"/>
          </a:xfrm>
          <a:prstGeom prst="rect">
            <a:avLst/>
          </a:prstGeom>
          <a:noFill/>
          <a:ln/>
        </p:spPr>
        <p:txBody>
          <a:bodyPr wrap="square" lIns="0" tIns="0" rIns="0" bIns="0" rtlCol="0" anchor="t"/>
          <a:lstStyle/>
          <a:p>
            <a:pPr indent="0" marL="0">
              <a:buNone/>
            </a:pPr>
            <a:r>
              <a:rPr lang="en-US" sz="900" dirty="0">
                <a:solidFill>
                  <a:schemeClr val="tx2"/>
                </a:solidFill>
              </a:rPr>
              <a:t>Editor para crear variantes de cobertura por cohorte y activar canales, y tabla para comparar hasta cinco escenarios en toda la red.</a:t>
            </a:r>
            <a:endParaRPr lang="en-US" sz="900" dirty="0"/>
          </a:p>
        </p:txBody>
      </p:sp>
      <p:sp>
        <p:nvSpPr>
          <p:cNvPr id="38" name="modulo-usuario-176"/>
          <p:cNvSpPr txBox="1"/>
          <p:nvPr/>
        </p:nvSpPr>
        <p:spPr>
          <a:xfrm>
            <a:off x="4490618" y="5925312"/>
            <a:ext cx="3210458" cy="219456"/>
          </a:xfrm>
          <a:prstGeom prst="rect">
            <a:avLst/>
          </a:prstGeom>
          <a:noFill/>
          <a:ln/>
        </p:spPr>
        <p:txBody>
          <a:bodyPr wrap="square" lIns="0" tIns="0" rIns="0" bIns="0" rtlCol="0" anchor="t"/>
          <a:lstStyle/>
          <a:p>
            <a:pPr indent="0" marL="0">
              <a:buNone/>
            </a:pPr>
            <a:r>
              <a:rPr lang="en-US" sz="900" b="1" dirty="0">
                <a:solidFill>
                  <a:schemeClr val="tx1"/>
                </a:solidFill>
              </a:rPr>
              <a:t>Usuario: </a:t>
            </a:r>
            <a:pPr indent="0" marL="0">
              <a:buNone/>
            </a:pPr>
            <a:r>
              <a:rPr lang="en-US" sz="900" dirty="0">
                <a:solidFill>
                  <a:schemeClr val="tx1"/>
                </a:solidFill>
              </a:rPr>
              <a:t>Dirección de PHM y finanzas</a:t>
            </a:r>
            <a:endParaRPr lang="en-US" sz="900" dirty="0"/>
          </a:p>
        </p:txBody>
      </p:sp>
      <p:sp>
        <p:nvSpPr>
          <p:cNvPr id="39" name="modulo-177"/>
          <p:cNvSpPr/>
          <p:nvPr/>
        </p:nvSpPr>
        <p:spPr>
          <a:xfrm>
            <a:off x="8158277" y="4041648"/>
            <a:ext cx="3576218" cy="2212848"/>
          </a:xfrm>
          <a:prstGeom prst="roundRect">
            <a:avLst>
              <a:gd name="adj" fmla="val 2893"/>
            </a:avLst>
          </a:prstGeom>
          <a:solidFill>
            <a:schemeClr val="bg2"/>
          </a:solidFill>
          <a:ln w="9525">
            <a:solidFill>
              <a:srgbClr val="D5DCE5"/>
            </a:solidFill>
            <a:prstDash val="solid"/>
          </a:ln>
        </p:spPr>
      </p:sp>
      <p:sp>
        <p:nvSpPr>
          <p:cNvPr id="40" name="icono-fondo-178"/>
          <p:cNvSpPr/>
          <p:nvPr/>
        </p:nvSpPr>
        <p:spPr>
          <a:xfrm>
            <a:off x="8341157" y="4206240"/>
            <a:ext cx="420624" cy="420624"/>
          </a:xfrm>
          <a:prstGeom prst="ellipse">
            <a:avLst/>
          </a:prstGeom>
          <a:solidFill>
            <a:srgbClr val="FFFFFF"/>
          </a:solidFill>
          <a:ln/>
        </p:spPr>
      </p:sp>
      <p:pic>
        <p:nvPicPr>
          <p:cNvPr id="41" name="icono-179" descr="preencoded.png">    </p:cNvPr>
          <p:cNvPicPr>
            <a:picLocks noChangeAspect="1"/>
          </p:cNvPicPr>
          <p:nvPr/>
        </p:nvPicPr>
        <p:blipFill>
          <a:blip r:embed="rId6"/>
          <a:stretch>
            <a:fillRect/>
          </a:stretch>
        </p:blipFill>
        <p:spPr>
          <a:xfrm>
            <a:off x="8433694" y="4298777"/>
            <a:ext cx="235549" cy="235549"/>
          </a:xfrm>
          <a:prstGeom prst="rect">
            <a:avLst/>
          </a:prstGeom>
        </p:spPr>
      </p:pic>
      <p:sp>
        <p:nvSpPr>
          <p:cNvPr id="42" name="modulo-nombre-180"/>
          <p:cNvSpPr txBox="1"/>
          <p:nvPr/>
        </p:nvSpPr>
        <p:spPr>
          <a:xfrm>
            <a:off x="8889797" y="4279392"/>
            <a:ext cx="2661818" cy="292608"/>
          </a:xfrm>
          <a:prstGeom prst="rect">
            <a:avLst/>
          </a:prstGeom>
          <a:noFill/>
          <a:ln/>
        </p:spPr>
        <p:txBody>
          <a:bodyPr wrap="square" lIns="0" tIns="0" rIns="0" bIns="0" rtlCol="0" anchor="t"/>
          <a:lstStyle/>
          <a:p>
            <a:pPr indent="0" marL="0">
              <a:buNone/>
            </a:pPr>
            <a:r>
              <a:rPr lang="en-US" sz="1350" b="1" dirty="0">
                <a:solidFill>
                  <a:schemeClr val="tx1"/>
                </a:solidFill>
              </a:rPr>
              <a:t>Configuración</a:t>
            </a:r>
            <a:endParaRPr lang="en-US" sz="1350" dirty="0"/>
          </a:p>
        </p:txBody>
      </p:sp>
      <p:sp>
        <p:nvSpPr>
          <p:cNvPr id="43" name="modulo-pregunta-181"/>
          <p:cNvSpPr txBox="1"/>
          <p:nvPr/>
        </p:nvSpPr>
        <p:spPr>
          <a:xfrm>
            <a:off x="8341157" y="4736592"/>
            <a:ext cx="3210458" cy="457200"/>
          </a:xfrm>
          <a:prstGeom prst="rect">
            <a:avLst/>
          </a:prstGeom>
          <a:noFill/>
          <a:ln/>
        </p:spPr>
        <p:txBody>
          <a:bodyPr wrap="square" lIns="0" tIns="0" rIns="0" bIns="0" rtlCol="0" anchor="t"/>
          <a:lstStyle/>
          <a:p>
            <a:pPr indent="0" marL="0">
              <a:buNone/>
            </a:pPr>
            <a:r>
              <a:rPr lang="en-US" sz="1000" b="1" dirty="0">
                <a:solidFill>
                  <a:schemeClr val="accent1"/>
                </a:solidFill>
              </a:rPr>
              <a:t>¿Con qué parámetros y fuentes trabaja el modelo y qué tan maduro es?</a:t>
            </a:r>
            <a:endParaRPr lang="en-US" sz="1000" dirty="0"/>
          </a:p>
        </p:txBody>
      </p:sp>
      <p:sp>
        <p:nvSpPr>
          <p:cNvPr id="44" name="modulo-vista-182"/>
          <p:cNvSpPr txBox="1"/>
          <p:nvPr/>
        </p:nvSpPr>
        <p:spPr>
          <a:xfrm>
            <a:off x="8341157" y="5212080"/>
            <a:ext cx="3210458" cy="658368"/>
          </a:xfrm>
          <a:prstGeom prst="rect">
            <a:avLst/>
          </a:prstGeom>
          <a:noFill/>
          <a:ln/>
        </p:spPr>
        <p:txBody>
          <a:bodyPr wrap="square" lIns="0" tIns="0" rIns="0" bIns="0" rtlCol="0" anchor="t"/>
          <a:lstStyle/>
          <a:p>
            <a:pPr indent="0" marL="0">
              <a:buNone/>
            </a:pPr>
            <a:r>
              <a:rPr lang="en-US" sz="900" dirty="0">
                <a:solidFill>
                  <a:schemeClr val="tx2"/>
                </a:solidFill>
              </a:rPr>
              <a:t>Catálogo editable de cohortes, sedes y zonas, contrato de datos de cada fuente y los indicadores que miden la salud del modelo.</a:t>
            </a:r>
            <a:endParaRPr lang="en-US" sz="900" dirty="0"/>
          </a:p>
        </p:txBody>
      </p:sp>
      <p:sp>
        <p:nvSpPr>
          <p:cNvPr id="45" name="modulo-usuario-183"/>
          <p:cNvSpPr txBox="1"/>
          <p:nvPr/>
        </p:nvSpPr>
        <p:spPr>
          <a:xfrm>
            <a:off x="8341157" y="5925312"/>
            <a:ext cx="3210458" cy="219456"/>
          </a:xfrm>
          <a:prstGeom prst="rect">
            <a:avLst/>
          </a:prstGeom>
          <a:noFill/>
          <a:ln/>
        </p:spPr>
        <p:txBody>
          <a:bodyPr wrap="square" lIns="0" tIns="0" rIns="0" bIns="0" rtlCol="0" anchor="t"/>
          <a:lstStyle/>
          <a:p>
            <a:pPr indent="0" marL="0">
              <a:buNone/>
            </a:pPr>
            <a:r>
              <a:rPr lang="en-US" sz="900" b="1" dirty="0">
                <a:solidFill>
                  <a:schemeClr val="tx1"/>
                </a:solidFill>
              </a:rPr>
              <a:t>Usuario: </a:t>
            </a:r>
            <a:pPr indent="0" marL="0">
              <a:buNone/>
            </a:pPr>
            <a:r>
              <a:rPr lang="en-US" sz="900" dirty="0">
                <a:solidFill>
                  <a:schemeClr val="tx1"/>
                </a:solidFill>
              </a:rPr>
              <a:t>Analítica y arquitectura</a:t>
            </a:r>
            <a:endParaRPr lang="en-US" sz="90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Vista general identifica qué sedes y meses llegan a saturación y prioriza dónde intervenir</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Vista de entrada del portal, en el escenario regular y con Sede Norte seleccionada en la barra superior.</a:t>
            </a:r>
            <a:endParaRPr lang="en-US" sz="1250" dirty="0"/>
          </a:p>
        </p:txBody>
      </p:sp>
      <p:sp>
        <p:nvSpPr>
          <p:cNvPr id="4" name="marco-184"/>
          <p:cNvSpPr/>
          <p:nvPr/>
        </p:nvSpPr>
        <p:spPr>
          <a:xfrm>
            <a:off x="448056" y="1673352"/>
            <a:ext cx="6053328" cy="3955124"/>
          </a:xfrm>
          <a:prstGeom prst="rect">
            <a:avLst/>
          </a:prstGeom>
          <a:solidFill>
            <a:srgbClr val="FFFFFF"/>
          </a:solidFill>
          <a:ln w="9525">
            <a:solidFill>
              <a:srgbClr val="D5DCE5"/>
            </a:solidFill>
            <a:prstDash val="solid"/>
          </a:ln>
          <a:effectLst>
            <a:outerShdw sx="100000" sy="100000" kx="0" ky="0" algn="bl" rotWithShape="0" blurRad="76200" dist="25400" dir="5400000">
              <a:srgbClr val="000000">
                <a:alpha val="12000"/>
              </a:srgbClr>
            </a:outerShdw>
          </a:effectLst>
        </p:spPr>
      </p:sp>
      <p:pic>
        <p:nvPicPr>
          <p:cNvPr id="5" name="captura-185" descr="/home/claude/sura/phm-gemelos/deck/capturas/r-panorama.png">    </p:cNvPr>
          <p:cNvPicPr>
            <a:picLocks noChangeAspect="1"/>
          </p:cNvPicPr>
          <p:nvPr/>
        </p:nvPicPr>
        <p:blipFill>
          <a:blip r:embed="rId1"/>
          <a:stretch>
            <a:fillRect/>
          </a:stretch>
        </p:blipFill>
        <p:spPr>
          <a:xfrm>
            <a:off x="457200" y="1682496"/>
            <a:ext cx="6035040" cy="3936836"/>
          </a:xfrm>
          <a:prstGeom prst="rect">
            <a:avLst/>
          </a:prstGeom>
        </p:spPr>
      </p:pic>
      <p:sp>
        <p:nvSpPr>
          <p:cNvPr id="6" name="etiqueta-186"/>
          <p:cNvSpPr txBox="1"/>
          <p:nvPr/>
        </p:nvSpPr>
        <p:spPr>
          <a:xfrm>
            <a:off x="6812280" y="1645920"/>
            <a:ext cx="4922215" cy="182880"/>
          </a:xfrm>
          <a:prstGeom prst="rect">
            <a:avLst/>
          </a:prstGeom>
          <a:noFill/>
          <a:ln/>
        </p:spPr>
        <p:txBody>
          <a:bodyPr wrap="square" lIns="0" tIns="0" rIns="0" bIns="0" rtlCol="0" anchor="t"/>
          <a:lstStyle/>
          <a:p>
            <a:pPr indent="0" marL="0">
              <a:buNone/>
            </a:pPr>
            <a:r>
              <a:rPr lang="en-US" sz="800" b="1" spc="50" kern="0" dirty="0">
                <a:solidFill>
                  <a:schemeClr val="accent1"/>
                </a:solidFill>
              </a:rPr>
              <a:t>PROPÓSITO</a:t>
            </a:r>
            <a:endParaRPr lang="en-US" sz="800" dirty="0"/>
          </a:p>
        </p:txBody>
      </p:sp>
      <p:sp>
        <p:nvSpPr>
          <p:cNvPr id="7" name="cuerpo-187"/>
          <p:cNvSpPr txBox="1"/>
          <p:nvPr/>
        </p:nvSpPr>
        <p:spPr>
          <a:xfrm>
            <a:off x="6812280" y="1847088"/>
            <a:ext cx="4922215" cy="470916"/>
          </a:xfrm>
          <a:prstGeom prst="rect">
            <a:avLst/>
          </a:prstGeom>
          <a:noFill/>
          <a:ln/>
        </p:spPr>
        <p:txBody>
          <a:bodyPr wrap="square" lIns="0" tIns="0" rIns="0" bIns="0" rtlCol="0" anchor="t"/>
          <a:lstStyle/>
          <a:p>
            <a:pPr indent="0" marL="0">
              <a:buNone/>
            </a:pPr>
            <a:r>
              <a:rPr lang="en-US" sz="950" dirty="0">
                <a:solidFill>
                  <a:schemeClr val="tx1"/>
                </a:solidFill>
              </a:rPr>
              <a:t>Es la entrada del portal. Resume en una pantalla el estado de las cuatro sedes durante 2027 para el escenario elegido, de modo que la dirección de red sepa dónde mirar primero y en qué orden.</a:t>
            </a:r>
            <a:endParaRPr lang="en-US" sz="950" dirty="0"/>
          </a:p>
        </p:txBody>
      </p:sp>
      <p:sp>
        <p:nvSpPr>
          <p:cNvPr id="8" name="etiqueta-188"/>
          <p:cNvSpPr txBox="1"/>
          <p:nvPr/>
        </p:nvSpPr>
        <p:spPr>
          <a:xfrm>
            <a:off x="6812280" y="2436876"/>
            <a:ext cx="4922215" cy="182880"/>
          </a:xfrm>
          <a:prstGeom prst="rect">
            <a:avLst/>
          </a:prstGeom>
          <a:noFill/>
          <a:ln/>
        </p:spPr>
        <p:txBody>
          <a:bodyPr wrap="square" lIns="0" tIns="0" rIns="0" bIns="0" rtlCol="0" anchor="t"/>
          <a:lstStyle/>
          <a:p>
            <a:pPr indent="0" marL="0">
              <a:buNone/>
            </a:pPr>
            <a:r>
              <a:rPr lang="en-US" sz="800" b="1" spc="50" kern="0" dirty="0">
                <a:solidFill>
                  <a:schemeClr val="accent1"/>
                </a:solidFill>
              </a:rPr>
              <a:t>QUÉ MUESTRA LA CAPTURA</a:t>
            </a:r>
            <a:endParaRPr lang="en-US" sz="800" dirty="0"/>
          </a:p>
        </p:txBody>
      </p:sp>
      <p:sp>
        <p:nvSpPr>
          <p:cNvPr id="9" name="cuerpo-189"/>
          <p:cNvSpPr txBox="1"/>
          <p:nvPr/>
        </p:nvSpPr>
        <p:spPr>
          <a:xfrm>
            <a:off x="6812280" y="2638044"/>
            <a:ext cx="4922215" cy="615696"/>
          </a:xfrm>
          <a:prstGeom prst="rect">
            <a:avLst/>
          </a:prstGeom>
          <a:noFill/>
          <a:ln/>
        </p:spPr>
        <p:txBody>
          <a:bodyPr wrap="square" lIns="0" tIns="0" rIns="0" bIns="0" rtlCol="0" anchor="t"/>
          <a:lstStyle/>
          <a:p>
            <a:pPr indent="0" marL="0">
              <a:buNone/>
            </a:pPr>
            <a:r>
              <a:rPr lang="en-US" sz="950" dirty="0">
                <a:solidFill>
                  <a:schemeClr val="tx1"/>
                </a:solidFill>
              </a:rPr>
              <a:t>Sede Norte y Sede Sur aparecen saturadas en su mes crítico, septiembre. En Norte se saturan consulta externa y admisión; Centro y Occidente quedan tensionadas, con mayo como mes crítico. El mapa de calor muestra que Norte acumula siete meses con alguna zona saturada y Sur uno.</a:t>
            </a:r>
            <a:endParaRPr lang="en-US" sz="950" dirty="0"/>
          </a:p>
        </p:txBody>
      </p:sp>
      <p:sp>
        <p:nvSpPr>
          <p:cNvPr id="10" name="etiqueta-190"/>
          <p:cNvSpPr txBox="1"/>
          <p:nvPr/>
        </p:nvSpPr>
        <p:spPr>
          <a:xfrm>
            <a:off x="6812280" y="3372612"/>
            <a:ext cx="4922215" cy="182880"/>
          </a:xfrm>
          <a:prstGeom prst="rect">
            <a:avLst/>
          </a:prstGeom>
          <a:noFill/>
          <a:ln/>
        </p:spPr>
        <p:txBody>
          <a:bodyPr wrap="square" lIns="0" tIns="0" rIns="0" bIns="0" rtlCol="0" anchor="t"/>
          <a:lstStyle/>
          <a:p>
            <a:pPr indent="0" marL="0">
              <a:buNone/>
            </a:pPr>
            <a:r>
              <a:rPr lang="en-US" sz="800" b="1" spc="50" kern="0" dirty="0">
                <a:solidFill>
                  <a:schemeClr val="accent1"/>
                </a:solidFill>
              </a:rPr>
              <a:t>COMPONENTES</a:t>
            </a:r>
            <a:endParaRPr lang="en-US" sz="800" dirty="0"/>
          </a:p>
        </p:txBody>
      </p:sp>
      <p:sp>
        <p:nvSpPr>
          <p:cNvPr id="11" name="cuerpo-191"/>
          <p:cNvSpPr txBox="1"/>
          <p:nvPr/>
        </p:nvSpPr>
        <p:spPr>
          <a:xfrm>
            <a:off x="6812280" y="3573780"/>
            <a:ext cx="4922215" cy="905256"/>
          </a:xfrm>
          <a:prstGeom prst="rect">
            <a:avLst/>
          </a:prstGeom>
          <a:noFill/>
          <a:ln/>
        </p:spPr>
        <p:txBody>
          <a:bodyPr wrap="square" lIns="0" tIns="0" rIns="0" bIns="0" rtlCol="0" anchor="t"/>
          <a:lstStyle/>
          <a:p>
            <a:pPr indent="0" marL="0">
              <a:buNone/>
            </a:pPr>
            <a:r>
              <a:rPr lang="en-US" sz="950" dirty="0">
                <a:solidFill>
                  <a:schemeClr val="tx1"/>
                </a:solidFill>
              </a:rPr>
              <a:t>Las tarjetas muestran, por sede, el mes crítico, la oportunidad de cita P90, la utilización de consulta externa y el número de zonas saturadas; la franja de colores representa sus siete zonas. El resumen de cohortes presenta personas, multimorbilidad, hospitalizaciones, urgencias y costo, y con otro escenario muestra la diferencia frente al regular. Las alertas priorizan zonas saturadas y eventos de equipos.</a:t>
            </a:r>
            <a:endParaRPr lang="en-US" sz="950" dirty="0"/>
          </a:p>
        </p:txBody>
      </p:sp>
      <p:sp>
        <p:nvSpPr>
          <p:cNvPr id="12" name="etiqueta-192"/>
          <p:cNvSpPr txBox="1"/>
          <p:nvPr/>
        </p:nvSpPr>
        <p:spPr>
          <a:xfrm>
            <a:off x="6812280" y="4597908"/>
            <a:ext cx="4922215" cy="182880"/>
          </a:xfrm>
          <a:prstGeom prst="rect">
            <a:avLst/>
          </a:prstGeom>
          <a:noFill/>
          <a:ln/>
        </p:spPr>
        <p:txBody>
          <a:bodyPr wrap="square" lIns="0" tIns="0" rIns="0" bIns="0" rtlCol="0" anchor="t"/>
          <a:lstStyle/>
          <a:p>
            <a:pPr indent="0" marL="0">
              <a:buNone/>
            </a:pPr>
            <a:r>
              <a:rPr lang="en-US" sz="800" b="1" spc="50" kern="0" dirty="0">
                <a:solidFill>
                  <a:schemeClr val="accent1"/>
                </a:solidFill>
              </a:rPr>
              <a:t>CÓMO SE LEE</a:t>
            </a:r>
            <a:endParaRPr lang="en-US" sz="800" dirty="0"/>
          </a:p>
        </p:txBody>
      </p:sp>
      <p:sp>
        <p:nvSpPr>
          <p:cNvPr id="13" name="cuerpo-193"/>
          <p:cNvSpPr txBox="1"/>
          <p:nvPr/>
        </p:nvSpPr>
        <p:spPr>
          <a:xfrm>
            <a:off x="6812280" y="4799076"/>
            <a:ext cx="4922215" cy="470916"/>
          </a:xfrm>
          <a:prstGeom prst="rect">
            <a:avLst/>
          </a:prstGeom>
          <a:noFill/>
          <a:ln/>
        </p:spPr>
        <p:txBody>
          <a:bodyPr wrap="square" lIns="0" tIns="0" rIns="0" bIns="0" rtlCol="0" anchor="t"/>
          <a:lstStyle/>
          <a:p>
            <a:pPr indent="0" marL="0">
              <a:buNone/>
            </a:pPr>
            <a:r>
              <a:rPr lang="en-US" sz="950" dirty="0">
                <a:solidFill>
                  <a:schemeClr val="tx1"/>
                </a:solidFill>
              </a:rPr>
              <a:t>Cada celda del mapa de calor toma el estado de la zona más exigida de la sede en ese mes, y el número indica cuántas zonas están saturadas. Al seleccionar una celda, el portal abre el módulo Sede en ese mes.</a:t>
            </a:r>
            <a:endParaRPr lang="en-US" sz="950" dirty="0"/>
          </a:p>
        </p:txBody>
      </p:sp>
      <p:sp>
        <p:nvSpPr>
          <p:cNvPr id="14" name="etiqueta-194"/>
          <p:cNvSpPr txBox="1"/>
          <p:nvPr/>
        </p:nvSpPr>
        <p:spPr>
          <a:xfrm>
            <a:off x="6812280" y="5388864"/>
            <a:ext cx="4922215" cy="182880"/>
          </a:xfrm>
          <a:prstGeom prst="rect">
            <a:avLst/>
          </a:prstGeom>
          <a:noFill/>
          <a:ln/>
        </p:spPr>
        <p:txBody>
          <a:bodyPr wrap="square" lIns="0" tIns="0" rIns="0" bIns="0" rtlCol="0" anchor="t"/>
          <a:lstStyle/>
          <a:p>
            <a:pPr indent="0" marL="0">
              <a:buNone/>
            </a:pPr>
            <a:r>
              <a:rPr lang="en-US" sz="800" b="1" spc="50" kern="0" dirty="0">
                <a:solidFill>
                  <a:schemeClr val="accent5"/>
                </a:solidFill>
              </a:rPr>
              <a:t>DECISIÓN QUE HABILITA</a:t>
            </a:r>
            <a:endParaRPr lang="en-US" sz="800" dirty="0"/>
          </a:p>
        </p:txBody>
      </p:sp>
      <p:sp>
        <p:nvSpPr>
          <p:cNvPr id="15" name="cuerpo-195"/>
          <p:cNvSpPr txBox="1"/>
          <p:nvPr/>
        </p:nvSpPr>
        <p:spPr>
          <a:xfrm>
            <a:off x="6812280" y="5590032"/>
            <a:ext cx="4922215" cy="326136"/>
          </a:xfrm>
          <a:prstGeom prst="rect">
            <a:avLst/>
          </a:prstGeom>
          <a:noFill/>
          <a:ln/>
        </p:spPr>
        <p:txBody>
          <a:bodyPr wrap="square" lIns="0" tIns="0" rIns="0" bIns="0" rtlCol="0" anchor="t"/>
          <a:lstStyle/>
          <a:p>
            <a:pPr indent="0" marL="0">
              <a:buNone/>
            </a:pPr>
            <a:r>
              <a:rPr lang="en-US" sz="950" dirty="0">
                <a:solidFill>
                  <a:schemeClr val="tx1"/>
                </a:solidFill>
              </a:rPr>
              <a:t>Qué sedes y meses requieren capacidad adicional, redistribución de agenda o desvío a canales alternos, y en qué orden atenderlos.</a:t>
            </a:r>
            <a:endParaRPr lang="en-US" sz="9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Cohortes proyecta cómo cambian los estratos clínicos con la cobertura y cuántas atenciones genera ese cambio</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Hipertensión arterial en la red completa: 15.050 personas; cobertura vigente de 45 % frente a 70 % en la gestión ampliada.</a:t>
            </a:r>
            <a:endParaRPr lang="en-US" sz="1250" dirty="0"/>
          </a:p>
        </p:txBody>
      </p:sp>
      <p:sp>
        <p:nvSpPr>
          <p:cNvPr id="4" name="marco-196"/>
          <p:cNvSpPr/>
          <p:nvPr/>
        </p:nvSpPr>
        <p:spPr>
          <a:xfrm>
            <a:off x="448056" y="1673352"/>
            <a:ext cx="5047488" cy="1994583"/>
          </a:xfrm>
          <a:prstGeom prst="rect">
            <a:avLst/>
          </a:prstGeom>
          <a:solidFill>
            <a:srgbClr val="FFFFFF"/>
          </a:solidFill>
          <a:ln w="9525">
            <a:solidFill>
              <a:srgbClr val="D5DCE5"/>
            </a:solidFill>
            <a:prstDash val="solid"/>
          </a:ln>
          <a:effectLst>
            <a:outerShdw sx="100000" sy="100000" kx="0" ky="0" algn="bl" rotWithShape="0" blurRad="76200" dist="25400" dir="5400000">
              <a:srgbClr val="000000">
                <a:alpha val="12000"/>
              </a:srgbClr>
            </a:outerShdw>
          </a:effectLst>
        </p:spPr>
      </p:sp>
      <p:pic>
        <p:nvPicPr>
          <p:cNvPr id="5" name="captura-197" descr="/home/claude/sura/phm-gemelos/deck/capturas/cohortes-composicion.png">    </p:cNvPr>
          <p:cNvPicPr>
            <a:picLocks noChangeAspect="1"/>
          </p:cNvPicPr>
          <p:nvPr/>
        </p:nvPicPr>
        <p:blipFill>
          <a:blip r:embed="rId1"/>
          <a:stretch>
            <a:fillRect/>
          </a:stretch>
        </p:blipFill>
        <p:spPr>
          <a:xfrm>
            <a:off x="457200" y="1682496"/>
            <a:ext cx="5029200" cy="1976295"/>
          </a:xfrm>
          <a:prstGeom prst="rect">
            <a:avLst/>
          </a:prstGeom>
        </p:spPr>
      </p:pic>
      <p:sp>
        <p:nvSpPr>
          <p:cNvPr id="6" name="marco-198"/>
          <p:cNvSpPr/>
          <p:nvPr/>
        </p:nvSpPr>
        <p:spPr>
          <a:xfrm>
            <a:off x="448056" y="3759375"/>
            <a:ext cx="5047488" cy="1700962"/>
          </a:xfrm>
          <a:prstGeom prst="rect">
            <a:avLst/>
          </a:prstGeom>
          <a:solidFill>
            <a:srgbClr val="FFFFFF"/>
          </a:solidFill>
          <a:ln w="9525">
            <a:solidFill>
              <a:srgbClr val="D5DCE5"/>
            </a:solidFill>
            <a:prstDash val="solid"/>
          </a:ln>
          <a:effectLst>
            <a:outerShdw sx="100000" sy="100000" kx="0" ky="0" algn="bl" rotWithShape="0" blurRad="76200" dist="25400" dir="5400000">
              <a:srgbClr val="000000">
                <a:alpha val="12000"/>
              </a:srgbClr>
            </a:outerShdw>
          </a:effectLst>
        </p:spPr>
      </p:sp>
      <p:pic>
        <p:nvPicPr>
          <p:cNvPr id="7" name="captura-199" descr="/home/claude/sura/phm-gemelos/deck/capturas/cohortes-proyeccion.png">    </p:cNvPr>
          <p:cNvPicPr>
            <a:picLocks noChangeAspect="1"/>
          </p:cNvPicPr>
          <p:nvPr/>
        </p:nvPicPr>
        <p:blipFill>
          <a:blip r:embed="rId2"/>
          <a:stretch>
            <a:fillRect/>
          </a:stretch>
        </p:blipFill>
        <p:spPr>
          <a:xfrm>
            <a:off x="457200" y="3768519"/>
            <a:ext cx="5029200" cy="1682674"/>
          </a:xfrm>
          <a:prstGeom prst="rect">
            <a:avLst/>
          </a:prstGeom>
        </p:spPr>
      </p:pic>
      <p:sp>
        <p:nvSpPr>
          <p:cNvPr id="8" name="nota-cohortes-200"/>
          <p:cNvSpPr txBox="1"/>
          <p:nvPr/>
        </p:nvSpPr>
        <p:spPr>
          <a:xfrm>
            <a:off x="457200" y="5588353"/>
            <a:ext cx="5029200" cy="675287"/>
          </a:xfrm>
          <a:prstGeom prst="rect">
            <a:avLst/>
          </a:prstGeom>
          <a:noFill/>
          <a:ln/>
        </p:spPr>
        <p:txBody>
          <a:bodyPr wrap="square" lIns="0" tIns="0" rIns="0" bIns="0" rtlCol="0" anchor="t"/>
          <a:lstStyle/>
          <a:p>
            <a:pPr indent="0" marL="0">
              <a:buNone/>
            </a:pPr>
            <a:r>
              <a:rPr lang="en-US" sz="900" b="1" dirty="0">
                <a:solidFill>
                  <a:schemeClr val="tx2"/>
                </a:solidFill>
              </a:rPr>
              <a:t>Por qué los efectos son moderados en un año. </a:t>
            </a:r>
            <a:pPr indent="0" marL="0">
              <a:buNone/>
            </a:pPr>
            <a:r>
              <a:rPr lang="en-US" sz="900" dirty="0">
                <a:solidFill>
                  <a:schemeClr val="tx2"/>
                </a:solidFill>
              </a:rPr>
              <a:t>El control mejora de forma gradual y el programa solo actúa sobre la fracción de hospitalizaciones sensibles al cuidado ambulatorio; el resto depende de factores que la gestión del riesgo no modifica en 12 meses.</a:t>
            </a:r>
            <a:endParaRPr lang="en-US" sz="900" dirty="0"/>
          </a:p>
        </p:txBody>
      </p:sp>
      <p:sp>
        <p:nvSpPr>
          <p:cNvPr id="9" name="etiqueta-201"/>
          <p:cNvSpPr txBox="1"/>
          <p:nvPr/>
        </p:nvSpPr>
        <p:spPr>
          <a:xfrm>
            <a:off x="5806440" y="1645920"/>
            <a:ext cx="5928055" cy="182880"/>
          </a:xfrm>
          <a:prstGeom prst="rect">
            <a:avLst/>
          </a:prstGeom>
          <a:noFill/>
          <a:ln/>
        </p:spPr>
        <p:txBody>
          <a:bodyPr wrap="square" lIns="0" tIns="0" rIns="0" bIns="0" rtlCol="0" anchor="t"/>
          <a:lstStyle/>
          <a:p>
            <a:pPr indent="0" marL="0">
              <a:buNone/>
            </a:pPr>
            <a:r>
              <a:rPr lang="en-US" sz="800" b="1" spc="50" kern="0" dirty="0">
                <a:solidFill>
                  <a:schemeClr val="accent4"/>
                </a:solidFill>
              </a:rPr>
              <a:t>PROPÓSITO</a:t>
            </a:r>
            <a:endParaRPr lang="en-US" sz="800" dirty="0"/>
          </a:p>
        </p:txBody>
      </p:sp>
      <p:sp>
        <p:nvSpPr>
          <p:cNvPr id="10" name="cuerpo-202"/>
          <p:cNvSpPr txBox="1"/>
          <p:nvPr/>
        </p:nvSpPr>
        <p:spPr>
          <a:xfrm>
            <a:off x="5806440" y="1847088"/>
            <a:ext cx="5928055" cy="470916"/>
          </a:xfrm>
          <a:prstGeom prst="rect">
            <a:avLst/>
          </a:prstGeom>
          <a:noFill/>
          <a:ln/>
        </p:spPr>
        <p:txBody>
          <a:bodyPr wrap="square" lIns="0" tIns="0" rIns="0" bIns="0" rtlCol="0" anchor="t"/>
          <a:lstStyle/>
          <a:p>
            <a:pPr indent="0" marL="0">
              <a:buNone/>
            </a:pPr>
            <a:r>
              <a:rPr lang="en-US" sz="950" dirty="0">
                <a:solidFill>
                  <a:schemeClr val="tx1"/>
                </a:solidFill>
              </a:rPr>
              <a:t>Conecta la gestión del riesgo con la demanda de servicios: cuántas personas de cada cohorte cambian de estrato clínico durante 2027 y cuántas atenciones genera ese cambio, comparando el escenario regular con el elegido.</a:t>
            </a:r>
            <a:endParaRPr lang="en-US" sz="950" dirty="0"/>
          </a:p>
        </p:txBody>
      </p:sp>
      <p:sp>
        <p:nvSpPr>
          <p:cNvPr id="11" name="etiqueta-203"/>
          <p:cNvSpPr txBox="1"/>
          <p:nvPr/>
        </p:nvSpPr>
        <p:spPr>
          <a:xfrm>
            <a:off x="5806440" y="2436876"/>
            <a:ext cx="5928055" cy="182880"/>
          </a:xfrm>
          <a:prstGeom prst="rect">
            <a:avLst/>
          </a:prstGeom>
          <a:noFill/>
          <a:ln/>
        </p:spPr>
        <p:txBody>
          <a:bodyPr wrap="square" lIns="0" tIns="0" rIns="0" bIns="0" rtlCol="0" anchor="t"/>
          <a:lstStyle/>
          <a:p>
            <a:pPr indent="0" marL="0">
              <a:buNone/>
            </a:pPr>
            <a:r>
              <a:rPr lang="en-US" sz="800" b="1" spc="50" kern="0" dirty="0">
                <a:solidFill>
                  <a:schemeClr val="accent4"/>
                </a:solidFill>
              </a:rPr>
              <a:t>QUÉ MUESTRA LA CAPTURA</a:t>
            </a:r>
            <a:endParaRPr lang="en-US" sz="800" dirty="0"/>
          </a:p>
        </p:txBody>
      </p:sp>
      <p:sp>
        <p:nvSpPr>
          <p:cNvPr id="12" name="cuerpo-204"/>
          <p:cNvSpPr txBox="1"/>
          <p:nvPr/>
        </p:nvSpPr>
        <p:spPr>
          <a:xfrm>
            <a:off x="5806440" y="2638044"/>
            <a:ext cx="5928055" cy="470916"/>
          </a:xfrm>
          <a:prstGeom prst="rect">
            <a:avLst/>
          </a:prstGeom>
          <a:noFill/>
          <a:ln/>
        </p:spPr>
        <p:txBody>
          <a:bodyPr wrap="square" lIns="0" tIns="0" rIns="0" bIns="0" rtlCol="0" anchor="t"/>
          <a:lstStyle/>
          <a:p>
            <a:pPr indent="0" marL="0">
              <a:buNone/>
            </a:pPr>
            <a:r>
              <a:rPr lang="en-US" sz="950" dirty="0">
                <a:solidFill>
                  <a:schemeClr val="tx1"/>
                </a:solidFill>
              </a:rPr>
              <a:t>Con la cobertura ampliada, la proporción controlada de hipertensión en diciembre pasa de 53 % en el escenario regular a 54 %. Los controles programados aumentan desde el primer mes, mientras las hospitalizaciones evitadas son pocas en el año.</a:t>
            </a:r>
            <a:endParaRPr lang="en-US" sz="950" dirty="0"/>
          </a:p>
        </p:txBody>
      </p:sp>
      <p:sp>
        <p:nvSpPr>
          <p:cNvPr id="13" name="etiqueta-205"/>
          <p:cNvSpPr txBox="1"/>
          <p:nvPr/>
        </p:nvSpPr>
        <p:spPr>
          <a:xfrm>
            <a:off x="5806440" y="3227832"/>
            <a:ext cx="5928055" cy="182880"/>
          </a:xfrm>
          <a:prstGeom prst="rect">
            <a:avLst/>
          </a:prstGeom>
          <a:noFill/>
          <a:ln/>
        </p:spPr>
        <p:txBody>
          <a:bodyPr wrap="square" lIns="0" tIns="0" rIns="0" bIns="0" rtlCol="0" anchor="t"/>
          <a:lstStyle/>
          <a:p>
            <a:pPr indent="0" marL="0">
              <a:buNone/>
            </a:pPr>
            <a:r>
              <a:rPr lang="en-US" sz="800" b="1" spc="50" kern="0" dirty="0">
                <a:solidFill>
                  <a:schemeClr val="accent4"/>
                </a:solidFill>
              </a:rPr>
              <a:t>LAS CUATRO REPRESENTACIONES</a:t>
            </a:r>
            <a:endParaRPr lang="en-US" sz="800" dirty="0"/>
          </a:p>
        </p:txBody>
      </p:sp>
      <p:sp>
        <p:nvSpPr>
          <p:cNvPr id="14" name="cuerpo-206"/>
          <p:cNvSpPr txBox="1"/>
          <p:nvPr/>
        </p:nvSpPr>
        <p:spPr>
          <a:xfrm>
            <a:off x="5806440" y="3429000"/>
            <a:ext cx="5928055" cy="760476"/>
          </a:xfrm>
          <a:prstGeom prst="rect">
            <a:avLst/>
          </a:prstGeom>
          <a:noFill/>
          <a:ln/>
        </p:spPr>
        <p:txBody>
          <a:bodyPr wrap="square" lIns="0" tIns="0" rIns="0" bIns="0" rtlCol="0" anchor="t"/>
          <a:lstStyle/>
          <a:p>
            <a:pPr indent="0" marL="0">
              <a:buNone/>
            </a:pPr>
            <a:r>
              <a:rPr lang="en-US" sz="950" dirty="0">
                <a:solidFill>
                  <a:schemeClr val="tx1"/>
                </a:solidFill>
              </a:rPr>
              <a:t>La matriz de puntos muestra la composición por estrato; cada punto es un grupo de personas. El diagrama de flujo muestra de qué estrato parte cada grupo en enero y dónde termina en diciembre, incluida la salida de la cohorte. La proyección mensual compara atenciones con el escenario regular dentro de su banda de incertidumbre. El diagrama de intersecciones cuenta las personas con combinaciones de condiciones, como hipertensión con diabetes.</a:t>
            </a:r>
            <a:endParaRPr lang="en-US" sz="950" dirty="0"/>
          </a:p>
        </p:txBody>
      </p:sp>
      <p:sp>
        <p:nvSpPr>
          <p:cNvPr id="15" name="etiqueta-207"/>
          <p:cNvSpPr txBox="1"/>
          <p:nvPr/>
        </p:nvSpPr>
        <p:spPr>
          <a:xfrm>
            <a:off x="5806440" y="4308348"/>
            <a:ext cx="5928055" cy="182880"/>
          </a:xfrm>
          <a:prstGeom prst="rect">
            <a:avLst/>
          </a:prstGeom>
          <a:noFill/>
          <a:ln/>
        </p:spPr>
        <p:txBody>
          <a:bodyPr wrap="square" lIns="0" tIns="0" rIns="0" bIns="0" rtlCol="0" anchor="t"/>
          <a:lstStyle/>
          <a:p>
            <a:pPr indent="0" marL="0">
              <a:buNone/>
            </a:pPr>
            <a:r>
              <a:rPr lang="en-US" sz="800" b="1" spc="50" kern="0" dirty="0">
                <a:solidFill>
                  <a:schemeClr val="accent2"/>
                </a:solidFill>
              </a:rPr>
              <a:t>RESULTADO 2027 CON GESTIÓN AMPLIADA, POR COHORTE</a:t>
            </a:r>
            <a:endParaRPr lang="en-US" sz="800" dirty="0"/>
          </a:p>
        </p:txBody>
      </p:sp>
      <p:graphicFrame>
        <p:nvGraphicFramePr>
          <p:cNvPr id="8" name="tabla-cohortes"/>
          <p:cNvGraphicFramePr>
            <a:graphicFrameLocks noGrp="1"/>
          </p:cNvGraphicFramePr>
          <p:nvPr>
            <p:extLst>
              <p:ext uri="{D42A27DB-BD31-4B8C-83A1-F6EECF244321}">
                <p14:modId xmlns:p14="http://schemas.microsoft.com/office/powerpoint/2010/main" val="1579011935"/>
              </p:ext>
            </p:extLst>
          </p:nvPr>
        </p:nvGraphicFramePr>
        <p:xfrm>
          <a:off x="5806440" y="4527804"/>
          <a:ext cx="5928055" cy="914400"/>
        </p:xfrm>
        <a:graphic>
          <a:graphicData uri="http://schemas.openxmlformats.org/drawingml/2006/table">
            <a:tbl>
              <a:tblPr/>
              <a:tblGrid>
                <a:gridCol w="960120"/>
                <a:gridCol w="777240"/>
                <a:gridCol w="1920240"/>
                <a:gridCol w="2270455"/>
              </a:tblGrid>
              <a:tr h="347472">
                <a:tc>
                  <a:txBody>
                    <a:bodyPr/>
                    <a:lstStyle/>
                    <a:p>
                      <a:pPr indent="0" marL="0">
                        <a:buNone/>
                      </a:pPr>
                      <a:r>
                        <a:rPr lang="en-US" sz="850" b="1" dirty="0">
                          <a:solidFill>
                            <a:schemeClr val="tx2"/>
                          </a:solidFill>
                          <a:latin typeface="Arial" pitchFamily="34" charset="0"/>
                          <a:ea typeface="Arial" pitchFamily="34" charset="-122"/>
                          <a:cs typeface="Arial" pitchFamily="34" charset="-120"/>
                        </a:rPr>
                        <a:t>Cohorte</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tx2"/>
                          </a:solidFill>
                          <a:latin typeface="Arial" pitchFamily="34" charset="0"/>
                          <a:ea typeface="Arial" pitchFamily="34" charset="-122"/>
                          <a:cs typeface="Arial" pitchFamily="34" charset="-120"/>
                        </a:rPr>
                        <a:t>Personas</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tx2"/>
                          </a:solidFill>
                          <a:latin typeface="Arial" pitchFamily="34" charset="0"/>
                          <a:ea typeface="Arial" pitchFamily="34" charset="-122"/>
                          <a:cs typeface="Arial" pitchFamily="34" charset="-120"/>
                        </a:rPr>
                        <a:t>Controlada en dic. (regular → ampliada)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tx2"/>
                          </a:solidFill>
                          <a:latin typeface="Arial" pitchFamily="34" charset="0"/>
                          <a:ea typeface="Arial" pitchFamily="34" charset="-122"/>
                          <a:cs typeface="Arial" pitchFamily="34" charset="-120"/>
                        </a:rPr>
                        <a:t>Hosp. CSCA evitadas, P50 (P10–P90)</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01168">
                <a:tc>
                  <a:txBody>
                    <a:bodyPr/>
                    <a:lstStyle/>
                    <a:p>
                      <a:pPr indent="0" marL="0">
                        <a:buNone/>
                      </a:pPr>
                      <a:r>
                        <a:rPr lang="en-US" sz="850" dirty="0">
                          <a:solidFill>
                            <a:schemeClr val="tx1"/>
                          </a:solidFill>
                          <a:latin typeface="Arial" pitchFamily="34" charset="0"/>
                          <a:ea typeface="Arial" pitchFamily="34" charset="-122"/>
                          <a:cs typeface="Arial" pitchFamily="34" charset="-120"/>
                        </a:rPr>
                        <a:t>HTA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15.050</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53 % → 54 %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2,3 (1,8–3,1)</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01168">
                <a:tc>
                  <a:txBody>
                    <a:bodyPr/>
                    <a:lstStyle/>
                    <a:p>
                      <a:pPr indent="0" marL="0">
                        <a:buNone/>
                      </a:pPr>
                      <a:r>
                        <a:rPr lang="en-US" sz="850" dirty="0">
                          <a:solidFill>
                            <a:schemeClr val="tx1"/>
                          </a:solidFill>
                          <a:latin typeface="Arial" pitchFamily="34" charset="0"/>
                          <a:ea typeface="Arial" pitchFamily="34" charset="-122"/>
                          <a:cs typeface="Arial" pitchFamily="34" charset="-120"/>
                        </a:rPr>
                        <a:t>DM2</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5.375</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42 % → 44 %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1,9 (1,5–2,6)</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01168">
                <a:tc>
                  <a:txBody>
                    <a:bodyPr/>
                    <a:lstStyle/>
                    <a:p>
                      <a:pPr indent="0" marL="0">
                        <a:buNone/>
                      </a:pPr>
                      <a:r>
                        <a:rPr lang="en-US" sz="850" dirty="0">
                          <a:solidFill>
                            <a:schemeClr val="tx1"/>
                          </a:solidFill>
                          <a:latin typeface="Arial" pitchFamily="34" charset="0"/>
                          <a:ea typeface="Arial" pitchFamily="34" charset="-122"/>
                          <a:cs typeface="Arial" pitchFamily="34" charset="-120"/>
                        </a:rPr>
                        <a:t>ERC G3a–G4</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1.613</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37 % → 38 %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0,5 (0,4–0,7)</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01168">
                <a:tc>
                  <a:txBody>
                    <a:bodyPr/>
                    <a:lstStyle/>
                    <a:p>
                      <a:pPr indent="0" marL="0">
                        <a:buNone/>
                      </a:pPr>
                      <a:r>
                        <a:rPr lang="en-US" sz="850" dirty="0">
                          <a:solidFill>
                            <a:schemeClr val="tx1"/>
                          </a:solidFill>
                          <a:latin typeface="Arial" pitchFamily="34" charset="0"/>
                          <a:ea typeface="Arial" pitchFamily="34" charset="-122"/>
                          <a:cs typeface="Arial" pitchFamily="34" charset="-120"/>
                        </a:rPr>
                        <a:t>EPOC</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1.613</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27 % → 28 %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2,8 (2,2–3,7)</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01168">
                <a:tc>
                  <a:txBody>
                    <a:bodyPr/>
                    <a:lstStyle/>
                    <a:p>
                      <a:pPr indent="0" marL="0">
                        <a:buNone/>
                      </a:pPr>
                      <a:r>
                        <a:rPr lang="en-US" sz="850" dirty="0">
                          <a:solidFill>
                            <a:schemeClr val="tx1"/>
                          </a:solidFill>
                          <a:latin typeface="Arial" pitchFamily="34" charset="0"/>
                          <a:ea typeface="Arial" pitchFamily="34" charset="-122"/>
                          <a:cs typeface="Arial" pitchFamily="34" charset="-120"/>
                        </a:rPr>
                        <a:t>IC</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1.290</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38 % → 39 %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2,9 (2,0–3,8)</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Territorio ubica la carga crónica y las barreras de acceso para decidir dónde llevar atención domiciliaria</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Prevalencia de hipertensión arterial por celda, con los límites entre los territorios de las cuatro sedes.</a:t>
            </a:r>
            <a:endParaRPr lang="en-US" sz="1250" dirty="0"/>
          </a:p>
        </p:txBody>
      </p:sp>
      <p:sp>
        <p:nvSpPr>
          <p:cNvPr id="4" name="marco-208"/>
          <p:cNvSpPr/>
          <p:nvPr/>
        </p:nvSpPr>
        <p:spPr>
          <a:xfrm>
            <a:off x="448056" y="1673352"/>
            <a:ext cx="5779008" cy="3217730"/>
          </a:xfrm>
          <a:prstGeom prst="rect">
            <a:avLst/>
          </a:prstGeom>
          <a:solidFill>
            <a:srgbClr val="FFFFFF"/>
          </a:solidFill>
          <a:ln w="9525">
            <a:solidFill>
              <a:srgbClr val="D5DCE5"/>
            </a:solidFill>
            <a:prstDash val="solid"/>
          </a:ln>
          <a:effectLst>
            <a:outerShdw sx="100000" sy="100000" kx="0" ky="0" algn="bl" rotWithShape="0" blurRad="76200" dist="25400" dir="5400000">
              <a:srgbClr val="000000">
                <a:alpha val="12000"/>
              </a:srgbClr>
            </a:outerShdw>
          </a:effectLst>
        </p:spPr>
      </p:sp>
      <p:pic>
        <p:nvPicPr>
          <p:cNvPr id="5" name="captura-209" descr="/home/claude/sura/phm-gemelos/deck/capturas/territorio-mapa.png">    </p:cNvPr>
          <p:cNvPicPr>
            <a:picLocks noChangeAspect="1"/>
          </p:cNvPicPr>
          <p:nvPr/>
        </p:nvPicPr>
        <p:blipFill>
          <a:blip r:embed="rId1"/>
          <a:stretch>
            <a:fillRect/>
          </a:stretch>
        </p:blipFill>
        <p:spPr>
          <a:xfrm>
            <a:off x="457200" y="1682496"/>
            <a:ext cx="5760720" cy="3199442"/>
          </a:xfrm>
          <a:prstGeom prst="rect">
            <a:avLst/>
          </a:prstGeom>
        </p:spPr>
      </p:pic>
      <p:sp>
        <p:nvSpPr>
          <p:cNvPr id="6" name="etiqueta-210"/>
          <p:cNvSpPr txBox="1"/>
          <p:nvPr/>
        </p:nvSpPr>
        <p:spPr>
          <a:xfrm>
            <a:off x="6537960" y="1645920"/>
            <a:ext cx="5196535" cy="182880"/>
          </a:xfrm>
          <a:prstGeom prst="rect">
            <a:avLst/>
          </a:prstGeom>
          <a:noFill/>
          <a:ln/>
        </p:spPr>
        <p:txBody>
          <a:bodyPr wrap="square" lIns="0" tIns="0" rIns="0" bIns="0" rtlCol="0" anchor="t"/>
          <a:lstStyle/>
          <a:p>
            <a:pPr indent="0" marL="0">
              <a:buNone/>
            </a:pPr>
            <a:r>
              <a:rPr lang="en-US" sz="800" b="1" spc="50" kern="0" dirty="0">
                <a:solidFill>
                  <a:schemeClr val="accent2"/>
                </a:solidFill>
              </a:rPr>
              <a:t>PROPÓSITO</a:t>
            </a:r>
            <a:endParaRPr lang="en-US" sz="800" dirty="0"/>
          </a:p>
        </p:txBody>
      </p:sp>
      <p:sp>
        <p:nvSpPr>
          <p:cNvPr id="7" name="cuerpo-211"/>
          <p:cNvSpPr txBox="1"/>
          <p:nvPr/>
        </p:nvSpPr>
        <p:spPr>
          <a:xfrm>
            <a:off x="6537960" y="1847088"/>
            <a:ext cx="5196535" cy="470916"/>
          </a:xfrm>
          <a:prstGeom prst="rect">
            <a:avLst/>
          </a:prstGeom>
          <a:noFill/>
          <a:ln/>
        </p:spPr>
        <p:txBody>
          <a:bodyPr wrap="square" lIns="0" tIns="0" rIns="0" bIns="0" rtlCol="0" anchor="t"/>
          <a:lstStyle/>
          <a:p>
            <a:pPr indent="0" marL="0">
              <a:buNone/>
            </a:pPr>
            <a:r>
              <a:rPr lang="en-US" sz="950" dirty="0">
                <a:solidFill>
                  <a:schemeClr val="tx1"/>
                </a:solidFill>
              </a:rPr>
              <a:t>Lleva la demanda de las cohortes a una unidad territorial estable y comparable entre sedes, para decidir dónde llevar atención domiciliaria y dónde la distancia a la sede es una barrera de acceso.</a:t>
            </a:r>
            <a:endParaRPr lang="en-US" sz="950" dirty="0"/>
          </a:p>
        </p:txBody>
      </p:sp>
      <p:sp>
        <p:nvSpPr>
          <p:cNvPr id="8" name="etiqueta-212"/>
          <p:cNvSpPr txBox="1"/>
          <p:nvPr/>
        </p:nvSpPr>
        <p:spPr>
          <a:xfrm>
            <a:off x="6537960" y="2436876"/>
            <a:ext cx="5196535" cy="182880"/>
          </a:xfrm>
          <a:prstGeom prst="rect">
            <a:avLst/>
          </a:prstGeom>
          <a:noFill/>
          <a:ln/>
        </p:spPr>
        <p:txBody>
          <a:bodyPr wrap="square" lIns="0" tIns="0" rIns="0" bIns="0" rtlCol="0" anchor="t"/>
          <a:lstStyle/>
          <a:p>
            <a:pPr indent="0" marL="0">
              <a:buNone/>
            </a:pPr>
            <a:r>
              <a:rPr lang="en-US" sz="800" b="1" spc="50" kern="0" dirty="0">
                <a:solidFill>
                  <a:schemeClr val="accent2"/>
                </a:solidFill>
              </a:rPr>
              <a:t>QUÉ MUESTRA LA CAPTURA</a:t>
            </a:r>
            <a:endParaRPr lang="en-US" sz="800" dirty="0"/>
          </a:p>
        </p:txBody>
      </p:sp>
      <p:sp>
        <p:nvSpPr>
          <p:cNvPr id="9" name="cuerpo-213"/>
          <p:cNvSpPr txBox="1"/>
          <p:nvPr/>
        </p:nvSpPr>
        <p:spPr>
          <a:xfrm>
            <a:off x="6537960" y="2638044"/>
            <a:ext cx="5196535" cy="615696"/>
          </a:xfrm>
          <a:prstGeom prst="rect">
            <a:avLst/>
          </a:prstGeom>
          <a:noFill/>
          <a:ln/>
        </p:spPr>
        <p:txBody>
          <a:bodyPr wrap="square" lIns="0" tIns="0" rIns="0" bIns="0" rtlCol="0" anchor="t"/>
          <a:lstStyle/>
          <a:p>
            <a:pPr indent="0" marL="0">
              <a:buNone/>
            </a:pPr>
            <a:r>
              <a:rPr lang="en-US" sz="950" dirty="0">
                <a:solidFill>
                  <a:schemeClr val="tx1"/>
                </a:solidFill>
              </a:rPr>
              <a:t>Los tonos más oscuros, al norte y al oriente, concentran mayor proporción de adultos con hipertensión. Las líneas gruesas separan los territorios de cada sede. La tabla indica que Sede Sur tiene 15 % de su población en la cohorte a más de 30 minutos de la sede, mientras en Occidente ninguna celda supera ese tiempo.</a:t>
            </a:r>
            <a:endParaRPr lang="en-US" sz="950" dirty="0"/>
          </a:p>
        </p:txBody>
      </p:sp>
      <p:sp>
        <p:nvSpPr>
          <p:cNvPr id="10" name="etiqueta-214"/>
          <p:cNvSpPr txBox="1"/>
          <p:nvPr/>
        </p:nvSpPr>
        <p:spPr>
          <a:xfrm>
            <a:off x="6537960" y="3372612"/>
            <a:ext cx="5196535" cy="182880"/>
          </a:xfrm>
          <a:prstGeom prst="rect">
            <a:avLst/>
          </a:prstGeom>
          <a:noFill/>
          <a:ln/>
        </p:spPr>
        <p:txBody>
          <a:bodyPr wrap="square" lIns="0" tIns="0" rIns="0" bIns="0" rtlCol="0" anchor="t"/>
          <a:lstStyle/>
          <a:p>
            <a:pPr indent="0" marL="0">
              <a:buNone/>
            </a:pPr>
            <a:r>
              <a:rPr lang="en-US" sz="800" b="1" spc="50" kern="0" dirty="0">
                <a:solidFill>
                  <a:schemeClr val="accent2"/>
                </a:solidFill>
              </a:rPr>
              <a:t>CÓMO SE CONSTRUYE</a:t>
            </a:r>
            <a:endParaRPr lang="en-US" sz="800" dirty="0"/>
          </a:p>
        </p:txBody>
      </p:sp>
      <p:sp>
        <p:nvSpPr>
          <p:cNvPr id="11" name="cuerpo-215"/>
          <p:cNvSpPr txBox="1"/>
          <p:nvPr/>
        </p:nvSpPr>
        <p:spPr>
          <a:xfrm>
            <a:off x="6537960" y="3573780"/>
            <a:ext cx="5196535" cy="615696"/>
          </a:xfrm>
          <a:prstGeom prst="rect">
            <a:avLst/>
          </a:prstGeom>
          <a:noFill/>
          <a:ln/>
        </p:spPr>
        <p:txBody>
          <a:bodyPr wrap="square" lIns="0" tIns="0" rIns="0" bIns="0" rtlCol="0" anchor="t"/>
          <a:lstStyle/>
          <a:p>
            <a:pPr indent="0" marL="0">
              <a:buNone/>
            </a:pPr>
            <a:r>
              <a:rPr lang="en-US" sz="950" dirty="0">
                <a:solidFill>
                  <a:schemeClr val="tx1"/>
                </a:solidFill>
              </a:rPr>
              <a:t>La red se divide en 111 hexágonos y cada uno se asigna a la sede más cercana. Para cada celda se calculan adultos, personas por cohorte, proporción en alto riesgo, demanda proyectada y tiempo de viaje a la sede. El usuario elige qué métrica colorea el mapa y puede sombrear las celdas a más de 30 minutos.</a:t>
            </a:r>
            <a:endParaRPr lang="en-US" sz="950" dirty="0"/>
          </a:p>
        </p:txBody>
      </p:sp>
      <p:sp>
        <p:nvSpPr>
          <p:cNvPr id="12" name="etiqueta-216"/>
          <p:cNvSpPr txBox="1"/>
          <p:nvPr/>
        </p:nvSpPr>
        <p:spPr>
          <a:xfrm>
            <a:off x="6537960" y="4308348"/>
            <a:ext cx="5196535" cy="182880"/>
          </a:xfrm>
          <a:prstGeom prst="rect">
            <a:avLst/>
          </a:prstGeom>
          <a:noFill/>
          <a:ln/>
        </p:spPr>
        <p:txBody>
          <a:bodyPr wrap="square" lIns="0" tIns="0" rIns="0" bIns="0" rtlCol="0" anchor="t"/>
          <a:lstStyle/>
          <a:p>
            <a:pPr indent="0" marL="0">
              <a:buNone/>
            </a:pPr>
            <a:r>
              <a:rPr lang="en-US" sz="800" b="1" spc="50" kern="0" dirty="0">
                <a:solidFill>
                  <a:schemeClr val="accent2"/>
                </a:solidFill>
              </a:rPr>
              <a:t>POR QUÉ HEXÁGONOS</a:t>
            </a:r>
            <a:endParaRPr lang="en-US" sz="800" dirty="0"/>
          </a:p>
        </p:txBody>
      </p:sp>
      <p:sp>
        <p:nvSpPr>
          <p:cNvPr id="13" name="cuerpo-217"/>
          <p:cNvSpPr txBox="1"/>
          <p:nvPr/>
        </p:nvSpPr>
        <p:spPr>
          <a:xfrm>
            <a:off x="6537960" y="4509516"/>
            <a:ext cx="5196535" cy="326136"/>
          </a:xfrm>
          <a:prstGeom prst="rect">
            <a:avLst/>
          </a:prstGeom>
          <a:noFill/>
          <a:ln/>
        </p:spPr>
        <p:txBody>
          <a:bodyPr wrap="square" lIns="0" tIns="0" rIns="0" bIns="0" rtlCol="0" anchor="t"/>
          <a:lstStyle/>
          <a:p>
            <a:pPr indent="0" marL="0">
              <a:buNone/>
            </a:pPr>
            <a:r>
              <a:rPr lang="en-US" sz="950" dirty="0">
                <a:solidFill>
                  <a:schemeClr val="tx1"/>
                </a:solidFill>
              </a:rPr>
              <a:t>Todas las celdas tienen la misma área y seis vecinas a igual distancia, lo que evita el sesgo visual de los límites administrativos y permite agregar sin exponer personas.</a:t>
            </a:r>
            <a:endParaRPr lang="en-US" sz="950" dirty="0"/>
          </a:p>
        </p:txBody>
      </p:sp>
      <p:sp>
        <p:nvSpPr>
          <p:cNvPr id="14" name="etiqueta-218"/>
          <p:cNvSpPr txBox="1"/>
          <p:nvPr/>
        </p:nvSpPr>
        <p:spPr>
          <a:xfrm>
            <a:off x="6537960" y="4954524"/>
            <a:ext cx="5196535" cy="182880"/>
          </a:xfrm>
          <a:prstGeom prst="rect">
            <a:avLst/>
          </a:prstGeom>
          <a:noFill/>
          <a:ln/>
        </p:spPr>
        <p:txBody>
          <a:bodyPr wrap="square" lIns="0" tIns="0" rIns="0" bIns="0" rtlCol="0" anchor="t"/>
          <a:lstStyle/>
          <a:p>
            <a:pPr indent="0" marL="0">
              <a:buNone/>
            </a:pPr>
            <a:r>
              <a:rPr lang="en-US" sz="800" b="1" spc="50" kern="0" dirty="0">
                <a:solidFill>
                  <a:schemeClr val="accent5"/>
                </a:solidFill>
              </a:rPr>
              <a:t>DECISIÓN QUE HABILITA</a:t>
            </a:r>
            <a:endParaRPr lang="en-US" sz="800" dirty="0"/>
          </a:p>
        </p:txBody>
      </p:sp>
      <p:sp>
        <p:nvSpPr>
          <p:cNvPr id="15" name="cuerpo-219"/>
          <p:cNvSpPr txBox="1"/>
          <p:nvPr/>
        </p:nvSpPr>
        <p:spPr>
          <a:xfrm>
            <a:off x="6537960" y="5155692"/>
            <a:ext cx="5196535" cy="326136"/>
          </a:xfrm>
          <a:prstGeom prst="rect">
            <a:avLst/>
          </a:prstGeom>
          <a:noFill/>
          <a:ln/>
        </p:spPr>
        <p:txBody>
          <a:bodyPr wrap="square" lIns="0" tIns="0" rIns="0" bIns="0" rtlCol="0" anchor="t"/>
          <a:lstStyle/>
          <a:p>
            <a:pPr indent="0" marL="0">
              <a:buNone/>
            </a:pPr>
            <a:r>
              <a:rPr lang="en-US" sz="950" dirty="0">
                <a:solidFill>
                  <a:schemeClr val="tx1"/>
                </a:solidFill>
              </a:rPr>
              <a:t>Qué celdas priorizar para equipos domiciliarios, dónde reforzar la atención virtual por distancia y cómo ajustar los límites de responsabilidad entre sedes.</a:t>
            </a:r>
            <a:endParaRPr lang="en-US" sz="9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Sede muestra en qué zona y en qué mes se satura la capacidad, con el indicador de servicio propio de cada zona</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Sede Norte en septiembre, escenario regular, con consulta externa seleccionada en el modelo 3D.</a:t>
            </a:r>
            <a:endParaRPr lang="en-US" sz="1250" dirty="0"/>
          </a:p>
        </p:txBody>
      </p:sp>
      <p:sp>
        <p:nvSpPr>
          <p:cNvPr id="4" name="marco-220"/>
          <p:cNvSpPr/>
          <p:nvPr/>
        </p:nvSpPr>
        <p:spPr>
          <a:xfrm>
            <a:off x="448056" y="1673352"/>
            <a:ext cx="7242048" cy="2986734"/>
          </a:xfrm>
          <a:prstGeom prst="rect">
            <a:avLst/>
          </a:prstGeom>
          <a:solidFill>
            <a:srgbClr val="FFFFFF"/>
          </a:solidFill>
          <a:ln w="9525">
            <a:solidFill>
              <a:srgbClr val="D5DCE5"/>
            </a:solidFill>
            <a:prstDash val="solid"/>
          </a:ln>
          <a:effectLst>
            <a:outerShdw sx="100000" sy="100000" kx="0" ky="0" algn="bl" rotWithShape="0" blurRad="76200" dist="25400" dir="5400000">
              <a:srgbClr val="000000">
                <a:alpha val="12000"/>
              </a:srgbClr>
            </a:outerShdw>
          </a:effectLst>
        </p:spPr>
      </p:sp>
      <p:pic>
        <p:nvPicPr>
          <p:cNvPr id="5" name="captura-221" descr="/home/claude/sura/phm-gemelos/deck/capturas/sede-3d.png">    </p:cNvPr>
          <p:cNvPicPr>
            <a:picLocks noChangeAspect="1"/>
          </p:cNvPicPr>
          <p:nvPr/>
        </p:nvPicPr>
        <p:blipFill>
          <a:blip r:embed="rId1"/>
          <a:stretch>
            <a:fillRect/>
          </a:stretch>
        </p:blipFill>
        <p:spPr>
          <a:xfrm>
            <a:off x="457200" y="1682496"/>
            <a:ext cx="7223760" cy="2968446"/>
          </a:xfrm>
          <a:prstGeom prst="rect">
            <a:avLst/>
          </a:prstGeom>
        </p:spPr>
      </p:pic>
      <p:sp>
        <p:nvSpPr>
          <p:cNvPr id="6" name="lectura-sede-222"/>
          <p:cNvSpPr/>
          <p:nvPr/>
        </p:nvSpPr>
        <p:spPr>
          <a:xfrm>
            <a:off x="457200" y="4833822"/>
            <a:ext cx="7223760" cy="1429818"/>
          </a:xfrm>
          <a:prstGeom prst="roundRect">
            <a:avLst>
              <a:gd name="adj" fmla="val 4477"/>
            </a:avLst>
          </a:prstGeom>
          <a:solidFill>
            <a:schemeClr val="accent3">
              <a:alpha val="10000"/>
            </a:schemeClr>
          </a:solidFill>
          <a:ln/>
        </p:spPr>
      </p:sp>
      <p:sp>
        <p:nvSpPr>
          <p:cNvPr id="7" name="etiqueta-223"/>
          <p:cNvSpPr txBox="1"/>
          <p:nvPr/>
        </p:nvSpPr>
        <p:spPr>
          <a:xfrm>
            <a:off x="640080" y="4943550"/>
            <a:ext cx="2743200" cy="182880"/>
          </a:xfrm>
          <a:prstGeom prst="rect">
            <a:avLst/>
          </a:prstGeom>
          <a:noFill/>
          <a:ln/>
        </p:spPr>
        <p:txBody>
          <a:bodyPr wrap="square" lIns="0" tIns="0" rIns="0" bIns="0" rtlCol="0" anchor="t"/>
          <a:lstStyle/>
          <a:p>
            <a:pPr indent="0" marL="0">
              <a:buNone/>
            </a:pPr>
            <a:r>
              <a:rPr lang="en-US" sz="800" b="1" spc="50" kern="0" dirty="0">
                <a:solidFill>
                  <a:schemeClr val="accent3"/>
                </a:solidFill>
              </a:rPr>
              <a:t>QUÉ MUESTRA LA CAPTURA</a:t>
            </a:r>
            <a:endParaRPr lang="en-US" sz="800" dirty="0"/>
          </a:p>
        </p:txBody>
      </p:sp>
      <p:sp>
        <p:nvSpPr>
          <p:cNvPr id="8" name="lectura-sede-texto-224"/>
          <p:cNvSpPr txBox="1"/>
          <p:nvPr/>
        </p:nvSpPr>
        <p:spPr>
          <a:xfrm>
            <a:off x="640080" y="5153862"/>
            <a:ext cx="6858000" cy="1045770"/>
          </a:xfrm>
          <a:prstGeom prst="rect">
            <a:avLst/>
          </a:prstGeom>
          <a:noFill/>
          <a:ln/>
        </p:spPr>
        <p:txBody>
          <a:bodyPr wrap="square" lIns="0" tIns="0" rIns="0" bIns="0" rtlCol="0" anchor="t"/>
          <a:lstStyle/>
          <a:p>
            <a:pPr indent="0" marL="0">
              <a:buNone/>
            </a:pPr>
            <a:r>
              <a:rPr lang="en-US" sz="950" dirty="0">
                <a:solidFill>
                  <a:schemeClr val="tx1"/>
                </a:solidFill>
              </a:rPr>
              <a:t>El render representa la sede con sus siete zonas; el color del piso indica el estado de cada zona en el mes y las etiquetas, su utilización. Fuera del edificio aparecen la red hospitalaria, la base de atención domiciliaria con sus vehículos, los hogares atendidos y el nodo de atención virtual. En septiembre, consulta externa recibe 371 atenciones por día frente a una capacidad de 370, y 84 de ellas provienen de las cohortes crónicas. Admisión opera al 99 % y laboratorio al 94 %; procedimientos y atención domiciliaria conservan holgura.</a:t>
            </a:r>
            <a:endParaRPr lang="en-US" sz="950" dirty="0"/>
          </a:p>
        </p:txBody>
      </p:sp>
      <p:sp>
        <p:nvSpPr>
          <p:cNvPr id="9" name="tarjeta-sede-225"/>
          <p:cNvSpPr/>
          <p:nvPr/>
        </p:nvSpPr>
        <p:spPr>
          <a:xfrm>
            <a:off x="8001000" y="1645920"/>
            <a:ext cx="3733495" cy="1072134"/>
          </a:xfrm>
          <a:prstGeom prst="roundRect">
            <a:avLst>
              <a:gd name="adj" fmla="val 5970"/>
            </a:avLst>
          </a:prstGeom>
          <a:solidFill>
            <a:schemeClr val="bg2"/>
          </a:solidFill>
          <a:ln w="9525">
            <a:solidFill>
              <a:srgbClr val="D5DCE5"/>
            </a:solidFill>
            <a:prstDash val="solid"/>
          </a:ln>
        </p:spPr>
      </p:sp>
      <p:sp>
        <p:nvSpPr>
          <p:cNvPr id="10" name="tarjeta-sede-titulo-226"/>
          <p:cNvSpPr txBox="1"/>
          <p:nvPr/>
        </p:nvSpPr>
        <p:spPr>
          <a:xfrm>
            <a:off x="8165592" y="1737360"/>
            <a:ext cx="3404311" cy="219456"/>
          </a:xfrm>
          <a:prstGeom prst="rect">
            <a:avLst/>
          </a:prstGeom>
          <a:noFill/>
          <a:ln/>
        </p:spPr>
        <p:txBody>
          <a:bodyPr wrap="square" lIns="0" tIns="0" rIns="0" bIns="0" rtlCol="0" anchor="t"/>
          <a:lstStyle/>
          <a:p>
            <a:pPr indent="0" marL="0">
              <a:buNone/>
            </a:pPr>
            <a:r>
              <a:rPr lang="en-US" sz="1050" b="1" dirty="0">
                <a:solidFill>
                  <a:schemeClr val="accent3"/>
                </a:solidFill>
              </a:rPr>
              <a:t>Zonas con cita</a:t>
            </a:r>
            <a:endParaRPr lang="en-US" sz="1050" dirty="0"/>
          </a:p>
        </p:txBody>
      </p:sp>
      <p:sp>
        <p:nvSpPr>
          <p:cNvPr id="11" name="tarjeta-sede-texto-227"/>
          <p:cNvSpPr txBox="1"/>
          <p:nvPr/>
        </p:nvSpPr>
        <p:spPr>
          <a:xfrm>
            <a:off x="8165592" y="1975104"/>
            <a:ext cx="3404311" cy="688086"/>
          </a:xfrm>
          <a:prstGeom prst="rect">
            <a:avLst/>
          </a:prstGeom>
          <a:noFill/>
          <a:ln/>
        </p:spPr>
        <p:txBody>
          <a:bodyPr wrap="square" lIns="0" tIns="0" rIns="0" bIns="0" rtlCol="0" anchor="t"/>
          <a:lstStyle/>
          <a:p>
            <a:pPr indent="0" marL="0">
              <a:buNone/>
            </a:pPr>
            <a:r>
              <a:rPr lang="en-US" sz="900" dirty="0">
                <a:solidFill>
                  <a:schemeClr val="tx1"/>
                </a:solidFill>
              </a:rPr>
              <a:t>Consulta externa y procedimientos. El modelo simula día a día las solicitudes pendientes, con llegadas variables, inasistencia y sobreagenda. El indicador es la oportunidad de cita P50 y P90.</a:t>
            </a:r>
            <a:endParaRPr lang="en-US" sz="900" dirty="0"/>
          </a:p>
        </p:txBody>
      </p:sp>
      <p:sp>
        <p:nvSpPr>
          <p:cNvPr id="12" name="tarjeta-sede-228"/>
          <p:cNvSpPr/>
          <p:nvPr/>
        </p:nvSpPr>
        <p:spPr>
          <a:xfrm>
            <a:off x="8001000" y="2827782"/>
            <a:ext cx="3733495" cy="1072134"/>
          </a:xfrm>
          <a:prstGeom prst="roundRect">
            <a:avLst>
              <a:gd name="adj" fmla="val 5970"/>
            </a:avLst>
          </a:prstGeom>
          <a:solidFill>
            <a:schemeClr val="bg2"/>
          </a:solidFill>
          <a:ln w="9525">
            <a:solidFill>
              <a:srgbClr val="D5DCE5"/>
            </a:solidFill>
            <a:prstDash val="solid"/>
          </a:ln>
        </p:spPr>
      </p:sp>
      <p:sp>
        <p:nvSpPr>
          <p:cNvPr id="13" name="tarjeta-sede-titulo-229"/>
          <p:cNvSpPr txBox="1"/>
          <p:nvPr/>
        </p:nvSpPr>
        <p:spPr>
          <a:xfrm>
            <a:off x="8165592" y="2919222"/>
            <a:ext cx="3404311" cy="219456"/>
          </a:xfrm>
          <a:prstGeom prst="rect">
            <a:avLst/>
          </a:prstGeom>
          <a:noFill/>
          <a:ln/>
        </p:spPr>
        <p:txBody>
          <a:bodyPr wrap="square" lIns="0" tIns="0" rIns="0" bIns="0" rtlCol="0" anchor="t"/>
          <a:lstStyle/>
          <a:p>
            <a:pPr indent="0" marL="0">
              <a:buNone/>
            </a:pPr>
            <a:r>
              <a:rPr lang="en-US" sz="1050" b="1" dirty="0">
                <a:solidFill>
                  <a:schemeClr val="accent3"/>
                </a:solidFill>
              </a:rPr>
              <a:t>Zonas sin cita</a:t>
            </a:r>
            <a:endParaRPr lang="en-US" sz="1050" dirty="0"/>
          </a:p>
        </p:txBody>
      </p:sp>
      <p:sp>
        <p:nvSpPr>
          <p:cNvPr id="14" name="tarjeta-sede-texto-230"/>
          <p:cNvSpPr txBox="1"/>
          <p:nvPr/>
        </p:nvSpPr>
        <p:spPr>
          <a:xfrm>
            <a:off x="8165592" y="3156966"/>
            <a:ext cx="3404311" cy="688086"/>
          </a:xfrm>
          <a:prstGeom prst="rect">
            <a:avLst/>
          </a:prstGeom>
          <a:noFill/>
          <a:ln/>
        </p:spPr>
        <p:txBody>
          <a:bodyPr wrap="square" lIns="0" tIns="0" rIns="0" bIns="0" rtlCol="0" anchor="t"/>
          <a:lstStyle/>
          <a:p>
            <a:pPr indent="0" marL="0">
              <a:buNone/>
            </a:pPr>
            <a:r>
              <a:rPr lang="en-US" sz="900" dirty="0">
                <a:solidFill>
                  <a:schemeClr val="tx1"/>
                </a:solidFill>
              </a:rPr>
              <a:t>Admisión, prioritaria y laboratorio. La espera se calcula hora a hora con un modelo de colas de varios servidores. El indicador es la proporción de pacientes que espera más que la meta en la hora pico.</a:t>
            </a:r>
            <a:endParaRPr lang="en-US" sz="900" dirty="0"/>
          </a:p>
        </p:txBody>
      </p:sp>
      <p:sp>
        <p:nvSpPr>
          <p:cNvPr id="15" name="tarjeta-sede-231"/>
          <p:cNvSpPr/>
          <p:nvPr/>
        </p:nvSpPr>
        <p:spPr>
          <a:xfrm>
            <a:off x="8001000" y="4009644"/>
            <a:ext cx="3733495" cy="1072134"/>
          </a:xfrm>
          <a:prstGeom prst="roundRect">
            <a:avLst>
              <a:gd name="adj" fmla="val 5970"/>
            </a:avLst>
          </a:prstGeom>
          <a:solidFill>
            <a:schemeClr val="bg2"/>
          </a:solidFill>
          <a:ln w="9525">
            <a:solidFill>
              <a:srgbClr val="D5DCE5"/>
            </a:solidFill>
            <a:prstDash val="solid"/>
          </a:ln>
        </p:spPr>
      </p:sp>
      <p:sp>
        <p:nvSpPr>
          <p:cNvPr id="16" name="tarjeta-sede-titulo-232"/>
          <p:cNvSpPr txBox="1"/>
          <p:nvPr/>
        </p:nvSpPr>
        <p:spPr>
          <a:xfrm>
            <a:off x="8165592" y="4101084"/>
            <a:ext cx="3404311" cy="219456"/>
          </a:xfrm>
          <a:prstGeom prst="rect">
            <a:avLst/>
          </a:prstGeom>
          <a:noFill/>
          <a:ln/>
        </p:spPr>
        <p:txBody>
          <a:bodyPr wrap="square" lIns="0" tIns="0" rIns="0" bIns="0" rtlCol="0" anchor="t"/>
          <a:lstStyle/>
          <a:p>
            <a:pPr indent="0" marL="0">
              <a:buNone/>
            </a:pPr>
            <a:r>
              <a:rPr lang="en-US" sz="1050" b="1" dirty="0">
                <a:solidFill>
                  <a:schemeClr val="accent3"/>
                </a:solidFill>
              </a:rPr>
              <a:t>Canales fuera de la sede</a:t>
            </a:r>
            <a:endParaRPr lang="en-US" sz="1050" dirty="0"/>
          </a:p>
        </p:txBody>
      </p:sp>
      <p:sp>
        <p:nvSpPr>
          <p:cNvPr id="17" name="tarjeta-sede-texto-233"/>
          <p:cNvSpPr txBox="1"/>
          <p:nvPr/>
        </p:nvSpPr>
        <p:spPr>
          <a:xfrm>
            <a:off x="8165592" y="4338828"/>
            <a:ext cx="3404311" cy="688086"/>
          </a:xfrm>
          <a:prstGeom prst="rect">
            <a:avLst/>
          </a:prstGeom>
          <a:noFill/>
          <a:ln/>
        </p:spPr>
        <p:txBody>
          <a:bodyPr wrap="square" lIns="0" tIns="0" rIns="0" bIns="0" rtlCol="0" anchor="t"/>
          <a:lstStyle/>
          <a:p>
            <a:pPr indent="0" marL="0">
              <a:buNone/>
            </a:pPr>
            <a:r>
              <a:rPr lang="en-US" sz="900" dirty="0">
                <a:solidFill>
                  <a:schemeClr val="tx1"/>
                </a:solidFill>
              </a:rPr>
              <a:t>Equipos domiciliarios y médicos virtuales, evaluados por utilización con umbrales de 80 % y 95 %. Si la demanda supera la capacidad, el modelo calcula los equipos adicionales necesarios.</a:t>
            </a:r>
            <a:endParaRPr lang="en-US" sz="900" dirty="0"/>
          </a:p>
        </p:txBody>
      </p:sp>
      <p:sp>
        <p:nvSpPr>
          <p:cNvPr id="18" name="tarjeta-sede-234"/>
          <p:cNvSpPr/>
          <p:nvPr/>
        </p:nvSpPr>
        <p:spPr>
          <a:xfrm>
            <a:off x="8001000" y="5191506"/>
            <a:ext cx="3733495" cy="1072134"/>
          </a:xfrm>
          <a:prstGeom prst="roundRect">
            <a:avLst>
              <a:gd name="adj" fmla="val 5970"/>
            </a:avLst>
          </a:prstGeom>
          <a:solidFill>
            <a:schemeClr val="bg2"/>
          </a:solidFill>
          <a:ln w="9525">
            <a:solidFill>
              <a:srgbClr val="D5DCE5"/>
            </a:solidFill>
            <a:prstDash val="solid"/>
          </a:ln>
        </p:spPr>
      </p:sp>
      <p:sp>
        <p:nvSpPr>
          <p:cNvPr id="19" name="tarjeta-sede-titulo-235"/>
          <p:cNvSpPr txBox="1"/>
          <p:nvPr/>
        </p:nvSpPr>
        <p:spPr>
          <a:xfrm>
            <a:off x="8165592" y="5282946"/>
            <a:ext cx="3404311" cy="219456"/>
          </a:xfrm>
          <a:prstGeom prst="rect">
            <a:avLst/>
          </a:prstGeom>
          <a:noFill/>
          <a:ln/>
        </p:spPr>
        <p:txBody>
          <a:bodyPr wrap="square" lIns="0" tIns="0" rIns="0" bIns="0" rtlCol="0" anchor="t"/>
          <a:lstStyle/>
          <a:p>
            <a:pPr indent="0" marL="0">
              <a:buNone/>
            </a:pPr>
            <a:r>
              <a:rPr lang="en-US" sz="1050" b="1" dirty="0">
                <a:solidFill>
                  <a:schemeClr val="accent5"/>
                </a:solidFill>
              </a:rPr>
              <a:t>Interacción</a:t>
            </a:r>
            <a:endParaRPr lang="en-US" sz="1050" dirty="0"/>
          </a:p>
        </p:txBody>
      </p:sp>
      <p:sp>
        <p:nvSpPr>
          <p:cNvPr id="20" name="tarjeta-sede-texto-236"/>
          <p:cNvSpPr txBox="1"/>
          <p:nvPr/>
        </p:nvSpPr>
        <p:spPr>
          <a:xfrm>
            <a:off x="8165592" y="5520690"/>
            <a:ext cx="3404311" cy="688086"/>
          </a:xfrm>
          <a:prstGeom prst="rect">
            <a:avLst/>
          </a:prstGeom>
          <a:noFill/>
          <a:ln/>
        </p:spPr>
        <p:txBody>
          <a:bodyPr wrap="square" lIns="0" tIns="0" rIns="0" bIns="0" rtlCol="0" anchor="t"/>
          <a:lstStyle/>
          <a:p>
            <a:pPr indent="0" marL="0">
              <a:buNone/>
            </a:pPr>
            <a:r>
              <a:rPr lang="en-US" sz="900" dirty="0">
                <a:solidFill>
                  <a:schemeClr val="tx1"/>
                </a:solidFill>
              </a:rPr>
              <a:t>El flujo de pacientes y el recorrido del año se activan solo a solicitud. Cada punto equivale a cuatro atenciones por día. El estado de los equipos es simulado y anticipa la integración con ingeniería biomédica.</a:t>
            </a:r>
            <a:endParaRPr lang="en-US" sz="90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La cobertura ampliada mejora el acceso cuando se acompaña de canales domiciliario y virtual, y ese efecto tiene un costo visible</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Escenarios crea variantes de cobertura y canales y las compara contra el escenario regular en toda la red.</a:t>
            </a:r>
            <a:endParaRPr lang="en-US" sz="1250" dirty="0"/>
          </a:p>
        </p:txBody>
      </p:sp>
      <p:sp>
        <p:nvSpPr>
          <p:cNvPr id="4" name="grafico-titulo-237"/>
          <p:cNvSpPr txBox="1"/>
          <p:nvPr/>
        </p:nvSpPr>
        <p:spPr>
          <a:xfrm>
            <a:off x="457200" y="1645920"/>
            <a:ext cx="5212080" cy="237744"/>
          </a:xfrm>
          <a:prstGeom prst="rect">
            <a:avLst/>
          </a:prstGeom>
          <a:noFill/>
          <a:ln/>
        </p:spPr>
        <p:txBody>
          <a:bodyPr wrap="square" lIns="0" tIns="0" rIns="0" bIns="0" rtlCol="0" anchor="t"/>
          <a:lstStyle/>
          <a:p>
            <a:pPr indent="0" marL="0">
              <a:buNone/>
            </a:pPr>
            <a:r>
              <a:rPr lang="en-US" sz="1050" b="1" dirty="0">
                <a:solidFill>
                  <a:schemeClr val="tx1"/>
                </a:solidFill>
              </a:rPr>
              <a:t>Utilización de consulta externa en Sede Norte, 2027</a:t>
            </a:r>
            <a:endParaRPr lang="en-US" sz="1050" dirty="0"/>
          </a:p>
        </p:txBody>
      </p:sp>
      <p:graphicFrame>
        <p:nvGraphicFramePr>
          <p:cNvPr id="5" name="grafico-utilizacion-norte" descr=""/>
          <p:cNvGraphicFramePr/>
          <p:nvPr/>
        </p:nvGraphicFramePr>
        <p:xfrm>
          <a:off x="457200" y="1883664"/>
          <a:ext cx="5212080" cy="2468880"/>
        </p:xfrm>
        <a:graphic xmlns:a="http://schemas.openxmlformats.org/drawingml/2006/main">
          <a:graphicData uri="http://schemas.openxmlformats.org/drawingml/2006/chart">
            <c:chart xmlns:c="http://schemas.openxmlformats.org/drawingml/2006/chart" r:id="rId1"/>
          </a:graphicData>
        </a:graphic>
      </p:graphicFrame>
      <p:sp>
        <p:nvSpPr>
          <p:cNvPr id="6" name="etiqueta-238"/>
          <p:cNvSpPr txBox="1"/>
          <p:nvPr/>
        </p:nvSpPr>
        <p:spPr>
          <a:xfrm>
            <a:off x="457200" y="4443984"/>
            <a:ext cx="5212080" cy="182880"/>
          </a:xfrm>
          <a:prstGeom prst="rect">
            <a:avLst/>
          </a:prstGeom>
          <a:noFill/>
          <a:ln/>
        </p:spPr>
        <p:txBody>
          <a:bodyPr wrap="square" lIns="0" tIns="0" rIns="0" bIns="0" rtlCol="0" anchor="t"/>
          <a:lstStyle/>
          <a:p>
            <a:pPr indent="0" marL="0">
              <a:buNone/>
            </a:pPr>
            <a:r>
              <a:rPr lang="en-US" sz="800" b="1" spc="50" kern="0" dirty="0">
                <a:solidFill>
                  <a:schemeClr val="accent1"/>
                </a:solidFill>
              </a:rPr>
              <a:t>LOS CUATRO ESCENARIOS DE REFERENCIA</a:t>
            </a:r>
            <a:endParaRPr lang="en-US" sz="800" dirty="0"/>
          </a:p>
        </p:txBody>
      </p:sp>
      <p:sp>
        <p:nvSpPr>
          <p:cNvPr id="7" name="definicion-escenarios-239"/>
          <p:cNvSpPr txBox="1"/>
          <p:nvPr/>
        </p:nvSpPr>
        <p:spPr>
          <a:xfrm>
            <a:off x="457200" y="4663440"/>
            <a:ext cx="5212080" cy="1600200"/>
          </a:xfrm>
          <a:prstGeom prst="rect">
            <a:avLst/>
          </a:prstGeom>
          <a:noFill/>
          <a:ln/>
        </p:spPr>
        <p:txBody>
          <a:bodyPr wrap="square" lIns="0" tIns="0" rIns="0" bIns="0" rtlCol="0" anchor="t"/>
          <a:lstStyle/>
          <a:p>
            <a:pPr indent="0" marL="0">
              <a:spcAft>
                <a:spcPts val="400"/>
              </a:spcAft>
              <a:buNone/>
            </a:pPr>
            <a:r>
              <a:rPr lang="en-US" sz="900" b="1" dirty="0">
                <a:solidFill>
                  <a:schemeClr val="tx1"/>
                </a:solidFill>
              </a:rPr>
              <a:t>Regular. </a:t>
            </a:r>
            <a:pPr indent="0" marL="0">
              <a:spcAft>
                <a:spcPts val="400"/>
              </a:spcAft>
              <a:buNone/>
            </a:pPr>
            <a:r>
              <a:rPr lang="en-US" sz="900" dirty="0">
                <a:solidFill>
                  <a:schemeClr val="tx1"/>
                </a:solidFill>
              </a:rPr>
              <a:t>Cobertura vigente de cada cohorte, sin canales alternos. Es la referencia y no se edita.</a:t>
            </a:r>
            <a:endParaRPr lang="en-US" sz="900" dirty="0"/>
          </a:p>
          <a:p>
            <a:pPr indent="0" marL="0">
              <a:spcAft>
                <a:spcPts val="400"/>
              </a:spcAft>
              <a:buNone/>
            </a:pPr>
            <a:r>
              <a:rPr lang="en-US" sz="900" b="1" dirty="0">
                <a:solidFill>
                  <a:schemeClr val="tx1"/>
                </a:solidFill>
              </a:rPr>
              <a:t>Gestión del riesgo ampliada. </a:t>
            </a:r>
            <a:pPr indent="0" marL="0">
              <a:spcAft>
                <a:spcPts val="400"/>
              </a:spcAft>
              <a:buNone/>
            </a:pPr>
            <a:r>
              <a:rPr lang="en-US" sz="900" dirty="0">
                <a:solidFill>
                  <a:schemeClr val="tx1"/>
                </a:solidFill>
              </a:rPr>
              <a:t>25 puntos más de cobertura en cada cohorte, con la misma red.</a:t>
            </a:r>
            <a:endParaRPr lang="en-US" sz="900" dirty="0"/>
          </a:p>
          <a:p>
            <a:pPr indent="0" marL="0">
              <a:spcAft>
                <a:spcPts val="400"/>
              </a:spcAft>
              <a:buNone/>
            </a:pPr>
            <a:r>
              <a:rPr lang="en-US" sz="900" b="1" dirty="0">
                <a:solidFill>
                  <a:schemeClr val="tx1"/>
                </a:solidFill>
              </a:rPr>
              <a:t>Gestión ampliada con canales. </a:t>
            </a:r>
            <a:pPr indent="0" marL="0">
              <a:spcAft>
                <a:spcPts val="400"/>
              </a:spcAft>
              <a:buNone/>
            </a:pPr>
            <a:r>
              <a:rPr lang="en-US" sz="900" dirty="0">
                <a:solidFill>
                  <a:schemeClr val="tx1"/>
                </a:solidFill>
              </a:rPr>
              <a:t>La misma cobertura más atención domiciliaria por estrato, dos médicos virtuales adicionales por sede y recordatorios de cita.</a:t>
            </a:r>
            <a:endParaRPr lang="en-US" sz="900" dirty="0"/>
          </a:p>
          <a:p>
            <a:pPr indent="0" marL="0">
              <a:spcAft>
                <a:spcPts val="400"/>
              </a:spcAft>
              <a:buNone/>
            </a:pPr>
            <a:r>
              <a:rPr lang="en-US" sz="900" b="1" dirty="0">
                <a:solidFill>
                  <a:schemeClr val="tx1"/>
                </a:solidFill>
              </a:rPr>
              <a:t>Caída de la gestión. </a:t>
            </a:r>
            <a:pPr indent="0" marL="0">
              <a:spcAft>
                <a:spcPts val="400"/>
              </a:spcAft>
              <a:buNone/>
            </a:pPr>
            <a:r>
              <a:rPr lang="en-US" sz="900" dirty="0">
                <a:solidFill>
                  <a:schemeClr val="tx1"/>
                </a:solidFill>
              </a:rPr>
              <a:t>20 puntos menos de cobertura, para medir el riesgo de debilitar el programa.</a:t>
            </a:r>
            <a:endParaRPr lang="en-US" sz="900" dirty="0"/>
          </a:p>
        </p:txBody>
      </p:sp>
      <p:sp>
        <p:nvSpPr>
          <p:cNvPr id="8" name="etiqueta-240"/>
          <p:cNvSpPr txBox="1"/>
          <p:nvPr/>
        </p:nvSpPr>
        <p:spPr>
          <a:xfrm>
            <a:off x="6035040" y="1645920"/>
            <a:ext cx="5699455" cy="182880"/>
          </a:xfrm>
          <a:prstGeom prst="rect">
            <a:avLst/>
          </a:prstGeom>
          <a:noFill/>
          <a:ln/>
        </p:spPr>
        <p:txBody>
          <a:bodyPr wrap="square" lIns="0" tIns="0" rIns="0" bIns="0" rtlCol="0" anchor="t"/>
          <a:lstStyle/>
          <a:p>
            <a:pPr indent="0" marL="0">
              <a:buNone/>
            </a:pPr>
            <a:r>
              <a:rPr lang="en-US" sz="800" b="1" spc="50" kern="0" dirty="0">
                <a:solidFill>
                  <a:schemeClr val="accent1"/>
                </a:solidFill>
              </a:rPr>
              <a:t>COMPARACIÓN EN LA RED, 2027</a:t>
            </a:r>
            <a:endParaRPr lang="en-US" sz="800" dirty="0"/>
          </a:p>
        </p:txBody>
      </p:sp>
      <p:graphicFrame>
        <p:nvGraphicFramePr>
          <p:cNvPr id="11" name="tabla-escenarios"/>
          <p:cNvGraphicFramePr>
            <a:graphicFrameLocks noGrp="1"/>
          </p:cNvGraphicFramePr>
          <p:nvPr>
            <p:extLst>
              <p:ext uri="{D42A27DB-BD31-4B8C-83A1-F6EECF244321}">
                <p14:modId xmlns:p14="http://schemas.microsoft.com/office/powerpoint/2010/main" val="1579011935"/>
              </p:ext>
            </p:extLst>
          </p:nvPr>
        </p:nvGraphicFramePr>
        <p:xfrm>
          <a:off x="6035040" y="1865376"/>
          <a:ext cx="5699455" cy="914400"/>
        </p:xfrm>
        <a:graphic>
          <a:graphicData uri="http://schemas.openxmlformats.org/drawingml/2006/table">
            <a:tbl>
              <a:tblPr/>
              <a:tblGrid>
                <a:gridCol w="1874520"/>
                <a:gridCol w="822960"/>
                <a:gridCol w="896112"/>
                <a:gridCol w="969264"/>
                <a:gridCol w="1136599"/>
              </a:tblGrid>
              <a:tr h="384048">
                <a:tc>
                  <a:txBody>
                    <a:bodyPr/>
                    <a:lstStyle/>
                    <a:p>
                      <a:pPr indent="0" marL="0">
                        <a:buNone/>
                      </a:pPr>
                      <a:r>
                        <a:rPr lang="en-US" sz="850" b="1" dirty="0">
                          <a:solidFill>
                            <a:schemeClr val="tx2"/>
                          </a:solidFill>
                          <a:latin typeface="Arial" pitchFamily="34" charset="0"/>
                          <a:ea typeface="Arial" pitchFamily="34" charset="-122"/>
                          <a:cs typeface="Arial" pitchFamily="34" charset="-120"/>
                        </a:rPr>
                        <a:t>Indicador</a:t>
                      </a:r>
                      <a:endParaRPr lang="en-US" sz="850" dirty="0">
                        <a:latin typeface="Arial" charset="0"/>
                        <a:ea typeface="Arial" charset="0"/>
                        <a:cs typeface="Arial" charset="0"/>
                      </a:endParaRPr>
                    </a:p>
                  </a:txBody>
                  <a:tcPr marL="63500" marR="63500" marT="25400" marB="25400" anchor="b">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tx2"/>
                          </a:solidFill>
                          <a:latin typeface="Arial" pitchFamily="34" charset="0"/>
                          <a:ea typeface="Arial" pitchFamily="34" charset="-122"/>
                          <a:cs typeface="Arial" pitchFamily="34" charset="-120"/>
                        </a:rPr>
                        <a:t>Regular</a:t>
                      </a:r>
                      <a:endParaRPr lang="en-US" sz="850" dirty="0">
                        <a:latin typeface="Arial" charset="0"/>
                        <a:ea typeface="Arial" charset="0"/>
                        <a:cs typeface="Arial" charset="0"/>
                      </a:endParaRPr>
                    </a:p>
                  </a:txBody>
                  <a:tcPr marL="63500" marR="63500" marT="25400" marB="25400" anchor="b">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tx2"/>
                          </a:solidFill>
                          <a:latin typeface="Arial" pitchFamily="34" charset="0"/>
                          <a:ea typeface="Arial" pitchFamily="34" charset="-122"/>
                          <a:cs typeface="Arial" pitchFamily="34" charset="-120"/>
                        </a:rPr>
                        <a:t>Gestión ampliada</a:t>
                      </a:r>
                      <a:endParaRPr lang="en-US" sz="850" dirty="0">
                        <a:latin typeface="Arial" charset="0"/>
                        <a:ea typeface="Arial" charset="0"/>
                        <a:cs typeface="Arial" charset="0"/>
                      </a:endParaRPr>
                    </a:p>
                  </a:txBody>
                  <a:tcPr marL="63500" marR="63500" marT="25400" marB="25400" anchor="b">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tx2"/>
                          </a:solidFill>
                          <a:latin typeface="Arial" pitchFamily="34" charset="0"/>
                          <a:ea typeface="Arial" pitchFamily="34" charset="-122"/>
                          <a:cs typeface="Arial" pitchFamily="34" charset="-120"/>
                        </a:rPr>
                        <a:t>Ampliada con canales</a:t>
                      </a:r>
                      <a:endParaRPr lang="en-US" sz="850" dirty="0">
                        <a:latin typeface="Arial" charset="0"/>
                        <a:ea typeface="Arial" charset="0"/>
                        <a:cs typeface="Arial" charset="0"/>
                      </a:endParaRPr>
                    </a:p>
                  </a:txBody>
                  <a:tcPr marL="63500" marR="63500" marT="25400" marB="25400" anchor="b">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tx2"/>
                          </a:solidFill>
                          <a:latin typeface="Arial" pitchFamily="34" charset="0"/>
                          <a:ea typeface="Arial" pitchFamily="34" charset="-122"/>
                          <a:cs typeface="Arial" pitchFamily="34" charset="-120"/>
                        </a:rPr>
                        <a:t>Caída de la gestión</a:t>
                      </a:r>
                      <a:endParaRPr lang="en-US" sz="850" dirty="0">
                        <a:latin typeface="Arial" charset="0"/>
                        <a:ea typeface="Arial" charset="0"/>
                        <a:cs typeface="Arial" charset="0"/>
                      </a:endParaRPr>
                    </a:p>
                  </a:txBody>
                  <a:tcPr marL="63500" marR="63500" marT="25400" marB="25400" anchor="b">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Hospitalizaciones CSCA evitadas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+11</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+11</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−9</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Urgencias evitadas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+58</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+58</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−47</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Costo frente al regular (M COP)</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+53</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+912</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−42</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Meses-sede con saturación</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8 de 48</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8 de 48</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0 de 48</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7 de 48</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Oportunidad de cita P90, peor mes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3,6 días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4,1 días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2,2 días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3,4 días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Visitas domiciliarias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14.952</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Atenciones virtuales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25.227</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246888">
                <a:tc>
                  <a:txBody>
                    <a:bodyPr/>
                    <a:lstStyle/>
                    <a:p>
                      <a:pPr indent="0" marL="0">
                        <a:buNone/>
                      </a:pPr>
                      <a:r>
                        <a:rPr lang="en-US" sz="850" dirty="0">
                          <a:solidFill>
                            <a:schemeClr val="tx1"/>
                          </a:solidFill>
                          <a:latin typeface="Arial" pitchFamily="34" charset="0"/>
                          <a:ea typeface="Arial" pitchFamily="34" charset="-122"/>
                          <a:cs typeface="Arial" pitchFamily="34" charset="-120"/>
                        </a:rPr>
                        <a:t>Equipos domiciliarios adicionales</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b="1" dirty="0">
                          <a:solidFill>
                            <a:schemeClr val="accent2"/>
                          </a:solidFill>
                          <a:latin typeface="Arial" pitchFamily="34" charset="0"/>
                          <a:ea typeface="Arial" pitchFamily="34" charset="-122"/>
                          <a:cs typeface="Arial" pitchFamily="34" charset="-120"/>
                        </a:rPr>
                        <a:t>6</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algn="r" indent="0" marL="0">
                        <a:buNone/>
                      </a:pPr>
                      <a:r>
                        <a:rPr lang="en-US" sz="850" dirty="0">
                          <a:solidFill>
                            <a:schemeClr val="tx1"/>
                          </a:solidFill>
                          <a:latin typeface="Arial" pitchFamily="34" charset="0"/>
                          <a:ea typeface="Arial" pitchFamily="34" charset="-122"/>
                          <a:cs typeface="Arial" pitchFamily="34" charset="-120"/>
                        </a:rPr>
                        <a:t>0</a:t>
                      </a:r>
                      <a:endParaRPr lang="en-US" sz="850" dirty="0">
                        <a:latin typeface="Arial" charset="0"/>
                        <a:ea typeface="Arial" charset="0"/>
                        <a:cs typeface="Arial" charset="0"/>
                      </a:endParaRPr>
                    </a:p>
                  </a:txBody>
                  <a:tcPr marL="63500" marR="635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bl>
          </a:graphicData>
        </a:graphic>
      </p:graphicFrame>
      <p:sp>
        <p:nvSpPr>
          <p:cNvPr id="10" name="lectura-escenarios-241"/>
          <p:cNvSpPr/>
          <p:nvPr/>
        </p:nvSpPr>
        <p:spPr>
          <a:xfrm>
            <a:off x="6035040" y="4407408"/>
            <a:ext cx="5699455" cy="1600200"/>
          </a:xfrm>
          <a:prstGeom prst="roundRect">
            <a:avLst>
              <a:gd name="adj" fmla="val 4000"/>
            </a:avLst>
          </a:prstGeom>
          <a:solidFill>
            <a:schemeClr val="accent2">
              <a:alpha val="10000"/>
            </a:schemeClr>
          </a:solidFill>
          <a:ln/>
        </p:spPr>
      </p:sp>
      <p:sp>
        <p:nvSpPr>
          <p:cNvPr id="11" name="lectura-texto-242"/>
          <p:cNvSpPr txBox="1"/>
          <p:nvPr/>
        </p:nvSpPr>
        <p:spPr>
          <a:xfrm>
            <a:off x="6217920" y="4517136"/>
            <a:ext cx="5333695" cy="1417320"/>
          </a:xfrm>
          <a:prstGeom prst="rect">
            <a:avLst/>
          </a:prstGeom>
          <a:noFill/>
          <a:ln/>
        </p:spPr>
        <p:txBody>
          <a:bodyPr wrap="square" lIns="0" tIns="0" rIns="0" bIns="0" rtlCol="0" anchor="ctr"/>
          <a:lstStyle/>
          <a:p>
            <a:pPr indent="0" marL="0">
              <a:buNone/>
            </a:pPr>
            <a:r>
              <a:rPr lang="en-US" sz="950" b="1" dirty="0">
                <a:solidFill>
                  <a:schemeClr val="tx1"/>
                </a:solidFill>
              </a:rPr>
              <a:t>Cómo leer la comparación. </a:t>
            </a:r>
            <a:pPr indent="0" marL="0">
              <a:buNone/>
            </a:pPr>
            <a:r>
              <a:rPr lang="en-US" sz="950" dirty="0">
                <a:solidFill>
                  <a:schemeClr val="tx1"/>
                </a:solidFill>
              </a:rPr>
              <a:t>Ampliar 25 puntos la cobertura sin canales produce los mismos beneficios clínicos que la variante con canales, pero eleva la oportunidad de cita en el peor mes de 3,6 a 4,1 días y mantiene la saturación. Con atención domiciliaria, virtual y recordatorios, la utilización de consulta externa en Sede Norte baja entre 10 y 12 puntos y no queda ningún mes-sede saturado. El costo adicional corresponde a visitas domiciliarias y teleconsultas a tarifas sintéticas, y debe compararse con el valor del acceso oportuno.</a:t>
            </a:r>
            <a:endParaRPr lang="en-US" sz="9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Configuración hace explícitos los parámetros, el contrato de datos y el nivel de madurez del modelo</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El catálogo es editable; las fuentes y los indicadores de salud del modelo definen cuándo avanzar de nivel.</a:t>
            </a:r>
            <a:endParaRPr lang="en-US" sz="1250" dirty="0"/>
          </a:p>
        </p:txBody>
      </p:sp>
      <p:sp>
        <p:nvSpPr>
          <p:cNvPr id="4" name="marco-243"/>
          <p:cNvSpPr/>
          <p:nvPr/>
        </p:nvSpPr>
        <p:spPr>
          <a:xfrm>
            <a:off x="448056" y="1673352"/>
            <a:ext cx="6144768" cy="1949461"/>
          </a:xfrm>
          <a:prstGeom prst="rect">
            <a:avLst/>
          </a:prstGeom>
          <a:solidFill>
            <a:srgbClr val="FFFFFF"/>
          </a:solidFill>
          <a:ln w="9525">
            <a:solidFill>
              <a:srgbClr val="D5DCE5"/>
            </a:solidFill>
            <a:prstDash val="solid"/>
          </a:ln>
          <a:effectLst>
            <a:outerShdw sx="100000" sy="100000" kx="0" ky="0" algn="bl" rotWithShape="0" blurRad="76200" dist="25400" dir="5400000">
              <a:srgbClr val="000000">
                <a:alpha val="12000"/>
              </a:srgbClr>
            </a:outerShdw>
          </a:effectLst>
        </p:spPr>
      </p:sp>
      <p:pic>
        <p:nvPicPr>
          <p:cNvPr id="5" name="captura-244" descr="/home/claude/sura/phm-gemelos/deck/capturas/r-fuentes.png">    </p:cNvPr>
          <p:cNvPicPr>
            <a:picLocks noChangeAspect="1"/>
          </p:cNvPicPr>
          <p:nvPr/>
        </p:nvPicPr>
        <p:blipFill>
          <a:blip r:embed="rId1"/>
          <a:stretch>
            <a:fillRect/>
          </a:stretch>
        </p:blipFill>
        <p:spPr>
          <a:xfrm>
            <a:off x="457200" y="1682496"/>
            <a:ext cx="6126480" cy="1931173"/>
          </a:xfrm>
          <a:prstGeom prst="rect">
            <a:avLst/>
          </a:prstGeom>
        </p:spPr>
      </p:pic>
      <p:sp>
        <p:nvSpPr>
          <p:cNvPr id="6" name="etiqueta-245"/>
          <p:cNvSpPr txBox="1"/>
          <p:nvPr/>
        </p:nvSpPr>
        <p:spPr>
          <a:xfrm>
            <a:off x="457200" y="3814837"/>
            <a:ext cx="6126480" cy="182880"/>
          </a:xfrm>
          <a:prstGeom prst="rect">
            <a:avLst/>
          </a:prstGeom>
          <a:noFill/>
          <a:ln/>
        </p:spPr>
        <p:txBody>
          <a:bodyPr wrap="square" lIns="0" tIns="0" rIns="0" bIns="0" rtlCol="0" anchor="t"/>
          <a:lstStyle/>
          <a:p>
            <a:pPr indent="0" marL="0">
              <a:buNone/>
            </a:pPr>
            <a:r>
              <a:rPr lang="en-US" sz="800" b="1" spc="50" kern="0" dirty="0">
                <a:solidFill>
                  <a:schemeClr val="accent3"/>
                </a:solidFill>
              </a:rPr>
              <a:t>QUÉ MUESTRA LA CAPTURA</a:t>
            </a:r>
            <a:endParaRPr lang="en-US" sz="800" dirty="0"/>
          </a:p>
        </p:txBody>
      </p:sp>
      <p:sp>
        <p:nvSpPr>
          <p:cNvPr id="7" name="cuerpo-246"/>
          <p:cNvSpPr txBox="1"/>
          <p:nvPr/>
        </p:nvSpPr>
        <p:spPr>
          <a:xfrm>
            <a:off x="457200" y="4016005"/>
            <a:ext cx="6126480" cy="470916"/>
          </a:xfrm>
          <a:prstGeom prst="rect">
            <a:avLst/>
          </a:prstGeom>
          <a:noFill/>
          <a:ln/>
        </p:spPr>
        <p:txBody>
          <a:bodyPr wrap="square" lIns="0" tIns="0" rIns="0" bIns="0" rtlCol="0" anchor="t"/>
          <a:lstStyle/>
          <a:p>
            <a:pPr indent="0" marL="0">
              <a:buNone/>
            </a:pPr>
            <a:r>
              <a:rPr lang="en-US" sz="950" dirty="0">
                <a:solidFill>
                  <a:schemeClr val="tx1"/>
                </a:solidFill>
              </a:rPr>
              <a:t>El contrato de datos de cada fuente: mecanismo de integración, granularidad, frescura esperada y área responsable. En este entorno todas las fuentes son sintéticas; la tabla describe cómo se integrarían en producción.</a:t>
            </a:r>
            <a:endParaRPr lang="en-US" sz="950" dirty="0"/>
          </a:p>
        </p:txBody>
      </p:sp>
      <p:sp>
        <p:nvSpPr>
          <p:cNvPr id="8" name="etiqueta-247"/>
          <p:cNvSpPr txBox="1"/>
          <p:nvPr/>
        </p:nvSpPr>
        <p:spPr>
          <a:xfrm>
            <a:off x="457200" y="4605793"/>
            <a:ext cx="6126480" cy="182880"/>
          </a:xfrm>
          <a:prstGeom prst="rect">
            <a:avLst/>
          </a:prstGeom>
          <a:noFill/>
          <a:ln/>
        </p:spPr>
        <p:txBody>
          <a:bodyPr wrap="square" lIns="0" tIns="0" rIns="0" bIns="0" rtlCol="0" anchor="t"/>
          <a:lstStyle/>
          <a:p>
            <a:pPr indent="0" marL="0">
              <a:buNone/>
            </a:pPr>
            <a:r>
              <a:rPr lang="en-US" sz="800" b="1" spc="50" kern="0" dirty="0">
                <a:solidFill>
                  <a:schemeClr val="accent3"/>
                </a:solidFill>
              </a:rPr>
              <a:t>CATÁLOGO</a:t>
            </a:r>
            <a:endParaRPr lang="en-US" sz="800" dirty="0"/>
          </a:p>
        </p:txBody>
      </p:sp>
      <p:sp>
        <p:nvSpPr>
          <p:cNvPr id="9" name="cuerpo-248"/>
          <p:cNvSpPr txBox="1"/>
          <p:nvPr/>
        </p:nvSpPr>
        <p:spPr>
          <a:xfrm>
            <a:off x="457200" y="4806961"/>
            <a:ext cx="6126480" cy="470916"/>
          </a:xfrm>
          <a:prstGeom prst="rect">
            <a:avLst/>
          </a:prstGeom>
          <a:noFill/>
          <a:ln/>
        </p:spPr>
        <p:txBody>
          <a:bodyPr wrap="square" lIns="0" tIns="0" rIns="0" bIns="0" rtlCol="0" anchor="t"/>
          <a:lstStyle/>
          <a:p>
            <a:pPr indent="0" marL="0">
              <a:buNone/>
            </a:pPr>
            <a:r>
              <a:rPr lang="en-US" sz="950" dirty="0">
                <a:solidFill>
                  <a:schemeClr val="tx1"/>
                </a:solidFill>
              </a:rPr>
              <a:t>Cohortes con sus estratos, matrices de transición, tasas de uso por estrato, estacionalidad y fracción CSCA; sedes con zonas, servidores, horarios, tiempos de servicio y metas. Agregar una cohorte la incorpora de inmediato a todos los selectores y escenarios.</a:t>
            </a:r>
            <a:endParaRPr lang="en-US" sz="950" dirty="0"/>
          </a:p>
        </p:txBody>
      </p:sp>
      <p:sp>
        <p:nvSpPr>
          <p:cNvPr id="10" name="etiqueta-249"/>
          <p:cNvSpPr txBox="1"/>
          <p:nvPr/>
        </p:nvSpPr>
        <p:spPr>
          <a:xfrm>
            <a:off x="457200" y="5396749"/>
            <a:ext cx="6126480" cy="182880"/>
          </a:xfrm>
          <a:prstGeom prst="rect">
            <a:avLst/>
          </a:prstGeom>
          <a:noFill/>
          <a:ln/>
        </p:spPr>
        <p:txBody>
          <a:bodyPr wrap="square" lIns="0" tIns="0" rIns="0" bIns="0" rtlCol="0" anchor="t"/>
          <a:lstStyle/>
          <a:p>
            <a:pPr indent="0" marL="0">
              <a:buNone/>
            </a:pPr>
            <a:r>
              <a:rPr lang="en-US" sz="800" b="1" spc="50" kern="0" dirty="0">
                <a:solidFill>
                  <a:schemeClr val="accent5"/>
                </a:solidFill>
              </a:rPr>
              <a:t>POR QUÉ IMPORTA</a:t>
            </a:r>
            <a:endParaRPr lang="en-US" sz="800" dirty="0"/>
          </a:p>
        </p:txBody>
      </p:sp>
      <p:sp>
        <p:nvSpPr>
          <p:cNvPr id="11" name="cuerpo-250"/>
          <p:cNvSpPr txBox="1"/>
          <p:nvPr/>
        </p:nvSpPr>
        <p:spPr>
          <a:xfrm>
            <a:off x="457200" y="5597917"/>
            <a:ext cx="6126480" cy="326136"/>
          </a:xfrm>
          <a:prstGeom prst="rect">
            <a:avLst/>
          </a:prstGeom>
          <a:noFill/>
          <a:ln/>
        </p:spPr>
        <p:txBody>
          <a:bodyPr wrap="square" lIns="0" tIns="0" rIns="0" bIns="0" rtlCol="0" anchor="t"/>
          <a:lstStyle/>
          <a:p>
            <a:pPr indent="0" marL="0">
              <a:buNone/>
            </a:pPr>
            <a:r>
              <a:rPr lang="en-US" sz="950" dirty="0">
                <a:solidFill>
                  <a:schemeClr val="tx1"/>
                </a:solidFill>
              </a:rPr>
              <a:t>Los supuestos dejan de estar ocultos dentro del modelo: cada parámetro tiene responsable, fuente y versión, lo que permite auditarlos y recalibrarlos.</a:t>
            </a:r>
            <a:endParaRPr lang="en-US" sz="950" dirty="0"/>
          </a:p>
        </p:txBody>
      </p:sp>
      <p:sp>
        <p:nvSpPr>
          <p:cNvPr id="12" name="etiqueta-251"/>
          <p:cNvSpPr txBox="1"/>
          <p:nvPr/>
        </p:nvSpPr>
        <p:spPr>
          <a:xfrm>
            <a:off x="6949440" y="1645920"/>
            <a:ext cx="4785055" cy="182880"/>
          </a:xfrm>
          <a:prstGeom prst="rect">
            <a:avLst/>
          </a:prstGeom>
          <a:noFill/>
          <a:ln/>
        </p:spPr>
        <p:txBody>
          <a:bodyPr wrap="square" lIns="0" tIns="0" rIns="0" bIns="0" rtlCol="0" anchor="t"/>
          <a:lstStyle/>
          <a:p>
            <a:pPr indent="0" marL="0">
              <a:buNone/>
            </a:pPr>
            <a:r>
              <a:rPr lang="en-US" sz="800" b="1" spc="50" kern="0" dirty="0">
                <a:solidFill>
                  <a:schemeClr val="accent4"/>
                </a:solidFill>
              </a:rPr>
              <a:t>INDICADORES DE SALUD DEL MODELO</a:t>
            </a:r>
            <a:endParaRPr lang="en-US" sz="800" dirty="0"/>
          </a:p>
        </p:txBody>
      </p:sp>
      <p:graphicFrame>
        <p:nvGraphicFramePr>
          <p:cNvPr id="12" name="tabla-salud"/>
          <p:cNvGraphicFramePr>
            <a:graphicFrameLocks noGrp="1"/>
          </p:cNvGraphicFramePr>
          <p:nvPr>
            <p:extLst>
              <p:ext uri="{D42A27DB-BD31-4B8C-83A1-F6EECF244321}">
                <p14:modId xmlns:p14="http://schemas.microsoft.com/office/powerpoint/2010/main" val="1579011935"/>
              </p:ext>
            </p:extLst>
          </p:nvPr>
        </p:nvGraphicFramePr>
        <p:xfrm>
          <a:off x="6949440" y="1865376"/>
          <a:ext cx="4785055" cy="914400"/>
        </p:xfrm>
        <a:graphic>
          <a:graphicData uri="http://schemas.openxmlformats.org/drawingml/2006/table">
            <a:tbl>
              <a:tblPr/>
              <a:tblGrid>
                <a:gridCol w="1691640"/>
                <a:gridCol w="1234440"/>
                <a:gridCol w="1858975"/>
              </a:tblGrid>
              <a:tr h="347472">
                <a:tc>
                  <a:txBody>
                    <a:bodyPr/>
                    <a:lstStyle/>
                    <a:p>
                      <a:pPr indent="0" marL="0">
                        <a:buNone/>
                      </a:pPr>
                      <a:r>
                        <a:rPr lang="en-US" sz="850" b="1" dirty="0">
                          <a:solidFill>
                            <a:schemeClr val="tx2"/>
                          </a:solidFill>
                          <a:latin typeface="Arial" pitchFamily="34" charset="0"/>
                          <a:ea typeface="Arial" pitchFamily="34" charset="-122"/>
                          <a:cs typeface="Arial" pitchFamily="34" charset="-120"/>
                        </a:rPr>
                        <a:t>Indicador</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b="1" dirty="0">
                          <a:solidFill>
                            <a:schemeClr val="tx2"/>
                          </a:solidFill>
                          <a:latin typeface="Arial" pitchFamily="34" charset="0"/>
                          <a:ea typeface="Arial" pitchFamily="34" charset="-122"/>
                          <a:cs typeface="Arial" pitchFamily="34" charset="-120"/>
                        </a:rPr>
                        <a:t>Meta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b="1" dirty="0">
                          <a:solidFill>
                            <a:schemeClr val="tx2"/>
                          </a:solidFill>
                          <a:latin typeface="Arial" pitchFamily="34" charset="0"/>
                          <a:ea typeface="Arial" pitchFamily="34" charset="-122"/>
                          <a:cs typeface="Arial" pitchFamily="34" charset="-120"/>
                        </a:rPr>
                        <a:t>Qué asegura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47472">
                <a:tc>
                  <a:txBody>
                    <a:bodyPr/>
                    <a:lstStyle/>
                    <a:p>
                      <a:pPr indent="0" marL="0">
                        <a:buNone/>
                      </a:pPr>
                      <a:r>
                        <a:rPr lang="en-US" sz="850" dirty="0">
                          <a:solidFill>
                            <a:schemeClr val="tx1"/>
                          </a:solidFill>
                          <a:latin typeface="Arial" pitchFamily="34" charset="0"/>
                          <a:ea typeface="Arial" pitchFamily="34" charset="-122"/>
                          <a:cs typeface="Arial" pitchFamily="34" charset="-120"/>
                        </a:rPr>
                        <a:t>Fuentes dentro del SLA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 95 %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Los datos llegan a tiempo</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47472">
                <a:tc>
                  <a:txBody>
                    <a:bodyPr/>
                    <a:lstStyle/>
                    <a:p>
                      <a:pPr indent="0" marL="0">
                        <a:buNone/>
                      </a:pPr>
                      <a:r>
                        <a:rPr lang="en-US" sz="850" dirty="0">
                          <a:solidFill>
                            <a:schemeClr val="tx1"/>
                          </a:solidFill>
                          <a:latin typeface="Arial" pitchFamily="34" charset="0"/>
                          <a:ea typeface="Arial" pitchFamily="34" charset="-122"/>
                          <a:cs typeface="Arial" pitchFamily="34" charset="-120"/>
                        </a:rPr>
                        <a:t>Cobertura de sensores</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 90 % de equipos</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El estado operativo es completo</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47472">
                <a:tc>
                  <a:txBody>
                    <a:bodyPr/>
                    <a:lstStyle/>
                    <a:p>
                      <a:pPr indent="0" marL="0">
                        <a:buNone/>
                      </a:pPr>
                      <a:r>
                        <a:rPr lang="en-US" sz="850" dirty="0">
                          <a:solidFill>
                            <a:schemeClr val="tx1"/>
                          </a:solidFill>
                          <a:latin typeface="Arial" pitchFamily="34" charset="0"/>
                          <a:ea typeface="Arial" pitchFamily="34" charset="-122"/>
                          <a:cs typeface="Arial" pitchFamily="34" charset="-120"/>
                        </a:rPr>
                        <a:t>Error de calibración (WAPE mensual por zona)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 10–15 %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El modelo reproduce la demanda observada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47472">
                <a:tc>
                  <a:txBody>
                    <a:bodyPr/>
                    <a:lstStyle/>
                    <a:p>
                      <a:pPr indent="0" marL="0">
                        <a:buNone/>
                      </a:pPr>
                      <a:r>
                        <a:rPr lang="en-US" sz="850" dirty="0">
                          <a:solidFill>
                            <a:schemeClr val="tx1"/>
                          </a:solidFill>
                          <a:latin typeface="Arial" pitchFamily="34" charset="0"/>
                          <a:ea typeface="Arial" pitchFamily="34" charset="-122"/>
                          <a:cs typeface="Arial" pitchFamily="34" charset="-120"/>
                        </a:rPr>
                        <a:t>Cobertura de intervalos P10–P90</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75–85 %</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La incertidumbre está bien estimada</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47472">
                <a:tc>
                  <a:txBody>
                    <a:bodyPr/>
                    <a:lstStyle/>
                    <a:p>
                      <a:pPr indent="0" marL="0">
                        <a:buNone/>
                      </a:pPr>
                      <a:r>
                        <a:rPr lang="en-US" sz="850" dirty="0">
                          <a:solidFill>
                            <a:schemeClr val="tx1"/>
                          </a:solidFill>
                          <a:latin typeface="Arial" pitchFamily="34" charset="0"/>
                          <a:ea typeface="Arial" pitchFamily="34" charset="-122"/>
                          <a:cs typeface="Arial" pitchFamily="34" charset="-120"/>
                        </a:rPr>
                        <a:t>Deriva de entradas (PSI)</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&lt; 0,2</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La población no cambió respecto de la calibración</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47472">
                <a:tc>
                  <a:txBody>
                    <a:bodyPr/>
                    <a:lstStyle/>
                    <a:p>
                      <a:pPr indent="0" marL="0">
                        <a:buNone/>
                      </a:pPr>
                      <a:r>
                        <a:rPr lang="en-US" sz="850" dirty="0">
                          <a:solidFill>
                            <a:schemeClr val="tx1"/>
                          </a:solidFill>
                          <a:latin typeface="Arial" pitchFamily="34" charset="0"/>
                          <a:ea typeface="Arial" pitchFamily="34" charset="-122"/>
                          <a:cs typeface="Arial" pitchFamily="34" charset="-120"/>
                        </a:rPr>
                        <a:t>Latencia de extremo a extremo</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Estado &lt; 5 s; agenda &lt; 15 min</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El portal refleja la operación actual</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47472">
                <a:tc>
                  <a:txBody>
                    <a:bodyPr/>
                    <a:lstStyle/>
                    <a:p>
                      <a:pPr indent="0" marL="0">
                        <a:buNone/>
                      </a:pPr>
                      <a:r>
                        <a:rPr lang="en-US" sz="850" dirty="0">
                          <a:solidFill>
                            <a:schemeClr val="tx1"/>
                          </a:solidFill>
                          <a:latin typeface="Arial" pitchFamily="34" charset="0"/>
                          <a:ea typeface="Arial" pitchFamily="34" charset="-122"/>
                          <a:cs typeface="Arial" pitchFamily="34" charset="-120"/>
                        </a:rPr>
                        <a:t>Cierre de ciclo</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Recomendaciones con efecto observado</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Las decisiones se ejecutan y se miden</a:t>
                      </a:r>
                      <a:endParaRPr lang="en-US" sz="850" dirty="0">
                        <a:latin typeface="Arial" charset="0"/>
                        <a:ea typeface="Arial" charset="0"/>
                        <a:cs typeface="Arial" charset="0"/>
                      </a:endParaRPr>
                    </a:p>
                  </a:txBody>
                  <a:tcPr marL="50800" marR="50800" marT="25400" marB="254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bl>
          </a:graphicData>
        </a:graphic>
      </p:graphicFrame>
      <p:sp>
        <p:nvSpPr>
          <p:cNvPr id="14" name="etiqueta-252"/>
          <p:cNvSpPr txBox="1"/>
          <p:nvPr/>
        </p:nvSpPr>
        <p:spPr>
          <a:xfrm>
            <a:off x="6949440" y="4846320"/>
            <a:ext cx="4785055" cy="182880"/>
          </a:xfrm>
          <a:prstGeom prst="rect">
            <a:avLst/>
          </a:prstGeom>
          <a:noFill/>
          <a:ln/>
        </p:spPr>
        <p:txBody>
          <a:bodyPr wrap="square" lIns="0" tIns="0" rIns="0" bIns="0" rtlCol="0" anchor="t"/>
          <a:lstStyle/>
          <a:p>
            <a:pPr indent="0" marL="0">
              <a:buNone/>
            </a:pPr>
            <a:r>
              <a:rPr lang="en-US" sz="800" b="1" spc="50" kern="0" dirty="0">
                <a:solidFill>
                  <a:schemeClr val="accent4"/>
                </a:solidFill>
              </a:rPr>
              <a:t>CRITERIO DE AVANCE ENTRE NIVELES</a:t>
            </a:r>
            <a:endParaRPr lang="en-US" sz="800" dirty="0"/>
          </a:p>
        </p:txBody>
      </p:sp>
      <p:sp>
        <p:nvSpPr>
          <p:cNvPr id="15" name="cuerpo-253"/>
          <p:cNvSpPr txBox="1"/>
          <p:nvPr/>
        </p:nvSpPr>
        <p:spPr>
          <a:xfrm>
            <a:off x="6949440" y="5047488"/>
            <a:ext cx="4785055" cy="615696"/>
          </a:xfrm>
          <a:prstGeom prst="rect">
            <a:avLst/>
          </a:prstGeom>
          <a:noFill/>
          <a:ln/>
        </p:spPr>
        <p:txBody>
          <a:bodyPr wrap="square" lIns="0" tIns="0" rIns="0" bIns="0" rtlCol="0" anchor="t"/>
          <a:lstStyle/>
          <a:p>
            <a:pPr indent="0" marL="0">
              <a:buNone/>
            </a:pPr>
            <a:r>
              <a:rPr lang="en-US" sz="950" dirty="0">
                <a:solidFill>
                  <a:schemeClr val="tx1"/>
                </a:solidFill>
              </a:rPr>
              <a:t>De modelo a sombra digital: ingesta automática de agenda y estado de zonas dentro del SLA. De sombra a gemelo: error de calibración y cobertura de intervalos en meta durante tres meses, y recomendaciones con registro de aceptación y efecto.</a:t>
            </a:r>
            <a:endParaRPr lang="en-US" sz="9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La arquitectura separa los datos clínicos federados de la telemetría operativa y respeta la frontera de AlejandrIA</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Los datos de pacientes permanecen en cada Data Partner; el portal consume agregados y estados operativos sin información personal.</a:t>
            </a:r>
            <a:endParaRPr lang="en-US" sz="1250" dirty="0"/>
          </a:p>
        </p:txBody>
      </p:sp>
      <p:sp>
        <p:nvSpPr>
          <p:cNvPr id="4" name="capa-254"/>
          <p:cNvSpPr/>
          <p:nvPr/>
        </p:nvSpPr>
        <p:spPr>
          <a:xfrm>
            <a:off x="457200" y="1645920"/>
            <a:ext cx="7086600" cy="658368"/>
          </a:xfrm>
          <a:prstGeom prst="roundRect">
            <a:avLst>
              <a:gd name="adj" fmla="val 9722"/>
            </a:avLst>
          </a:prstGeom>
          <a:solidFill>
            <a:schemeClr val="accent1">
              <a:alpha val="12000"/>
            </a:schemeClr>
          </a:solidFill>
          <a:ln/>
        </p:spPr>
      </p:sp>
      <p:sp>
        <p:nvSpPr>
          <p:cNvPr id="5" name="capa-nombre-255"/>
          <p:cNvSpPr txBox="1"/>
          <p:nvPr/>
        </p:nvSpPr>
        <p:spPr>
          <a:xfrm>
            <a:off x="640080" y="1645920"/>
            <a:ext cx="1691640" cy="658368"/>
          </a:xfrm>
          <a:prstGeom prst="rect">
            <a:avLst/>
          </a:prstGeom>
          <a:noFill/>
          <a:ln/>
        </p:spPr>
        <p:txBody>
          <a:bodyPr wrap="square" lIns="0" tIns="0" rIns="0" bIns="0" rtlCol="0" anchor="ctr"/>
          <a:lstStyle/>
          <a:p>
            <a:pPr indent="0" marL="0">
              <a:buNone/>
            </a:pPr>
            <a:r>
              <a:rPr lang="en-US" sz="1050" b="1" dirty="0">
                <a:solidFill>
                  <a:schemeClr val="accent1"/>
                </a:solidFill>
              </a:rPr>
              <a:t>Experiencia</a:t>
            </a:r>
            <a:endParaRPr lang="en-US" sz="1050" dirty="0"/>
          </a:p>
        </p:txBody>
      </p:sp>
      <p:sp>
        <p:nvSpPr>
          <p:cNvPr id="6" name="capa-texto-256"/>
          <p:cNvSpPr txBox="1"/>
          <p:nvPr/>
        </p:nvSpPr>
        <p:spPr>
          <a:xfrm>
            <a:off x="2377440" y="1645920"/>
            <a:ext cx="4983480" cy="658368"/>
          </a:xfrm>
          <a:prstGeom prst="rect">
            <a:avLst/>
          </a:prstGeom>
          <a:noFill/>
          <a:ln/>
        </p:spPr>
        <p:txBody>
          <a:bodyPr wrap="square" lIns="0" tIns="0" rIns="0" bIns="0" rtlCol="0" anchor="ctr"/>
          <a:lstStyle/>
          <a:p>
            <a:pPr indent="0" marL="0">
              <a:buNone/>
            </a:pPr>
            <a:r>
              <a:rPr lang="en-US" sz="900" dirty="0">
                <a:solidFill>
                  <a:schemeClr val="tx1"/>
                </a:solidFill>
              </a:rPr>
              <a:t>Portal de planeación con seis módulos, escenarios versionados y control de acceso por rol. Es la única capa que ven los usuarios de PHM, red y sedes.</a:t>
            </a:r>
            <a:endParaRPr lang="en-US" sz="900" dirty="0"/>
          </a:p>
        </p:txBody>
      </p:sp>
      <p:sp>
        <p:nvSpPr>
          <p:cNvPr id="7" name="capa-257"/>
          <p:cNvSpPr/>
          <p:nvPr/>
        </p:nvSpPr>
        <p:spPr>
          <a:xfrm>
            <a:off x="457200" y="2377440"/>
            <a:ext cx="7086600" cy="658368"/>
          </a:xfrm>
          <a:prstGeom prst="roundRect">
            <a:avLst>
              <a:gd name="adj" fmla="val 9722"/>
            </a:avLst>
          </a:prstGeom>
          <a:solidFill>
            <a:schemeClr val="accent5">
              <a:alpha val="12000"/>
            </a:schemeClr>
          </a:solidFill>
          <a:ln/>
        </p:spPr>
      </p:sp>
      <p:sp>
        <p:nvSpPr>
          <p:cNvPr id="8" name="capa-nombre-258"/>
          <p:cNvSpPr txBox="1"/>
          <p:nvPr/>
        </p:nvSpPr>
        <p:spPr>
          <a:xfrm>
            <a:off x="640080" y="2377440"/>
            <a:ext cx="1691640" cy="658368"/>
          </a:xfrm>
          <a:prstGeom prst="rect">
            <a:avLst/>
          </a:prstGeom>
          <a:noFill/>
          <a:ln/>
        </p:spPr>
        <p:txBody>
          <a:bodyPr wrap="square" lIns="0" tIns="0" rIns="0" bIns="0" rtlCol="0" anchor="ctr"/>
          <a:lstStyle/>
          <a:p>
            <a:pPr indent="0" marL="0">
              <a:buNone/>
            </a:pPr>
            <a:r>
              <a:rPr lang="en-US" sz="1050" b="1" dirty="0">
                <a:solidFill>
                  <a:schemeClr val="accent5"/>
                </a:solidFill>
              </a:rPr>
              <a:t>Cierre de ciclo</a:t>
            </a:r>
            <a:endParaRPr lang="en-US" sz="1050" dirty="0"/>
          </a:p>
        </p:txBody>
      </p:sp>
      <p:sp>
        <p:nvSpPr>
          <p:cNvPr id="9" name="capa-texto-259"/>
          <p:cNvSpPr txBox="1"/>
          <p:nvPr/>
        </p:nvSpPr>
        <p:spPr>
          <a:xfrm>
            <a:off x="2377440" y="2377440"/>
            <a:ext cx="4983480" cy="658368"/>
          </a:xfrm>
          <a:prstGeom prst="rect">
            <a:avLst/>
          </a:prstGeom>
          <a:noFill/>
          <a:ln/>
        </p:spPr>
        <p:txBody>
          <a:bodyPr wrap="square" lIns="0" tIns="0" rIns="0" bIns="0" rtlCol="0" anchor="ctr"/>
          <a:lstStyle/>
          <a:p>
            <a:pPr indent="0" marL="0">
              <a:buNone/>
            </a:pPr>
            <a:r>
              <a:rPr lang="en-US" sz="900" dirty="0">
                <a:solidFill>
                  <a:schemeClr val="tx1"/>
                </a:solidFill>
              </a:rPr>
              <a:t>Cada recomendación tiene responsable, registro de aceptación, ejecución y efecto observado. Ese registro alimenta la calibración y permite medir si el modelo ayuda a decidir.</a:t>
            </a:r>
            <a:endParaRPr lang="en-US" sz="900" dirty="0"/>
          </a:p>
        </p:txBody>
      </p:sp>
      <p:sp>
        <p:nvSpPr>
          <p:cNvPr id="10" name="capa-260"/>
          <p:cNvSpPr/>
          <p:nvPr/>
        </p:nvSpPr>
        <p:spPr>
          <a:xfrm>
            <a:off x="457200" y="3108960"/>
            <a:ext cx="7086600" cy="658368"/>
          </a:xfrm>
          <a:prstGeom prst="roundRect">
            <a:avLst>
              <a:gd name="adj" fmla="val 9722"/>
            </a:avLst>
          </a:prstGeom>
          <a:solidFill>
            <a:schemeClr val="accent4">
              <a:alpha val="12000"/>
            </a:schemeClr>
          </a:solidFill>
          <a:ln/>
        </p:spPr>
      </p:sp>
      <p:sp>
        <p:nvSpPr>
          <p:cNvPr id="11" name="capa-nombre-261"/>
          <p:cNvSpPr txBox="1"/>
          <p:nvPr/>
        </p:nvSpPr>
        <p:spPr>
          <a:xfrm>
            <a:off x="640080" y="3108960"/>
            <a:ext cx="1691640" cy="658368"/>
          </a:xfrm>
          <a:prstGeom prst="rect">
            <a:avLst/>
          </a:prstGeom>
          <a:noFill/>
          <a:ln/>
        </p:spPr>
        <p:txBody>
          <a:bodyPr wrap="square" lIns="0" tIns="0" rIns="0" bIns="0" rtlCol="0" anchor="ctr"/>
          <a:lstStyle/>
          <a:p>
            <a:pPr indent="0" marL="0">
              <a:buNone/>
            </a:pPr>
            <a:r>
              <a:rPr lang="en-US" sz="1050" b="1" dirty="0">
                <a:solidFill>
                  <a:schemeClr val="accent4"/>
                </a:solidFill>
              </a:rPr>
              <a:t>Modelos</a:t>
            </a:r>
            <a:endParaRPr lang="en-US" sz="1050" dirty="0"/>
          </a:p>
        </p:txBody>
      </p:sp>
      <p:sp>
        <p:nvSpPr>
          <p:cNvPr id="12" name="capa-texto-262"/>
          <p:cNvSpPr txBox="1"/>
          <p:nvPr/>
        </p:nvSpPr>
        <p:spPr>
          <a:xfrm>
            <a:off x="2377440" y="3108960"/>
            <a:ext cx="4983480" cy="658368"/>
          </a:xfrm>
          <a:prstGeom prst="rect">
            <a:avLst/>
          </a:prstGeom>
          <a:noFill/>
          <a:ln/>
        </p:spPr>
        <p:txBody>
          <a:bodyPr wrap="square" lIns="0" tIns="0" rIns="0" bIns="0" rtlCol="0" anchor="ctr"/>
          <a:lstStyle/>
          <a:p>
            <a:pPr indent="0" marL="0">
              <a:buNone/>
            </a:pPr>
            <a:r>
              <a:rPr lang="en-US" sz="900" dirty="0">
                <a:solidFill>
                  <a:schemeClr val="tx1"/>
                </a:solidFill>
              </a:rPr>
              <a:t>Modelo poblacional (cadena de Markov mensual con simulación Monte Carlo) y modelo de capacidad (colas y backlog), con versión de parámetros e indicadores de salud.</a:t>
            </a:r>
            <a:endParaRPr lang="en-US" sz="900" dirty="0"/>
          </a:p>
        </p:txBody>
      </p:sp>
      <p:sp>
        <p:nvSpPr>
          <p:cNvPr id="13" name="capa-263"/>
          <p:cNvSpPr/>
          <p:nvPr/>
        </p:nvSpPr>
        <p:spPr>
          <a:xfrm>
            <a:off x="457200" y="3840480"/>
            <a:ext cx="7086600" cy="658368"/>
          </a:xfrm>
          <a:prstGeom prst="roundRect">
            <a:avLst>
              <a:gd name="adj" fmla="val 9722"/>
            </a:avLst>
          </a:prstGeom>
          <a:solidFill>
            <a:schemeClr val="accent3">
              <a:alpha val="12000"/>
            </a:schemeClr>
          </a:solidFill>
          <a:ln/>
        </p:spPr>
      </p:sp>
      <p:sp>
        <p:nvSpPr>
          <p:cNvPr id="14" name="capa-nombre-264"/>
          <p:cNvSpPr txBox="1"/>
          <p:nvPr/>
        </p:nvSpPr>
        <p:spPr>
          <a:xfrm>
            <a:off x="640080" y="3840480"/>
            <a:ext cx="1691640" cy="658368"/>
          </a:xfrm>
          <a:prstGeom prst="rect">
            <a:avLst/>
          </a:prstGeom>
          <a:noFill/>
          <a:ln/>
        </p:spPr>
        <p:txBody>
          <a:bodyPr wrap="square" lIns="0" tIns="0" rIns="0" bIns="0" rtlCol="0" anchor="ctr"/>
          <a:lstStyle/>
          <a:p>
            <a:pPr indent="0" marL="0">
              <a:buNone/>
            </a:pPr>
            <a:r>
              <a:rPr lang="en-US" sz="1050" b="1" dirty="0">
                <a:solidFill>
                  <a:schemeClr val="accent3"/>
                </a:solidFill>
              </a:rPr>
              <a:t>Datos y contratos</a:t>
            </a:r>
            <a:endParaRPr lang="en-US" sz="1050" dirty="0"/>
          </a:p>
        </p:txBody>
      </p:sp>
      <p:sp>
        <p:nvSpPr>
          <p:cNvPr id="15" name="capa-texto-265"/>
          <p:cNvSpPr txBox="1"/>
          <p:nvPr/>
        </p:nvSpPr>
        <p:spPr>
          <a:xfrm>
            <a:off x="2377440" y="3840480"/>
            <a:ext cx="4983480" cy="658368"/>
          </a:xfrm>
          <a:prstGeom prst="rect">
            <a:avLst/>
          </a:prstGeom>
          <a:noFill/>
          <a:ln/>
        </p:spPr>
        <p:txBody>
          <a:bodyPr wrap="square" lIns="0" tIns="0" rIns="0" bIns="0" rtlCol="0" anchor="ctr"/>
          <a:lstStyle/>
          <a:p>
            <a:pPr indent="0" marL="0">
              <a:buNone/>
            </a:pPr>
            <a:r>
              <a:rPr lang="en-US" sz="900" dirty="0">
                <a:solidFill>
                  <a:schemeClr val="tx1"/>
                </a:solidFill>
              </a:rPr>
              <a:t>Agregados federados con supresión de celdas menores a 11, contratos de datos por fuente y catálogo de cohortes y zonas con versión y responsable.</a:t>
            </a:r>
            <a:endParaRPr lang="en-US" sz="900" dirty="0"/>
          </a:p>
        </p:txBody>
      </p:sp>
      <p:sp>
        <p:nvSpPr>
          <p:cNvPr id="16" name="capa-266"/>
          <p:cNvSpPr/>
          <p:nvPr/>
        </p:nvSpPr>
        <p:spPr>
          <a:xfrm>
            <a:off x="457200" y="4846320"/>
            <a:ext cx="7086600" cy="658368"/>
          </a:xfrm>
          <a:prstGeom prst="roundRect">
            <a:avLst>
              <a:gd name="adj" fmla="val 9722"/>
            </a:avLst>
          </a:prstGeom>
          <a:solidFill>
            <a:schemeClr val="accent3">
              <a:alpha val="12000"/>
            </a:schemeClr>
          </a:solidFill>
          <a:ln/>
        </p:spPr>
      </p:sp>
      <p:sp>
        <p:nvSpPr>
          <p:cNvPr id="17" name="capa-nombre-267"/>
          <p:cNvSpPr txBox="1"/>
          <p:nvPr/>
        </p:nvSpPr>
        <p:spPr>
          <a:xfrm>
            <a:off x="640080" y="4846320"/>
            <a:ext cx="1691640" cy="658368"/>
          </a:xfrm>
          <a:prstGeom prst="rect">
            <a:avLst/>
          </a:prstGeom>
          <a:noFill/>
          <a:ln/>
        </p:spPr>
        <p:txBody>
          <a:bodyPr wrap="square" lIns="0" tIns="0" rIns="0" bIns="0" rtlCol="0" anchor="ctr"/>
          <a:lstStyle/>
          <a:p>
            <a:pPr indent="0" marL="0">
              <a:buNone/>
            </a:pPr>
            <a:r>
              <a:rPr lang="en-US" sz="1050" b="1" dirty="0">
                <a:solidFill>
                  <a:schemeClr val="accent3"/>
                </a:solidFill>
              </a:rPr>
              <a:t>Integración</a:t>
            </a:r>
            <a:endParaRPr lang="en-US" sz="1050" dirty="0"/>
          </a:p>
        </p:txBody>
      </p:sp>
      <p:sp>
        <p:nvSpPr>
          <p:cNvPr id="18" name="capa-texto-268"/>
          <p:cNvSpPr txBox="1"/>
          <p:nvPr/>
        </p:nvSpPr>
        <p:spPr>
          <a:xfrm>
            <a:off x="2377440" y="4846320"/>
            <a:ext cx="4983480" cy="658368"/>
          </a:xfrm>
          <a:prstGeom prst="rect">
            <a:avLst/>
          </a:prstGeom>
          <a:noFill/>
          <a:ln/>
        </p:spPr>
        <p:txBody>
          <a:bodyPr wrap="square" lIns="0" tIns="0" rIns="0" bIns="0" rtlCol="0" anchor="ctr"/>
          <a:lstStyle/>
          <a:p>
            <a:pPr indent="0" marL="0">
              <a:buNone/>
            </a:pPr>
            <a:r>
              <a:rPr lang="en-US" sz="900" dirty="0">
                <a:solidFill>
                  <a:schemeClr val="tx1"/>
                </a:solidFill>
              </a:rPr>
              <a:t>Consulta federada sobre OMOP CDM; eventos de agenda por FHIR R4 Subscriptions; estado de zonas y equipos en un espacio de nombres unificado sobre MQTT, sin datos de pacientes.</a:t>
            </a:r>
            <a:endParaRPr lang="en-US" sz="900" dirty="0"/>
          </a:p>
        </p:txBody>
      </p:sp>
      <p:sp>
        <p:nvSpPr>
          <p:cNvPr id="19" name="capa-269"/>
          <p:cNvSpPr/>
          <p:nvPr/>
        </p:nvSpPr>
        <p:spPr>
          <a:xfrm>
            <a:off x="457200" y="5577840"/>
            <a:ext cx="7086600" cy="658368"/>
          </a:xfrm>
          <a:prstGeom prst="roundRect">
            <a:avLst>
              <a:gd name="adj" fmla="val 9722"/>
            </a:avLst>
          </a:prstGeom>
          <a:solidFill>
            <a:schemeClr val="tx1">
              <a:alpha val="8000"/>
            </a:schemeClr>
          </a:solidFill>
          <a:ln/>
        </p:spPr>
      </p:sp>
      <p:sp>
        <p:nvSpPr>
          <p:cNvPr id="20" name="capa-nombre-270"/>
          <p:cNvSpPr txBox="1"/>
          <p:nvPr/>
        </p:nvSpPr>
        <p:spPr>
          <a:xfrm>
            <a:off x="640080" y="5577840"/>
            <a:ext cx="1691640" cy="658368"/>
          </a:xfrm>
          <a:prstGeom prst="rect">
            <a:avLst/>
          </a:prstGeom>
          <a:noFill/>
          <a:ln/>
        </p:spPr>
        <p:txBody>
          <a:bodyPr wrap="square" lIns="0" tIns="0" rIns="0" bIns="0" rtlCol="0" anchor="ctr"/>
          <a:lstStyle/>
          <a:p>
            <a:pPr indent="0" marL="0">
              <a:buNone/>
            </a:pPr>
            <a:r>
              <a:rPr lang="en-US" sz="1050" b="1" dirty="0">
                <a:solidFill>
                  <a:schemeClr val="tx1"/>
                </a:solidFill>
              </a:rPr>
              <a:t>Fuentes en cada Data Partner</a:t>
            </a:r>
            <a:endParaRPr lang="en-US" sz="1050" dirty="0"/>
          </a:p>
        </p:txBody>
      </p:sp>
      <p:sp>
        <p:nvSpPr>
          <p:cNvPr id="21" name="capa-texto-271"/>
          <p:cNvSpPr txBox="1"/>
          <p:nvPr/>
        </p:nvSpPr>
        <p:spPr>
          <a:xfrm>
            <a:off x="2377440" y="5577840"/>
            <a:ext cx="4983480" cy="658368"/>
          </a:xfrm>
          <a:prstGeom prst="rect">
            <a:avLst/>
          </a:prstGeom>
          <a:noFill/>
          <a:ln/>
        </p:spPr>
        <p:txBody>
          <a:bodyPr wrap="square" lIns="0" tIns="0" rIns="0" bIns="0" rtlCol="0" anchor="ctr"/>
          <a:lstStyle/>
          <a:p>
            <a:pPr indent="0" marL="0">
              <a:buNone/>
            </a:pPr>
            <a:r>
              <a:rPr lang="en-US" sz="900" dirty="0">
                <a:solidFill>
                  <a:schemeClr val="tx1"/>
                </a:solidFill>
              </a:rPr>
              <a:t>Historia clínica, agenda, admisión, laboratorio, despacho domiciliario, telemedicina y equipos biomédicos. Cada Data Partner es responsable de su ingesta y de la transformación FHIR → OMOP.</a:t>
            </a:r>
            <a:endParaRPr lang="en-US" sz="900" dirty="0"/>
          </a:p>
        </p:txBody>
      </p:sp>
      <p:sp>
        <p:nvSpPr>
          <p:cNvPr id="22" name="frontera-federada"/>
          <p:cNvSpPr/>
          <p:nvPr/>
        </p:nvSpPr>
        <p:spPr>
          <a:xfrm>
            <a:off x="457200" y="4672584"/>
            <a:ext cx="7086600" cy="0"/>
          </a:xfrm>
          <a:prstGeom prst="line">
            <a:avLst/>
          </a:prstGeom>
          <a:noFill/>
          <a:ln w="15875">
            <a:solidFill>
              <a:srgbClr val="C7354A"/>
            </a:solidFill>
            <a:prstDash val="dash"/>
          </a:ln>
        </p:spPr>
      </p:sp>
      <p:sp>
        <p:nvSpPr>
          <p:cNvPr id="23" name="frontera-fondo"/>
          <p:cNvSpPr/>
          <p:nvPr/>
        </p:nvSpPr>
        <p:spPr>
          <a:xfrm>
            <a:off x="1920240" y="4562856"/>
            <a:ext cx="4160520" cy="219456"/>
          </a:xfrm>
          <a:prstGeom prst="rect">
            <a:avLst/>
          </a:prstGeom>
          <a:solidFill>
            <a:srgbClr val="FFFFFF"/>
          </a:solidFill>
          <a:ln/>
        </p:spPr>
      </p:sp>
      <p:sp>
        <p:nvSpPr>
          <p:cNvPr id="24" name="frontera-texto-272"/>
          <p:cNvSpPr txBox="1"/>
          <p:nvPr/>
        </p:nvSpPr>
        <p:spPr>
          <a:xfrm>
            <a:off x="1920240" y="4562856"/>
            <a:ext cx="4160520" cy="219456"/>
          </a:xfrm>
          <a:prstGeom prst="rect">
            <a:avLst/>
          </a:prstGeom>
          <a:noFill/>
          <a:ln/>
        </p:spPr>
        <p:txBody>
          <a:bodyPr wrap="square" lIns="0" tIns="0" rIns="0" bIns="0" rtlCol="0" anchor="ctr"/>
          <a:lstStyle/>
          <a:p>
            <a:pPr algn="ctr" indent="0" marL="0">
              <a:buNone/>
            </a:pPr>
            <a:r>
              <a:rPr lang="en-US" sz="850" b="1" dirty="0">
                <a:solidFill>
                  <a:schemeClr val="accent6"/>
                </a:solidFill>
              </a:rPr>
              <a:t>Frontera federada: hacia arriba solo circulan agregados y estados operativos</a:t>
            </a:r>
            <a:endParaRPr lang="en-US" sz="850" dirty="0"/>
          </a:p>
        </p:txBody>
      </p:sp>
      <p:sp>
        <p:nvSpPr>
          <p:cNvPr id="25" name="etiqueta-273"/>
          <p:cNvSpPr txBox="1"/>
          <p:nvPr/>
        </p:nvSpPr>
        <p:spPr>
          <a:xfrm>
            <a:off x="7909560" y="1645920"/>
            <a:ext cx="3824935" cy="182880"/>
          </a:xfrm>
          <a:prstGeom prst="rect">
            <a:avLst/>
          </a:prstGeom>
          <a:noFill/>
          <a:ln/>
        </p:spPr>
        <p:txBody>
          <a:bodyPr wrap="square" lIns="0" tIns="0" rIns="0" bIns="0" rtlCol="0" anchor="t"/>
          <a:lstStyle/>
          <a:p>
            <a:pPr indent="0" marL="0">
              <a:buNone/>
            </a:pPr>
            <a:r>
              <a:rPr lang="en-US" sz="800" b="1" spc="50" kern="0" dirty="0">
                <a:solidFill>
                  <a:schemeClr val="accent2"/>
                </a:solidFill>
              </a:rPr>
              <a:t>REFERENTES POR CAPACIDAD</a:t>
            </a:r>
            <a:endParaRPr lang="en-US" sz="800" dirty="0"/>
          </a:p>
        </p:txBody>
      </p:sp>
      <p:pic>
        <p:nvPicPr>
          <p:cNvPr id="26" name="icono-274" descr="preencoded.png">    </p:cNvPr>
          <p:cNvPicPr>
            <a:picLocks noChangeAspect="1"/>
          </p:cNvPicPr>
          <p:nvPr/>
        </p:nvPicPr>
        <p:blipFill>
          <a:blip r:embed="rId1"/>
          <a:stretch>
            <a:fillRect/>
          </a:stretch>
        </p:blipFill>
        <p:spPr>
          <a:xfrm>
            <a:off x="7961864" y="1990832"/>
            <a:ext cx="133137" cy="133137"/>
          </a:xfrm>
          <a:prstGeom prst="rect">
            <a:avLst/>
          </a:prstGeom>
        </p:spPr>
      </p:pic>
      <p:sp>
        <p:nvSpPr>
          <p:cNvPr id="27" name="referente-titulo-275"/>
          <p:cNvSpPr txBox="1"/>
          <p:nvPr/>
        </p:nvSpPr>
        <p:spPr>
          <a:xfrm>
            <a:off x="8238744" y="1920240"/>
            <a:ext cx="3495751" cy="219456"/>
          </a:xfrm>
          <a:prstGeom prst="rect">
            <a:avLst/>
          </a:prstGeom>
          <a:noFill/>
          <a:ln/>
        </p:spPr>
        <p:txBody>
          <a:bodyPr wrap="square" lIns="0" tIns="0" rIns="0" bIns="0" rtlCol="0" anchor="t"/>
          <a:lstStyle/>
          <a:p>
            <a:pPr indent="0" marL="0">
              <a:buNone/>
            </a:pPr>
            <a:r>
              <a:rPr lang="en-US" sz="1000" b="1" dirty="0">
                <a:solidFill>
                  <a:schemeClr val="tx1"/>
                </a:solidFill>
              </a:rPr>
              <a:t>Centro de comando de capacidad</a:t>
            </a:r>
            <a:endParaRPr lang="en-US" sz="1000" dirty="0"/>
          </a:p>
        </p:txBody>
      </p:sp>
      <p:sp>
        <p:nvSpPr>
          <p:cNvPr id="28" name="referente-texto-276"/>
          <p:cNvSpPr txBox="1"/>
          <p:nvPr/>
        </p:nvSpPr>
        <p:spPr>
          <a:xfrm>
            <a:off x="8238744" y="2148840"/>
            <a:ext cx="3495751" cy="566928"/>
          </a:xfrm>
          <a:prstGeom prst="rect">
            <a:avLst/>
          </a:prstGeom>
          <a:noFill/>
          <a:ln/>
        </p:spPr>
        <p:txBody>
          <a:bodyPr wrap="square" lIns="0" tIns="0" rIns="0" bIns="0" rtlCol="0" anchor="t"/>
          <a:lstStyle/>
          <a:p>
            <a:pPr indent="0" marL="0">
              <a:buNone/>
            </a:pPr>
            <a:r>
              <a:rPr lang="en-US" sz="900" dirty="0">
                <a:solidFill>
                  <a:schemeClr val="tx2"/>
                </a:solidFill>
              </a:rPr>
              <a:t>Johns Hopkins Hospital con GE HealthCare (2016): visión unificada de camas, flujo y alertas para decidir en tiempo real.</a:t>
            </a:r>
            <a:endParaRPr lang="en-US" sz="900" dirty="0"/>
          </a:p>
        </p:txBody>
      </p:sp>
      <p:pic>
        <p:nvPicPr>
          <p:cNvPr id="29" name="icono-277" descr="preencoded.png">    </p:cNvPr>
          <p:cNvPicPr>
            <a:picLocks noChangeAspect="1"/>
          </p:cNvPicPr>
          <p:nvPr/>
        </p:nvPicPr>
        <p:blipFill>
          <a:blip r:embed="rId2"/>
          <a:stretch>
            <a:fillRect/>
          </a:stretch>
        </p:blipFill>
        <p:spPr>
          <a:xfrm>
            <a:off x="7961864" y="2886944"/>
            <a:ext cx="133137" cy="133137"/>
          </a:xfrm>
          <a:prstGeom prst="rect">
            <a:avLst/>
          </a:prstGeom>
        </p:spPr>
      </p:pic>
      <p:sp>
        <p:nvSpPr>
          <p:cNvPr id="30" name="referente-titulo-278"/>
          <p:cNvSpPr txBox="1"/>
          <p:nvPr/>
        </p:nvSpPr>
        <p:spPr>
          <a:xfrm>
            <a:off x="8238744" y="2816352"/>
            <a:ext cx="3495751" cy="219456"/>
          </a:xfrm>
          <a:prstGeom prst="rect">
            <a:avLst/>
          </a:prstGeom>
          <a:noFill/>
          <a:ln/>
        </p:spPr>
        <p:txBody>
          <a:bodyPr wrap="square" lIns="0" tIns="0" rIns="0" bIns="0" rtlCol="0" anchor="t"/>
          <a:lstStyle/>
          <a:p>
            <a:pPr indent="0" marL="0">
              <a:buNone/>
            </a:pPr>
            <a:r>
              <a:rPr lang="en-US" sz="1000" b="1" dirty="0">
                <a:solidFill>
                  <a:schemeClr val="tx1"/>
                </a:solidFill>
              </a:rPr>
              <a:t>Gemelo operativo hospitalario</a:t>
            </a:r>
            <a:endParaRPr lang="en-US" sz="1000" dirty="0"/>
          </a:p>
        </p:txBody>
      </p:sp>
      <p:sp>
        <p:nvSpPr>
          <p:cNvPr id="31" name="referente-texto-279"/>
          <p:cNvSpPr txBox="1"/>
          <p:nvPr/>
        </p:nvSpPr>
        <p:spPr>
          <a:xfrm>
            <a:off x="8238744" y="3044952"/>
            <a:ext cx="3495751" cy="566928"/>
          </a:xfrm>
          <a:prstGeom prst="rect">
            <a:avLst/>
          </a:prstGeom>
          <a:noFill/>
          <a:ln/>
        </p:spPr>
        <p:txBody>
          <a:bodyPr wrap="square" lIns="0" tIns="0" rIns="0" bIns="0" rtlCol="0" anchor="t"/>
          <a:lstStyle/>
          <a:p>
            <a:pPr indent="0" marL="0">
              <a:buNone/>
            </a:pPr>
            <a:r>
              <a:rPr lang="en-US" sz="900" dirty="0">
                <a:solidFill>
                  <a:schemeClr val="tx2"/>
                </a:solidFill>
              </a:rPr>
              <a:t>Tampa General Hospital, CareComm: centro de comando que integra datos operativos y modelos predictivos de demanda.</a:t>
            </a:r>
            <a:endParaRPr lang="en-US" sz="900" dirty="0"/>
          </a:p>
        </p:txBody>
      </p:sp>
      <p:pic>
        <p:nvPicPr>
          <p:cNvPr id="32" name="icono-280" descr="preencoded.png">    </p:cNvPr>
          <p:cNvPicPr>
            <a:picLocks noChangeAspect="1"/>
          </p:cNvPicPr>
          <p:nvPr/>
        </p:nvPicPr>
        <p:blipFill>
          <a:blip r:embed="rId3"/>
          <a:stretch>
            <a:fillRect/>
          </a:stretch>
        </p:blipFill>
        <p:spPr>
          <a:xfrm>
            <a:off x="7961864" y="3783056"/>
            <a:ext cx="133137" cy="133137"/>
          </a:xfrm>
          <a:prstGeom prst="rect">
            <a:avLst/>
          </a:prstGeom>
        </p:spPr>
      </p:pic>
      <p:sp>
        <p:nvSpPr>
          <p:cNvPr id="33" name="referente-titulo-281"/>
          <p:cNvSpPr txBox="1"/>
          <p:nvPr/>
        </p:nvSpPr>
        <p:spPr>
          <a:xfrm>
            <a:off x="8238744" y="3712464"/>
            <a:ext cx="3495751" cy="219456"/>
          </a:xfrm>
          <a:prstGeom prst="rect">
            <a:avLst/>
          </a:prstGeom>
          <a:noFill/>
          <a:ln/>
        </p:spPr>
        <p:txBody>
          <a:bodyPr wrap="square" lIns="0" tIns="0" rIns="0" bIns="0" rtlCol="0" anchor="t"/>
          <a:lstStyle/>
          <a:p>
            <a:pPr indent="0" marL="0">
              <a:buNone/>
            </a:pPr>
            <a:r>
              <a:rPr lang="en-US" sz="1000" b="1" dirty="0">
                <a:solidFill>
                  <a:schemeClr val="tx1"/>
                </a:solidFill>
              </a:rPr>
              <a:t>Red federada OMOP</a:t>
            </a:r>
            <a:endParaRPr lang="en-US" sz="1000" dirty="0"/>
          </a:p>
        </p:txBody>
      </p:sp>
      <p:sp>
        <p:nvSpPr>
          <p:cNvPr id="34" name="referente-texto-282"/>
          <p:cNvSpPr txBox="1"/>
          <p:nvPr/>
        </p:nvSpPr>
        <p:spPr>
          <a:xfrm>
            <a:off x="8238744" y="3941064"/>
            <a:ext cx="3495751" cy="566928"/>
          </a:xfrm>
          <a:prstGeom prst="rect">
            <a:avLst/>
          </a:prstGeom>
          <a:noFill/>
          <a:ln/>
        </p:spPr>
        <p:txBody>
          <a:bodyPr wrap="square" lIns="0" tIns="0" rIns="0" bIns="0" rtlCol="0" anchor="t"/>
          <a:lstStyle/>
          <a:p>
            <a:pPr indent="0" marL="0">
              <a:buNone/>
            </a:pPr>
            <a:r>
              <a:rPr lang="en-US" sz="900" dirty="0">
                <a:solidFill>
                  <a:schemeClr val="tx2"/>
                </a:solidFill>
              </a:rPr>
              <a:t>EHDEN y OHDSI: 187 Data Partners en 29 países ejecutan análisis sin mover datos de pacientes.</a:t>
            </a:r>
            <a:endParaRPr lang="en-US" sz="900" dirty="0"/>
          </a:p>
        </p:txBody>
      </p:sp>
      <p:pic>
        <p:nvPicPr>
          <p:cNvPr id="35" name="icono-283" descr="preencoded.png">    </p:cNvPr>
          <p:cNvPicPr>
            <a:picLocks noChangeAspect="1"/>
          </p:cNvPicPr>
          <p:nvPr/>
        </p:nvPicPr>
        <p:blipFill>
          <a:blip r:embed="rId4"/>
          <a:stretch>
            <a:fillRect/>
          </a:stretch>
        </p:blipFill>
        <p:spPr>
          <a:xfrm>
            <a:off x="7961864" y="4679168"/>
            <a:ext cx="133137" cy="133137"/>
          </a:xfrm>
          <a:prstGeom prst="rect">
            <a:avLst/>
          </a:prstGeom>
        </p:spPr>
      </p:pic>
      <p:sp>
        <p:nvSpPr>
          <p:cNvPr id="36" name="referente-titulo-284"/>
          <p:cNvSpPr txBox="1"/>
          <p:nvPr/>
        </p:nvSpPr>
        <p:spPr>
          <a:xfrm>
            <a:off x="8238744" y="4608576"/>
            <a:ext cx="3495751" cy="219456"/>
          </a:xfrm>
          <a:prstGeom prst="rect">
            <a:avLst/>
          </a:prstGeom>
          <a:noFill/>
          <a:ln/>
        </p:spPr>
        <p:txBody>
          <a:bodyPr wrap="square" lIns="0" tIns="0" rIns="0" bIns="0" rtlCol="0" anchor="t"/>
          <a:lstStyle/>
          <a:p>
            <a:pPr indent="0" marL="0">
              <a:buNone/>
            </a:pPr>
            <a:r>
              <a:rPr lang="en-US" sz="1000" b="1" dirty="0">
                <a:solidFill>
                  <a:schemeClr val="tx1"/>
                </a:solidFill>
              </a:rPr>
              <a:t>Seguridad de equipos conectados</a:t>
            </a:r>
            <a:endParaRPr lang="en-US" sz="1000" dirty="0"/>
          </a:p>
        </p:txBody>
      </p:sp>
      <p:sp>
        <p:nvSpPr>
          <p:cNvPr id="37" name="referente-texto-285"/>
          <p:cNvSpPr txBox="1"/>
          <p:nvPr/>
        </p:nvSpPr>
        <p:spPr>
          <a:xfrm>
            <a:off x="8238744" y="4837176"/>
            <a:ext cx="3495751" cy="566928"/>
          </a:xfrm>
          <a:prstGeom prst="rect">
            <a:avLst/>
          </a:prstGeom>
          <a:noFill/>
          <a:ln/>
        </p:spPr>
        <p:txBody>
          <a:bodyPr wrap="square" lIns="0" tIns="0" rIns="0" bIns="0" rtlCol="0" anchor="t"/>
          <a:lstStyle/>
          <a:p>
            <a:pPr indent="0" marL="0">
              <a:buNone/>
            </a:pPr>
            <a:r>
              <a:rPr lang="en-US" sz="900" dirty="0">
                <a:solidFill>
                  <a:schemeClr val="tx2"/>
                </a:solidFill>
              </a:rPr>
              <a:t>Hospital Sírio-Libanês con NTT DATA y Claroty: inventario y monitoreo de dispositivos médicos y OT.</a:t>
            </a:r>
            <a:endParaRPr lang="en-US" sz="900" dirty="0"/>
          </a:p>
        </p:txBody>
      </p:sp>
      <p:pic>
        <p:nvPicPr>
          <p:cNvPr id="38" name="icono-286" descr="preencoded.png">    </p:cNvPr>
          <p:cNvPicPr>
            <a:picLocks noChangeAspect="1"/>
          </p:cNvPicPr>
          <p:nvPr/>
        </p:nvPicPr>
        <p:blipFill>
          <a:blip r:embed="rId5"/>
          <a:stretch>
            <a:fillRect/>
          </a:stretch>
        </p:blipFill>
        <p:spPr>
          <a:xfrm>
            <a:off x="7961864" y="5575280"/>
            <a:ext cx="133137" cy="133137"/>
          </a:xfrm>
          <a:prstGeom prst="rect">
            <a:avLst/>
          </a:prstGeom>
        </p:spPr>
      </p:pic>
      <p:sp>
        <p:nvSpPr>
          <p:cNvPr id="39" name="referente-titulo-287"/>
          <p:cNvSpPr txBox="1"/>
          <p:nvPr/>
        </p:nvSpPr>
        <p:spPr>
          <a:xfrm>
            <a:off x="8238744" y="5504688"/>
            <a:ext cx="3495751" cy="219456"/>
          </a:xfrm>
          <a:prstGeom prst="rect">
            <a:avLst/>
          </a:prstGeom>
          <a:noFill/>
          <a:ln/>
        </p:spPr>
        <p:txBody>
          <a:bodyPr wrap="square" lIns="0" tIns="0" rIns="0" bIns="0" rtlCol="0" anchor="t"/>
          <a:lstStyle/>
          <a:p>
            <a:pPr indent="0" marL="0">
              <a:buNone/>
            </a:pPr>
            <a:r>
              <a:rPr lang="en-US" sz="1000" b="1" dirty="0">
                <a:solidFill>
                  <a:schemeClr val="tx1"/>
                </a:solidFill>
              </a:rPr>
              <a:t>Operación física (fase posterior)</a:t>
            </a:r>
            <a:endParaRPr lang="en-US" sz="1000" dirty="0"/>
          </a:p>
        </p:txBody>
      </p:sp>
      <p:sp>
        <p:nvSpPr>
          <p:cNvPr id="40" name="referente-texto-288"/>
          <p:cNvSpPr txBox="1"/>
          <p:nvPr/>
        </p:nvSpPr>
        <p:spPr>
          <a:xfrm>
            <a:off x="8238744" y="5733288"/>
            <a:ext cx="3495751" cy="566928"/>
          </a:xfrm>
          <a:prstGeom prst="rect">
            <a:avLst/>
          </a:prstGeom>
          <a:noFill/>
          <a:ln/>
        </p:spPr>
        <p:txBody>
          <a:bodyPr wrap="square" lIns="0" tIns="0" rIns="0" bIns="0" rtlCol="0" anchor="t"/>
          <a:lstStyle/>
          <a:p>
            <a:pPr indent="0" marL="0">
              <a:buNone/>
            </a:pPr>
            <a:r>
              <a:rPr lang="en-US" sz="900" dirty="0">
                <a:solidFill>
                  <a:schemeClr val="tx2"/>
                </a:solidFill>
              </a:rPr>
              <a:t>Robots de logística clínica, como Moxi de Diligent Robotics, para tareas de transporte dentro de la sede.</a:t>
            </a:r>
            <a:endParaRPr lang="en-US" sz="90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Los parámetros sintéticos se apoyan en evidencia publicada y cada uno tiene una fuente de calibración definida en SURA</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La demostración usa valores plausibles; la fase de calibración los reemplaza por datos agregados de la población de SURA.</a:t>
            </a:r>
            <a:endParaRPr lang="en-US" sz="1250" dirty="0"/>
          </a:p>
        </p:txBody>
      </p:sp>
      <p:graphicFrame>
        <p:nvGraphicFramePr>
          <p:cNvPr id="14" name="tabla-supuestos"/>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1783080"/>
                <a:gridCol w="2240280"/>
                <a:gridCol w="2880360"/>
                <a:gridCol w="2240280"/>
                <a:gridCol w="2133295"/>
              </a:tblGrid>
              <a:tr h="292608">
                <a:tc>
                  <a:txBody>
                    <a:bodyPr/>
                    <a:lstStyle/>
                    <a:p>
                      <a:pPr indent="0" marL="0">
                        <a:buNone/>
                      </a:pPr>
                      <a:r>
                        <a:rPr lang="en-US" sz="850" b="1" dirty="0">
                          <a:solidFill>
                            <a:schemeClr val="bg1"/>
                          </a:solidFill>
                          <a:latin typeface="Arial" pitchFamily="34" charset="0"/>
                          <a:ea typeface="Arial" pitchFamily="34" charset="-122"/>
                          <a:cs typeface="Arial" pitchFamily="34" charset="-120"/>
                        </a:rPr>
                        <a:t>Parámetro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solidFill>
                      <a:schemeClr val="tx1"/>
                    </a:solidFill>
                  </a:tcPr>
                </a:tc>
                <a:tc>
                  <a:txBody>
                    <a:bodyPr/>
                    <a:lstStyle/>
                    <a:p>
                      <a:pPr indent="0" marL="0">
                        <a:buNone/>
                      </a:pPr>
                      <a:r>
                        <a:rPr lang="en-US" sz="850" b="1" dirty="0">
                          <a:solidFill>
                            <a:schemeClr val="bg1"/>
                          </a:solidFill>
                          <a:latin typeface="Arial" pitchFamily="34" charset="0"/>
                          <a:ea typeface="Arial" pitchFamily="34" charset="-122"/>
                          <a:cs typeface="Arial" pitchFamily="34" charset="-120"/>
                        </a:rPr>
                        <a:t>Para qué sirve en el modelo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solidFill>
                      <a:schemeClr val="tx1"/>
                    </a:solidFill>
                  </a:tcPr>
                </a:tc>
                <a:tc>
                  <a:txBody>
                    <a:bodyPr/>
                    <a:lstStyle/>
                    <a:p>
                      <a:pPr indent="0" marL="0">
                        <a:buNone/>
                      </a:pPr>
                      <a:r>
                        <a:rPr lang="en-US" sz="850" b="1" dirty="0">
                          <a:solidFill>
                            <a:schemeClr val="bg1"/>
                          </a:solidFill>
                          <a:latin typeface="Arial" pitchFamily="34" charset="0"/>
                          <a:ea typeface="Arial" pitchFamily="34" charset="-122"/>
                          <a:cs typeface="Arial" pitchFamily="34" charset="-120"/>
                        </a:rPr>
                        <a:t>Valor en la demostración</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solidFill>
                      <a:schemeClr val="tx1"/>
                    </a:solidFill>
                  </a:tcPr>
                </a:tc>
                <a:tc>
                  <a:txBody>
                    <a:bodyPr/>
                    <a:lstStyle/>
                    <a:p>
                      <a:pPr indent="0" marL="0">
                        <a:buNone/>
                      </a:pPr>
                      <a:r>
                        <a:rPr lang="en-US" sz="850" b="1" dirty="0">
                          <a:solidFill>
                            <a:schemeClr val="bg1"/>
                          </a:solidFill>
                          <a:latin typeface="Arial" pitchFamily="34" charset="0"/>
                          <a:ea typeface="Arial" pitchFamily="34" charset="-122"/>
                          <a:cs typeface="Arial" pitchFamily="34" charset="-120"/>
                        </a:rPr>
                        <a:t>Base de evidencia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solidFill>
                      <a:schemeClr val="tx1"/>
                    </a:solidFill>
                  </a:tcPr>
                </a:tc>
                <a:tc>
                  <a:txBody>
                    <a:bodyPr/>
                    <a:lstStyle/>
                    <a:p>
                      <a:pPr indent="0" marL="0">
                        <a:buNone/>
                      </a:pPr>
                      <a:r>
                        <a:rPr lang="en-US" sz="850" b="1" dirty="0">
                          <a:solidFill>
                            <a:schemeClr val="bg1"/>
                          </a:solidFill>
                          <a:latin typeface="Arial" pitchFamily="34" charset="0"/>
                          <a:ea typeface="Arial" pitchFamily="34" charset="-122"/>
                          <a:cs typeface="Arial" pitchFamily="34" charset="-120"/>
                        </a:rPr>
                        <a:t>Calibración en SURA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solidFill>
                      <a:schemeClr val="tx1"/>
                    </a:solidFill>
                  </a:tcPr>
                </a:tc>
              </a:tr>
              <a:tr h="457200">
                <a:tc>
                  <a:txBody>
                    <a:bodyPr/>
                    <a:lstStyle/>
                    <a:p>
                      <a:pPr indent="0" marL="0">
                        <a:buNone/>
                      </a:pPr>
                      <a:r>
                        <a:rPr lang="en-US" sz="850" b="1" dirty="0">
                          <a:solidFill>
                            <a:schemeClr val="tx1"/>
                          </a:solidFill>
                          <a:latin typeface="Arial" pitchFamily="34" charset="0"/>
                          <a:ea typeface="Arial" pitchFamily="34" charset="-122"/>
                          <a:cs typeface="Arial" pitchFamily="34" charset="-120"/>
                        </a:rPr>
                        <a:t>Prevalencia por cohorte</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Define cuántas personas tiene cada cohorte en cada celda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HTA 14,0 %, DM2 5,0 %, ERC G3a–G4 y EPOC 1,5 %, IC 1,2 % de adultos; 18 perfiles de multimorbilidad</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Cuenta de Alto Costo, Encuesta Nacional de Salud, PREPOCOL</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Cohortes y registros CAC de EPS SURA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438912">
                <a:tc>
                  <a:txBody>
                    <a:bodyPr/>
                    <a:lstStyle/>
                    <a:p>
                      <a:pPr indent="0" marL="0">
                        <a:buNone/>
                      </a:pPr>
                      <a:r>
                        <a:rPr lang="en-US" sz="850" b="1" dirty="0">
                          <a:solidFill>
                            <a:schemeClr val="tx1"/>
                          </a:solidFill>
                          <a:latin typeface="Arial" pitchFamily="34" charset="0"/>
                          <a:ea typeface="Arial" pitchFamily="34" charset="-122"/>
                          <a:cs typeface="Arial" pitchFamily="34" charset="-120"/>
                        </a:rPr>
                        <a:t>Estratos y transiciones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Mueve a las personas entre niveles de control mes a mes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Cuatro estratos por cohorte con criterios KDIGO, GOLD y NYHA; matrices anuales con y sin gestión</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Historia natural publicada y juicio clínico experto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Trayectorias observadas en OMOP, 12 a 24 meses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84048">
                <a:tc>
                  <a:txBody>
                    <a:bodyPr/>
                    <a:lstStyle/>
                    <a:p>
                      <a:pPr indent="0" marL="0">
                        <a:buNone/>
                      </a:pPr>
                      <a:r>
                        <a:rPr lang="en-US" sz="850" b="1" dirty="0">
                          <a:solidFill>
                            <a:schemeClr val="tx1"/>
                          </a:solidFill>
                          <a:latin typeface="Arial" pitchFamily="34" charset="0"/>
                          <a:ea typeface="Arial" pitchFamily="34" charset="-122"/>
                          <a:cs typeface="Arial" pitchFamily="34" charset="-120"/>
                        </a:rPr>
                        <a:t>Efecto de la gestión del riesgo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Reduce el uso de servicios dentro de cada estrato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Efecto residual por estrato con distribución PERT</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Kruis 2013, Lenferink 2017, McAlister 2004, Tricco 2012</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Cohortes con y sin programa, ajustadas por riesgo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29184">
                <a:tc>
                  <a:txBody>
                    <a:bodyPr/>
                    <a:lstStyle/>
                    <a:p>
                      <a:pPr indent="0" marL="0">
                        <a:buNone/>
                      </a:pPr>
                      <a:r>
                        <a:rPr lang="en-US" sz="850" b="1" dirty="0">
                          <a:solidFill>
                            <a:schemeClr val="tx1"/>
                          </a:solidFill>
                          <a:latin typeface="Arial" pitchFamily="34" charset="0"/>
                          <a:ea typeface="Arial" pitchFamily="34" charset="-122"/>
                          <a:cs typeface="Arial" pitchFamily="34" charset="-120"/>
                        </a:rPr>
                        <a:t>Fracción CSCA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Limita qué hospitalizaciones puede evitar el programa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25 % a 55 % según cohorte</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AHRQ Prevention Quality Indicators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Egresos por diagnóstico principal</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84048">
                <a:tc>
                  <a:txBody>
                    <a:bodyPr/>
                    <a:lstStyle/>
                    <a:p>
                      <a:pPr indent="0" marL="0">
                        <a:buNone/>
                      </a:pPr>
                      <a:r>
                        <a:rPr lang="en-US" sz="850" b="1" dirty="0">
                          <a:solidFill>
                            <a:schemeClr val="tx1"/>
                          </a:solidFill>
                          <a:latin typeface="Arial" pitchFamily="34" charset="0"/>
                          <a:ea typeface="Arial" pitchFamily="34" charset="-122"/>
                          <a:cs typeface="Arial" pitchFamily="34" charset="-120"/>
                        </a:rPr>
                        <a:t>Desvío a canal virtual y retorno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Decide qué atenciones salen de la sede y cuántas regresan</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Proporción por tipo de atención con retorno a consulta presencial</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Inglis 2015, Tucker 2017, Janjua 2021</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Registros de teleconsulta y desenlace</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84048">
                <a:tc>
                  <a:txBody>
                    <a:bodyPr/>
                    <a:lstStyle/>
                    <a:p>
                      <a:pPr indent="0" marL="0">
                        <a:buNone/>
                      </a:pPr>
                      <a:r>
                        <a:rPr lang="en-US" sz="850" b="1" dirty="0">
                          <a:solidFill>
                            <a:schemeClr val="tx1"/>
                          </a:solidFill>
                          <a:latin typeface="Arial" pitchFamily="34" charset="0"/>
                          <a:ea typeface="Arial" pitchFamily="34" charset="-122"/>
                          <a:cs typeface="Arial" pitchFamily="34" charset="-120"/>
                        </a:rPr>
                        <a:t>Colas y backlog</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Convierte demanda en espera y oportunidad de cita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Erlang C con ajuste de Allen-Cunneen; backlog diario con 120 réplicas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Teoría de colas para servicios de salud</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Agenda, admisión y tiempos de servicio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29184">
                <a:tc>
                  <a:txBody>
                    <a:bodyPr/>
                    <a:lstStyle/>
                    <a:p>
                      <a:pPr indent="0" marL="0">
                        <a:buNone/>
                      </a:pPr>
                      <a:r>
                        <a:rPr lang="en-US" sz="850" b="1" dirty="0">
                          <a:solidFill>
                            <a:schemeClr val="tx1"/>
                          </a:solidFill>
                          <a:latin typeface="Arial" pitchFamily="34" charset="0"/>
                          <a:ea typeface="Arial" pitchFamily="34" charset="-122"/>
                          <a:cs typeface="Arial" pitchFamily="34" charset="-120"/>
                        </a:rPr>
                        <a:t>Inasistencia y sobreagenda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Ajusta la capacidad efectiva de las zonas con cita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14 % a 18 % por sede; recordatorios restan 4 puntos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Supuesto sintético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Agenda por sede y franja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84048">
                <a:tc>
                  <a:txBody>
                    <a:bodyPr/>
                    <a:lstStyle/>
                    <a:p>
                      <a:pPr indent="0" marL="0">
                        <a:buNone/>
                      </a:pPr>
                      <a:r>
                        <a:rPr lang="en-US" sz="850" b="1" dirty="0">
                          <a:solidFill>
                            <a:schemeClr val="tx1"/>
                          </a:solidFill>
                          <a:latin typeface="Arial" pitchFamily="34" charset="0"/>
                          <a:ea typeface="Arial" pitchFamily="34" charset="-122"/>
                          <a:cs typeface="Arial" pitchFamily="34" charset="-120"/>
                        </a:rPr>
                        <a:t>Metas de servicio</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Definen cuándo una zona está tensionada o saturada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Oportunidad de 3 días para consulta externa; esperas por zona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Resolución 1552 de 2013; metas de zona supuestas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Definición de SURA por zona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r h="384048">
                <a:tc>
                  <a:txBody>
                    <a:bodyPr/>
                    <a:lstStyle/>
                    <a:p>
                      <a:pPr indent="0" marL="0">
                        <a:buNone/>
                      </a:pPr>
                      <a:r>
                        <a:rPr lang="en-US" sz="850" b="1" dirty="0">
                          <a:solidFill>
                            <a:schemeClr val="tx1"/>
                          </a:solidFill>
                          <a:latin typeface="Arial" pitchFamily="34" charset="0"/>
                          <a:ea typeface="Arial" pitchFamily="34" charset="-122"/>
                          <a:cs typeface="Arial" pitchFamily="34" charset="-120"/>
                        </a:rPr>
                        <a:t>Calendario y costos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2"/>
                          </a:solidFill>
                          <a:latin typeface="Arial" pitchFamily="34" charset="0"/>
                          <a:ea typeface="Arial" pitchFamily="34" charset="-122"/>
                          <a:cs typeface="Arial" pitchFamily="34" charset="-120"/>
                        </a:rPr>
                        <a:t>Fijan días operativos y valor de cada atención</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2027 con 18 festivos y sábado de media jornada; costos unitarios sintéticos</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accent4"/>
                          </a:solidFill>
                          <a:latin typeface="Arial" pitchFamily="34" charset="0"/>
                          <a:ea typeface="Arial" pitchFamily="34" charset="-122"/>
                          <a:cs typeface="Arial" pitchFamily="34" charset="-120"/>
                        </a:rPr>
                        <a:t>Calendario oficial de Colombia</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c>
                  <a:txBody>
                    <a:bodyPr/>
                    <a:lstStyle/>
                    <a:p>
                      <a:pPr indent="0" marL="0">
                        <a:buNone/>
                      </a:pPr>
                      <a:r>
                        <a:rPr lang="en-US" sz="850" dirty="0">
                          <a:solidFill>
                            <a:schemeClr val="tx1"/>
                          </a:solidFill>
                          <a:latin typeface="Arial" pitchFamily="34" charset="0"/>
                          <a:ea typeface="Arial" pitchFamily="34" charset="-122"/>
                          <a:cs typeface="Arial" pitchFamily="34" charset="-120"/>
                        </a:rPr>
                        <a:t>Tarifas, UPC y costos por canal</a:t>
                      </a:r>
                      <a:endParaRPr lang="en-US" sz="850" dirty="0">
                        <a:latin typeface="Arial" charset="0"/>
                        <a:ea typeface="Arial" charset="0"/>
                        <a:cs typeface="Arial" charset="0"/>
                      </a:endParaRPr>
                    </a:p>
                  </a:txBody>
                  <a:tcPr marL="63500" marR="63500" marT="38100" marB="38100" anchor="ctr">
                    <a:lnL w="6350" cap="flat" cmpd="sng" algn="ctr">
                      <a:solidFill>
                        <a:srgbClr val="D5DCE5"/>
                      </a:solidFill>
                      <a:prstDash val="solid"/>
                      <a:round/>
                      <a:headEnd type="none" w="med" len="med"/>
                      <a:tailEnd type="none" w="med" len="med"/>
                    </a:lnL>
                    <a:lnR w="6350" cap="flat" cmpd="sng" algn="ctr">
                      <a:solidFill>
                        <a:srgbClr val="D5DCE5"/>
                      </a:solidFill>
                      <a:prstDash val="solid"/>
                      <a:round/>
                      <a:headEnd type="none" w="med" len="med"/>
                      <a:tailEnd type="none" w="med" len="med"/>
                    </a:lnR>
                    <a:lnT w="6350" cap="flat" cmpd="sng" algn="ctr">
                      <a:solidFill>
                        <a:srgbClr val="D5DCE5"/>
                      </a:solidFill>
                      <a:prstDash val="solid"/>
                      <a:round/>
                      <a:headEnd type="none" w="med" len="med"/>
                      <a:tailEnd type="none" w="med" len="med"/>
                    </a:lnT>
                    <a:lnB w="6350" cap="flat" cmpd="sng" algn="ctr">
                      <a:solidFill>
                        <a:srgbClr val="D5DCE5"/>
                      </a:solidFill>
                      <a:prstDash val="solid"/>
                      <a:round/>
                      <a:headEnd type="none" w="med" len="med"/>
                      <a:tailEnd type="none" w="med" len="med"/>
                    </a:lnB>
                  </a:tcPr>
                </a:tc>
              </a:tr>
            </a:tbl>
          </a:graphicData>
        </a:graphic>
      </p:graphicFrame>
      <p:sp>
        <p:nvSpPr>
          <p:cNvPr id="5" name="referencias-289"/>
          <p:cNvSpPr txBox="1"/>
          <p:nvPr/>
        </p:nvSpPr>
        <p:spPr>
          <a:xfrm>
            <a:off x="457200" y="5943600"/>
            <a:ext cx="11277295" cy="320040"/>
          </a:xfrm>
          <a:prstGeom prst="rect">
            <a:avLst/>
          </a:prstGeom>
          <a:noFill/>
          <a:ln/>
        </p:spPr>
        <p:txBody>
          <a:bodyPr wrap="square" lIns="0" tIns="0" rIns="0" bIns="0" rtlCol="0" anchor="t"/>
          <a:lstStyle/>
          <a:p>
            <a:pPr indent="0" marL="0">
              <a:buNone/>
            </a:pPr>
            <a:r>
              <a:rPr lang="en-US" sz="750" dirty="0">
                <a:solidFill>
                  <a:schemeClr val="tx2"/>
                </a:solidFill>
              </a:rPr>
              <a:t>Kruis et al., Cochrane 2013 (EPOC); Lenferink et al., Cochrane 2017 (autogestión en EPOC); McAlister et al., JACC 2004 (IC); Tricco et al., Lancet 2012 (DM2); Inglis et al., Cochrane 2015 (telemonitoreo en IC); Tucker et al., PLoS Med 2017 (automonitoreo de presión arterial); Janjua et al., Cochrane 2021 (telemonitoreo en EPOC).</a:t>
            </a:r>
            <a:endParaRPr lang="en-US" sz="7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7295" cy="841248"/>
          </a:xfrm>
          <a:prstGeom prst="rect">
            <a:avLst/>
          </a:prstGeom>
          <a:noFill/>
          <a:ln/>
        </p:spPr>
        <p:txBody>
          <a:bodyPr wrap="square" lIns="0" tIns="0" rIns="0" bIns="0" rtlCol="0" anchor="t"/>
          <a:lstStyle/>
          <a:p>
            <a:pPr algn="l" indent="0" marL="0">
              <a:lnSpc>
                <a:spcPct val="95000"/>
              </a:lnSpc>
              <a:buNone/>
            </a:pPr>
            <a:r>
              <a:rPr lang="en-US" sz="2300" b="1" dirty="0">
                <a:solidFill>
                  <a:schemeClr val="tx1"/>
                </a:solidFill>
              </a:rPr>
              <a:t>La hoja de ruta lleva el modelo a sombra digital en dos sedes y a gemelo con cierre de ciclo en el Release 1.0</a:t>
            </a:r>
            <a:endParaRPr lang="en-US" sz="2300" dirty="0"/>
          </a:p>
        </p:txBody>
      </p:sp>
      <p:sp>
        <p:nvSpPr>
          <p:cNvPr id="3" name="Text 0"/>
          <p:cNvSpPr/>
          <p:nvPr>
            <p:ph idx="101" type="body" hasCustomPrompt="1"/>
          </p:nvPr>
        </p:nvSpPr>
        <p:spPr>
          <a:xfrm>
            <a:off x="457200" y="1133856"/>
            <a:ext cx="11277295" cy="384048"/>
          </a:xfrm>
          <a:prstGeom prst="rect">
            <a:avLst/>
          </a:prstGeom>
          <a:noFill/>
          <a:ln/>
        </p:spPr>
        <p:txBody>
          <a:bodyPr wrap="square" lIns="0" tIns="0" rIns="0" bIns="0" rtlCol="0" anchor="t"/>
          <a:lstStyle/>
          <a:p>
            <a:pPr algn="l" indent="0" marL="0">
              <a:buNone/>
            </a:pPr>
            <a:r>
              <a:rPr lang="en-US" sz="1250" dirty="0">
                <a:solidFill>
                  <a:schemeClr val="tx2"/>
                </a:solidFill>
              </a:rPr>
              <a:t>Cada fase termina con un criterio de avance medible; las duraciones son estimadas y se ajustan con el acceso a datos.</a:t>
            </a:r>
            <a:endParaRPr lang="en-US" sz="1250" dirty="0"/>
          </a:p>
        </p:txBody>
      </p:sp>
      <p:sp>
        <p:nvSpPr>
          <p:cNvPr id="4" name="fase-290"/>
          <p:cNvSpPr/>
          <p:nvPr/>
        </p:nvSpPr>
        <p:spPr>
          <a:xfrm>
            <a:off x="457200" y="1645920"/>
            <a:ext cx="2647874" cy="3749040"/>
          </a:xfrm>
          <a:prstGeom prst="roundRect">
            <a:avLst>
              <a:gd name="adj" fmla="val 2417"/>
            </a:avLst>
          </a:prstGeom>
          <a:solidFill>
            <a:srgbClr val="FFFFFF"/>
          </a:solidFill>
          <a:ln w="9525">
            <a:solidFill>
              <a:srgbClr val="D5DCE5"/>
            </a:solidFill>
            <a:prstDash val="solid"/>
          </a:ln>
        </p:spPr>
      </p:sp>
      <p:sp>
        <p:nvSpPr>
          <p:cNvPr id="5" name="insignia-291"/>
          <p:cNvSpPr/>
          <p:nvPr/>
        </p:nvSpPr>
        <p:spPr>
          <a:xfrm>
            <a:off x="621792" y="1792224"/>
            <a:ext cx="310896" cy="310896"/>
          </a:xfrm>
          <a:prstGeom prst="ellipse">
            <a:avLst/>
          </a:prstGeom>
          <a:solidFill>
            <a:schemeClr val="accent1"/>
          </a:solidFill>
          <a:ln/>
        </p:spPr>
      </p:sp>
      <p:sp>
        <p:nvSpPr>
          <p:cNvPr id="6" name="insignia-texto-292"/>
          <p:cNvSpPr txBox="1"/>
          <p:nvPr/>
        </p:nvSpPr>
        <p:spPr>
          <a:xfrm>
            <a:off x="621792" y="179222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0</a:t>
            </a:r>
            <a:endParaRPr lang="en-US" sz="1100" dirty="0"/>
          </a:p>
        </p:txBody>
      </p:sp>
      <p:sp>
        <p:nvSpPr>
          <p:cNvPr id="7" name="fase-etiqueta-293"/>
          <p:cNvSpPr txBox="1"/>
          <p:nvPr/>
        </p:nvSpPr>
        <p:spPr>
          <a:xfrm>
            <a:off x="1024128" y="1801368"/>
            <a:ext cx="1962074" cy="292608"/>
          </a:xfrm>
          <a:prstGeom prst="rect">
            <a:avLst/>
          </a:prstGeom>
          <a:noFill/>
          <a:ln/>
        </p:spPr>
        <p:txBody>
          <a:bodyPr wrap="square" lIns="0" tIns="0" rIns="0" bIns="0" rtlCol="0" anchor="ctr"/>
          <a:lstStyle/>
          <a:p>
            <a:pPr indent="0" marL="0">
              <a:buNone/>
            </a:pPr>
            <a:r>
              <a:rPr lang="en-US" sz="750" b="1" spc="30" kern="0" dirty="0">
                <a:solidFill>
                  <a:schemeClr val="accent1"/>
                </a:solidFill>
              </a:rPr>
              <a:t>FASE 0 · 6 A 8 SEMANAS</a:t>
            </a:r>
            <a:endParaRPr lang="en-US" sz="750" dirty="0"/>
          </a:p>
        </p:txBody>
      </p:sp>
      <p:sp>
        <p:nvSpPr>
          <p:cNvPr id="8" name="fase-titulo-294"/>
          <p:cNvSpPr txBox="1"/>
          <p:nvPr/>
        </p:nvSpPr>
        <p:spPr>
          <a:xfrm>
            <a:off x="621792" y="2194560"/>
            <a:ext cx="2318690" cy="274320"/>
          </a:xfrm>
          <a:prstGeom prst="rect">
            <a:avLst/>
          </a:prstGeom>
          <a:noFill/>
          <a:ln/>
        </p:spPr>
        <p:txBody>
          <a:bodyPr wrap="square" lIns="0" tIns="0" rIns="0" bIns="0" rtlCol="0" anchor="t"/>
          <a:lstStyle/>
          <a:p>
            <a:pPr indent="0" marL="0">
              <a:buNone/>
            </a:pPr>
            <a:r>
              <a:rPr lang="en-US" sz="1250" b="1" dirty="0">
                <a:solidFill>
                  <a:schemeClr val="tx1"/>
                </a:solidFill>
              </a:rPr>
              <a:t>Calibración</a:t>
            </a:r>
            <a:endParaRPr lang="en-US" sz="1250" dirty="0"/>
          </a:p>
        </p:txBody>
      </p:sp>
      <p:sp>
        <p:nvSpPr>
          <p:cNvPr id="9" name="fase-entregables-295"/>
          <p:cNvSpPr txBox="1"/>
          <p:nvPr/>
        </p:nvSpPr>
        <p:spPr>
          <a:xfrm>
            <a:off x="621792" y="2542032"/>
            <a:ext cx="2318690" cy="1143000"/>
          </a:xfrm>
          <a:prstGeom prst="rect">
            <a:avLst/>
          </a:prstGeom>
          <a:noFill/>
          <a:ln/>
        </p:spPr>
        <p:txBody>
          <a:bodyPr wrap="square" lIns="0" tIns="0" rIns="0" bIns="0" rtlCol="0" anchor="t"/>
          <a:lstStyle/>
          <a:p>
            <a:pPr marL="139700" indent="-139700">
              <a:spcAft>
                <a:spcPts val="300"/>
              </a:spcAft>
              <a:buSzPct val="100000"/>
              <a:buChar char="•"/>
            </a:pPr>
            <a:r>
              <a:rPr lang="en-US" sz="900" dirty="0">
                <a:solidFill>
                  <a:schemeClr val="tx1"/>
                </a:solidFill>
              </a:rPr>
              <a:t>Dos sedes y cinco cohortes priorizadas</a:t>
            </a:r>
            <a:endParaRPr lang="en-US" sz="900" dirty="0"/>
          </a:p>
          <a:p>
            <a:pPr marL="139700" indent="-139700">
              <a:spcAft>
                <a:spcPts val="300"/>
              </a:spcAft>
              <a:buSzPct val="100000"/>
              <a:buChar char="•"/>
            </a:pPr>
            <a:r>
              <a:rPr lang="en-US" sz="900" dirty="0">
                <a:solidFill>
                  <a:schemeClr val="tx1"/>
                </a:solidFill>
              </a:rPr>
              <a:t>Agregados federados por celda y mes</a:t>
            </a:r>
            <a:endParaRPr lang="en-US" sz="900" dirty="0"/>
          </a:p>
          <a:p>
            <a:pPr marL="139700" indent="-139700">
              <a:spcAft>
                <a:spcPts val="300"/>
              </a:spcAft>
              <a:buSzPct val="100000"/>
              <a:buChar char="•"/>
            </a:pPr>
            <a:r>
              <a:rPr lang="en-US" sz="900" dirty="0">
                <a:solidFill>
                  <a:schemeClr val="tx1"/>
                </a:solidFill>
              </a:rPr>
              <a:t>Parámetros de transición, tasas y zonas</a:t>
            </a:r>
            <a:endParaRPr lang="en-US" sz="900" dirty="0"/>
          </a:p>
          <a:p>
            <a:pPr marL="139700" indent="-139700">
              <a:spcAft>
                <a:spcPts val="300"/>
              </a:spcAft>
              <a:buSzPct val="100000"/>
              <a:buChar char="•"/>
            </a:pPr>
            <a:r>
              <a:rPr lang="en-US" sz="900" dirty="0">
                <a:solidFill>
                  <a:schemeClr val="tx1"/>
                </a:solidFill>
              </a:rPr>
              <a:t>Backtest de 12 meses por zona</a:t>
            </a:r>
            <a:endParaRPr lang="en-US" sz="900" dirty="0"/>
          </a:p>
        </p:txBody>
      </p:sp>
      <p:sp>
        <p:nvSpPr>
          <p:cNvPr id="10" name="cambio-etiqueta-296"/>
          <p:cNvSpPr txBox="1"/>
          <p:nvPr/>
        </p:nvSpPr>
        <p:spPr>
          <a:xfrm>
            <a:off x="621792" y="3749040"/>
            <a:ext cx="2318690" cy="164592"/>
          </a:xfrm>
          <a:prstGeom prst="rect">
            <a:avLst/>
          </a:prstGeom>
          <a:noFill/>
          <a:ln/>
        </p:spPr>
        <p:txBody>
          <a:bodyPr wrap="square" lIns="0" tIns="0" rIns="0" bIns="0" rtlCol="0" anchor="t"/>
          <a:lstStyle/>
          <a:p>
            <a:pPr indent="0" marL="0">
              <a:buNone/>
            </a:pPr>
            <a:r>
              <a:rPr lang="en-US" sz="750" b="1" dirty="0">
                <a:solidFill>
                  <a:schemeClr val="accent1"/>
                </a:solidFill>
              </a:rPr>
              <a:t>QUÉ CAMBIA PARA PHM</a:t>
            </a:r>
            <a:endParaRPr lang="en-US" sz="750" dirty="0"/>
          </a:p>
        </p:txBody>
      </p:sp>
      <p:sp>
        <p:nvSpPr>
          <p:cNvPr id="11" name="cambio-texto-297"/>
          <p:cNvSpPr txBox="1"/>
          <p:nvPr/>
        </p:nvSpPr>
        <p:spPr>
          <a:xfrm>
            <a:off x="621792" y="3931920"/>
            <a:ext cx="2318690" cy="594360"/>
          </a:xfrm>
          <a:prstGeom prst="rect">
            <a:avLst/>
          </a:prstGeom>
          <a:noFill/>
          <a:ln/>
        </p:spPr>
        <p:txBody>
          <a:bodyPr wrap="square" lIns="0" tIns="0" rIns="0" bIns="0" rtlCol="0" anchor="t"/>
          <a:lstStyle/>
          <a:p>
            <a:pPr indent="0" marL="0">
              <a:buNone/>
            </a:pPr>
            <a:r>
              <a:rPr lang="en-US" sz="900" dirty="0">
                <a:solidFill>
                  <a:schemeClr val="tx2"/>
                </a:solidFill>
              </a:rPr>
              <a:t>Los resultados del portal dejan de ser ilustrativos y reflejan la población y las sedes de SURA.</a:t>
            </a:r>
            <a:endParaRPr lang="en-US" sz="900" dirty="0"/>
          </a:p>
        </p:txBody>
      </p:sp>
      <p:sp>
        <p:nvSpPr>
          <p:cNvPr id="12" name="criterio-298"/>
          <p:cNvSpPr/>
          <p:nvPr/>
        </p:nvSpPr>
        <p:spPr>
          <a:xfrm>
            <a:off x="566928" y="4572000"/>
            <a:ext cx="2428418" cy="713232"/>
          </a:xfrm>
          <a:prstGeom prst="roundRect">
            <a:avLst>
              <a:gd name="adj" fmla="val 8974"/>
            </a:avLst>
          </a:prstGeom>
          <a:solidFill>
            <a:schemeClr val="accent1">
              <a:alpha val="12000"/>
            </a:schemeClr>
          </a:solidFill>
          <a:ln/>
        </p:spPr>
      </p:sp>
      <p:sp>
        <p:nvSpPr>
          <p:cNvPr id="13" name="criterio-etiqueta-299"/>
          <p:cNvSpPr txBox="1"/>
          <p:nvPr/>
        </p:nvSpPr>
        <p:spPr>
          <a:xfrm>
            <a:off x="694944" y="4645152"/>
            <a:ext cx="2172386" cy="164592"/>
          </a:xfrm>
          <a:prstGeom prst="rect">
            <a:avLst/>
          </a:prstGeom>
          <a:noFill/>
          <a:ln/>
        </p:spPr>
        <p:txBody>
          <a:bodyPr wrap="square" lIns="0" tIns="0" rIns="0" bIns="0" rtlCol="0" anchor="t"/>
          <a:lstStyle/>
          <a:p>
            <a:pPr indent="0" marL="0">
              <a:buNone/>
            </a:pPr>
            <a:r>
              <a:rPr lang="en-US" sz="750" b="1" dirty="0">
                <a:solidFill>
                  <a:schemeClr val="accent1"/>
                </a:solidFill>
              </a:rPr>
              <a:t>CRITERIO DE AVANCE</a:t>
            </a:r>
            <a:endParaRPr lang="en-US" sz="750" dirty="0"/>
          </a:p>
        </p:txBody>
      </p:sp>
      <p:sp>
        <p:nvSpPr>
          <p:cNvPr id="14" name="criterio-texto-300"/>
          <p:cNvSpPr txBox="1"/>
          <p:nvPr/>
        </p:nvSpPr>
        <p:spPr>
          <a:xfrm>
            <a:off x="694944" y="4828032"/>
            <a:ext cx="2172386" cy="411480"/>
          </a:xfrm>
          <a:prstGeom prst="rect">
            <a:avLst/>
          </a:prstGeom>
          <a:noFill/>
          <a:ln/>
        </p:spPr>
        <p:txBody>
          <a:bodyPr wrap="square" lIns="0" tIns="0" rIns="0" bIns="0" rtlCol="0" anchor="t"/>
          <a:lstStyle/>
          <a:p>
            <a:pPr indent="0" marL="0">
              <a:buNone/>
            </a:pPr>
            <a:r>
              <a:rPr lang="en-US" sz="950" b="1" dirty="0">
                <a:solidFill>
                  <a:schemeClr val="tx1"/>
                </a:solidFill>
              </a:rPr>
              <a:t>WAPE mensual por zona ≤ 15 %</a:t>
            </a:r>
            <a:endParaRPr lang="en-US" sz="950" dirty="0"/>
          </a:p>
        </p:txBody>
      </p:sp>
      <p:sp>
        <p:nvSpPr>
          <p:cNvPr id="15" name="fase-301"/>
          <p:cNvSpPr/>
          <p:nvPr/>
        </p:nvSpPr>
        <p:spPr>
          <a:xfrm>
            <a:off x="3333674" y="1645920"/>
            <a:ext cx="2647874" cy="3749040"/>
          </a:xfrm>
          <a:prstGeom prst="roundRect">
            <a:avLst>
              <a:gd name="adj" fmla="val 2417"/>
            </a:avLst>
          </a:prstGeom>
          <a:solidFill>
            <a:srgbClr val="FFFFFF"/>
          </a:solidFill>
          <a:ln w="9525">
            <a:solidFill>
              <a:srgbClr val="D5DCE5"/>
            </a:solidFill>
            <a:prstDash val="solid"/>
          </a:ln>
        </p:spPr>
      </p:sp>
      <p:sp>
        <p:nvSpPr>
          <p:cNvPr id="16" name="insignia-302"/>
          <p:cNvSpPr/>
          <p:nvPr/>
        </p:nvSpPr>
        <p:spPr>
          <a:xfrm>
            <a:off x="3498266" y="1792224"/>
            <a:ext cx="310896" cy="310896"/>
          </a:xfrm>
          <a:prstGeom prst="ellipse">
            <a:avLst/>
          </a:prstGeom>
          <a:solidFill>
            <a:schemeClr val="accent3"/>
          </a:solidFill>
          <a:ln/>
        </p:spPr>
      </p:sp>
      <p:sp>
        <p:nvSpPr>
          <p:cNvPr id="17" name="insignia-texto-303"/>
          <p:cNvSpPr txBox="1"/>
          <p:nvPr/>
        </p:nvSpPr>
        <p:spPr>
          <a:xfrm>
            <a:off x="3498266" y="179222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8" name="fase-etiqueta-304"/>
          <p:cNvSpPr txBox="1"/>
          <p:nvPr/>
        </p:nvSpPr>
        <p:spPr>
          <a:xfrm>
            <a:off x="3900602" y="1801368"/>
            <a:ext cx="1962074" cy="292608"/>
          </a:xfrm>
          <a:prstGeom prst="rect">
            <a:avLst/>
          </a:prstGeom>
          <a:noFill/>
          <a:ln/>
        </p:spPr>
        <p:txBody>
          <a:bodyPr wrap="square" lIns="0" tIns="0" rIns="0" bIns="0" rtlCol="0" anchor="ctr"/>
          <a:lstStyle/>
          <a:p>
            <a:pPr indent="0" marL="0">
              <a:buNone/>
            </a:pPr>
            <a:r>
              <a:rPr lang="en-US" sz="750" b="1" spc="30" kern="0" dirty="0">
                <a:solidFill>
                  <a:schemeClr val="accent3"/>
                </a:solidFill>
              </a:rPr>
              <a:t>FASE 1 · 3 MESES</a:t>
            </a:r>
            <a:endParaRPr lang="en-US" sz="750" dirty="0"/>
          </a:p>
        </p:txBody>
      </p:sp>
      <p:sp>
        <p:nvSpPr>
          <p:cNvPr id="19" name="fase-titulo-305"/>
          <p:cNvSpPr txBox="1"/>
          <p:nvPr/>
        </p:nvSpPr>
        <p:spPr>
          <a:xfrm>
            <a:off x="3498266" y="2194560"/>
            <a:ext cx="2318690" cy="274320"/>
          </a:xfrm>
          <a:prstGeom prst="rect">
            <a:avLst/>
          </a:prstGeom>
          <a:noFill/>
          <a:ln/>
        </p:spPr>
        <p:txBody>
          <a:bodyPr wrap="square" lIns="0" tIns="0" rIns="0" bIns="0" rtlCol="0" anchor="t"/>
          <a:lstStyle/>
          <a:p>
            <a:pPr indent="0" marL="0">
              <a:buNone/>
            </a:pPr>
            <a:r>
              <a:rPr lang="en-US" sz="1250" b="1" dirty="0">
                <a:solidFill>
                  <a:schemeClr val="tx1"/>
                </a:solidFill>
              </a:rPr>
              <a:t>Sombra digital</a:t>
            </a:r>
            <a:endParaRPr lang="en-US" sz="1250" dirty="0"/>
          </a:p>
        </p:txBody>
      </p:sp>
      <p:sp>
        <p:nvSpPr>
          <p:cNvPr id="20" name="fase-entregables-306"/>
          <p:cNvSpPr txBox="1"/>
          <p:nvPr/>
        </p:nvSpPr>
        <p:spPr>
          <a:xfrm>
            <a:off x="3498266" y="2542032"/>
            <a:ext cx="2318690" cy="1143000"/>
          </a:xfrm>
          <a:prstGeom prst="rect">
            <a:avLst/>
          </a:prstGeom>
          <a:noFill/>
          <a:ln/>
        </p:spPr>
        <p:txBody>
          <a:bodyPr wrap="square" lIns="0" tIns="0" rIns="0" bIns="0" rtlCol="0" anchor="t"/>
          <a:lstStyle/>
          <a:p>
            <a:pPr marL="139700" indent="-139700">
              <a:spcAft>
                <a:spcPts val="300"/>
              </a:spcAft>
              <a:buSzPct val="100000"/>
              <a:buChar char="•"/>
            </a:pPr>
            <a:r>
              <a:rPr lang="en-US" sz="900" dirty="0">
                <a:solidFill>
                  <a:schemeClr val="tx1"/>
                </a:solidFill>
              </a:rPr>
              <a:t>Eventos de agenda por FHIR Subscriptions</a:t>
            </a:r>
            <a:endParaRPr lang="en-US" sz="900" dirty="0"/>
          </a:p>
          <a:p>
            <a:pPr marL="139700" indent="-139700">
              <a:spcAft>
                <a:spcPts val="300"/>
              </a:spcAft>
              <a:buSzPct val="100000"/>
              <a:buChar char="•"/>
            </a:pPr>
            <a:r>
              <a:rPr lang="en-US" sz="900" dirty="0">
                <a:solidFill>
                  <a:schemeClr val="tx1"/>
                </a:solidFill>
              </a:rPr>
              <a:t>Estado de zonas en el espacio de nombres unificado</a:t>
            </a:r>
            <a:endParaRPr lang="en-US" sz="900" dirty="0"/>
          </a:p>
          <a:p>
            <a:pPr marL="139700" indent="-139700">
              <a:spcAft>
                <a:spcPts val="300"/>
              </a:spcAft>
              <a:buSzPct val="100000"/>
              <a:buChar char="•"/>
            </a:pPr>
            <a:r>
              <a:rPr lang="en-US" sz="900" dirty="0">
                <a:solidFill>
                  <a:schemeClr val="tx1"/>
                </a:solidFill>
              </a:rPr>
              <a:t>Actualización diaria del portal</a:t>
            </a:r>
            <a:endParaRPr lang="en-US" sz="900" dirty="0"/>
          </a:p>
          <a:p>
            <a:pPr marL="139700" indent="-139700">
              <a:spcAft>
                <a:spcPts val="300"/>
              </a:spcAft>
              <a:buSzPct val="100000"/>
              <a:buChar char="•"/>
            </a:pPr>
            <a:r>
              <a:rPr lang="en-US" sz="900" dirty="0">
                <a:solidFill>
                  <a:schemeClr val="tx1"/>
                </a:solidFill>
              </a:rPr>
              <a:t>Indicadores de salud del modelo</a:t>
            </a:r>
            <a:endParaRPr lang="en-US" sz="900" dirty="0"/>
          </a:p>
        </p:txBody>
      </p:sp>
      <p:sp>
        <p:nvSpPr>
          <p:cNvPr id="21" name="cambio-etiqueta-307"/>
          <p:cNvSpPr txBox="1"/>
          <p:nvPr/>
        </p:nvSpPr>
        <p:spPr>
          <a:xfrm>
            <a:off x="3498266" y="3749040"/>
            <a:ext cx="2318690" cy="164592"/>
          </a:xfrm>
          <a:prstGeom prst="rect">
            <a:avLst/>
          </a:prstGeom>
          <a:noFill/>
          <a:ln/>
        </p:spPr>
        <p:txBody>
          <a:bodyPr wrap="square" lIns="0" tIns="0" rIns="0" bIns="0" rtlCol="0" anchor="t"/>
          <a:lstStyle/>
          <a:p>
            <a:pPr indent="0" marL="0">
              <a:buNone/>
            </a:pPr>
            <a:r>
              <a:rPr lang="en-US" sz="750" b="1" dirty="0">
                <a:solidFill>
                  <a:schemeClr val="accent3"/>
                </a:solidFill>
              </a:rPr>
              <a:t>QUÉ CAMBIA PARA PHM</a:t>
            </a:r>
            <a:endParaRPr lang="en-US" sz="750" dirty="0"/>
          </a:p>
        </p:txBody>
      </p:sp>
      <p:sp>
        <p:nvSpPr>
          <p:cNvPr id="22" name="cambio-texto-308"/>
          <p:cNvSpPr txBox="1"/>
          <p:nvPr/>
        </p:nvSpPr>
        <p:spPr>
          <a:xfrm>
            <a:off x="3498266" y="3931920"/>
            <a:ext cx="2318690" cy="594360"/>
          </a:xfrm>
          <a:prstGeom prst="rect">
            <a:avLst/>
          </a:prstGeom>
          <a:noFill/>
          <a:ln/>
        </p:spPr>
        <p:txBody>
          <a:bodyPr wrap="square" lIns="0" tIns="0" rIns="0" bIns="0" rtlCol="0" anchor="t"/>
          <a:lstStyle/>
          <a:p>
            <a:pPr indent="0" marL="0">
              <a:buNone/>
            </a:pPr>
            <a:r>
              <a:rPr lang="en-US" sz="900" dirty="0">
                <a:solidFill>
                  <a:schemeClr val="tx2"/>
                </a:solidFill>
              </a:rPr>
              <a:t>El portal muestra cada día el estado real de las sedes y compara lo observado con lo proyectado.</a:t>
            </a:r>
            <a:endParaRPr lang="en-US" sz="900" dirty="0"/>
          </a:p>
        </p:txBody>
      </p:sp>
      <p:sp>
        <p:nvSpPr>
          <p:cNvPr id="23" name="criterio-309"/>
          <p:cNvSpPr/>
          <p:nvPr/>
        </p:nvSpPr>
        <p:spPr>
          <a:xfrm>
            <a:off x="3443402" y="4572000"/>
            <a:ext cx="2428418" cy="713232"/>
          </a:xfrm>
          <a:prstGeom prst="roundRect">
            <a:avLst>
              <a:gd name="adj" fmla="val 8974"/>
            </a:avLst>
          </a:prstGeom>
          <a:solidFill>
            <a:schemeClr val="accent3">
              <a:alpha val="12000"/>
            </a:schemeClr>
          </a:solidFill>
          <a:ln/>
        </p:spPr>
      </p:sp>
      <p:sp>
        <p:nvSpPr>
          <p:cNvPr id="24" name="criterio-etiqueta-310"/>
          <p:cNvSpPr txBox="1"/>
          <p:nvPr/>
        </p:nvSpPr>
        <p:spPr>
          <a:xfrm>
            <a:off x="3571418" y="4645152"/>
            <a:ext cx="2172386" cy="164592"/>
          </a:xfrm>
          <a:prstGeom prst="rect">
            <a:avLst/>
          </a:prstGeom>
          <a:noFill/>
          <a:ln/>
        </p:spPr>
        <p:txBody>
          <a:bodyPr wrap="square" lIns="0" tIns="0" rIns="0" bIns="0" rtlCol="0" anchor="t"/>
          <a:lstStyle/>
          <a:p>
            <a:pPr indent="0" marL="0">
              <a:buNone/>
            </a:pPr>
            <a:r>
              <a:rPr lang="en-US" sz="750" b="1" dirty="0">
                <a:solidFill>
                  <a:schemeClr val="accent3"/>
                </a:solidFill>
              </a:rPr>
              <a:t>CRITERIO DE AVANCE</a:t>
            </a:r>
            <a:endParaRPr lang="en-US" sz="750" dirty="0"/>
          </a:p>
        </p:txBody>
      </p:sp>
      <p:sp>
        <p:nvSpPr>
          <p:cNvPr id="25" name="criterio-texto-311"/>
          <p:cNvSpPr txBox="1"/>
          <p:nvPr/>
        </p:nvSpPr>
        <p:spPr>
          <a:xfrm>
            <a:off x="3571418" y="4828032"/>
            <a:ext cx="2172386" cy="411480"/>
          </a:xfrm>
          <a:prstGeom prst="rect">
            <a:avLst/>
          </a:prstGeom>
          <a:noFill/>
          <a:ln/>
        </p:spPr>
        <p:txBody>
          <a:bodyPr wrap="square" lIns="0" tIns="0" rIns="0" bIns="0" rtlCol="0" anchor="t"/>
          <a:lstStyle/>
          <a:p>
            <a:pPr indent="0" marL="0">
              <a:buNone/>
            </a:pPr>
            <a:r>
              <a:rPr lang="en-US" sz="950" b="1" dirty="0">
                <a:solidFill>
                  <a:schemeClr val="tx1"/>
                </a:solidFill>
              </a:rPr>
              <a:t>Fuentes dentro del SLA ≥ 95 %</a:t>
            </a:r>
            <a:endParaRPr lang="en-US" sz="950" dirty="0"/>
          </a:p>
        </p:txBody>
      </p:sp>
      <p:sp>
        <p:nvSpPr>
          <p:cNvPr id="26" name="fase-312"/>
          <p:cNvSpPr/>
          <p:nvPr/>
        </p:nvSpPr>
        <p:spPr>
          <a:xfrm>
            <a:off x="6210148" y="1645920"/>
            <a:ext cx="2647874" cy="3749040"/>
          </a:xfrm>
          <a:prstGeom prst="roundRect">
            <a:avLst>
              <a:gd name="adj" fmla="val 2417"/>
            </a:avLst>
          </a:prstGeom>
          <a:solidFill>
            <a:srgbClr val="FFFFFF"/>
          </a:solidFill>
          <a:ln w="9525">
            <a:solidFill>
              <a:srgbClr val="D5DCE5"/>
            </a:solidFill>
            <a:prstDash val="solid"/>
          </a:ln>
        </p:spPr>
      </p:sp>
      <p:sp>
        <p:nvSpPr>
          <p:cNvPr id="27" name="insignia-313"/>
          <p:cNvSpPr/>
          <p:nvPr/>
        </p:nvSpPr>
        <p:spPr>
          <a:xfrm>
            <a:off x="6374740" y="1792224"/>
            <a:ext cx="310896" cy="310896"/>
          </a:xfrm>
          <a:prstGeom prst="ellipse">
            <a:avLst/>
          </a:prstGeom>
          <a:solidFill>
            <a:schemeClr val="accent2"/>
          </a:solidFill>
          <a:ln/>
        </p:spPr>
      </p:sp>
      <p:sp>
        <p:nvSpPr>
          <p:cNvPr id="28" name="insignia-texto-314"/>
          <p:cNvSpPr txBox="1"/>
          <p:nvPr/>
        </p:nvSpPr>
        <p:spPr>
          <a:xfrm>
            <a:off x="6374740" y="179222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9" name="fase-etiqueta-315"/>
          <p:cNvSpPr txBox="1"/>
          <p:nvPr/>
        </p:nvSpPr>
        <p:spPr>
          <a:xfrm>
            <a:off x="6777076" y="1801368"/>
            <a:ext cx="1962074" cy="292608"/>
          </a:xfrm>
          <a:prstGeom prst="rect">
            <a:avLst/>
          </a:prstGeom>
          <a:noFill/>
          <a:ln/>
        </p:spPr>
        <p:txBody>
          <a:bodyPr wrap="square" lIns="0" tIns="0" rIns="0" bIns="0" rtlCol="0" anchor="ctr"/>
          <a:lstStyle/>
          <a:p>
            <a:pPr indent="0" marL="0">
              <a:buNone/>
            </a:pPr>
            <a:r>
              <a:rPr lang="en-US" sz="750" b="1" spc="30" kern="0" dirty="0">
                <a:solidFill>
                  <a:schemeClr val="accent2"/>
                </a:solidFill>
              </a:rPr>
              <a:t>FASE 2 · RELEASE 1.0 · 3 A 4 MESES</a:t>
            </a:r>
            <a:endParaRPr lang="en-US" sz="750" dirty="0"/>
          </a:p>
        </p:txBody>
      </p:sp>
      <p:sp>
        <p:nvSpPr>
          <p:cNvPr id="30" name="fase-titulo-316"/>
          <p:cNvSpPr txBox="1"/>
          <p:nvPr/>
        </p:nvSpPr>
        <p:spPr>
          <a:xfrm>
            <a:off x="6374740" y="2194560"/>
            <a:ext cx="2318690" cy="274320"/>
          </a:xfrm>
          <a:prstGeom prst="rect">
            <a:avLst/>
          </a:prstGeom>
          <a:noFill/>
          <a:ln/>
        </p:spPr>
        <p:txBody>
          <a:bodyPr wrap="square" lIns="0" tIns="0" rIns="0" bIns="0" rtlCol="0" anchor="t"/>
          <a:lstStyle/>
          <a:p>
            <a:pPr indent="0" marL="0">
              <a:buNone/>
            </a:pPr>
            <a:r>
              <a:rPr lang="en-US" sz="1250" b="1" dirty="0">
                <a:solidFill>
                  <a:schemeClr val="tx1"/>
                </a:solidFill>
              </a:rPr>
              <a:t>Gemelo de capacidad</a:t>
            </a:r>
            <a:endParaRPr lang="en-US" sz="1250" dirty="0"/>
          </a:p>
        </p:txBody>
      </p:sp>
      <p:sp>
        <p:nvSpPr>
          <p:cNvPr id="31" name="fase-entregables-317"/>
          <p:cNvSpPr txBox="1"/>
          <p:nvPr/>
        </p:nvSpPr>
        <p:spPr>
          <a:xfrm>
            <a:off x="6374740" y="2542032"/>
            <a:ext cx="2318690" cy="1143000"/>
          </a:xfrm>
          <a:prstGeom prst="rect">
            <a:avLst/>
          </a:prstGeom>
          <a:noFill/>
          <a:ln/>
        </p:spPr>
        <p:txBody>
          <a:bodyPr wrap="square" lIns="0" tIns="0" rIns="0" bIns="0" rtlCol="0" anchor="t"/>
          <a:lstStyle/>
          <a:p>
            <a:pPr marL="139700" indent="-139700">
              <a:spcAft>
                <a:spcPts val="300"/>
              </a:spcAft>
              <a:buSzPct val="100000"/>
              <a:buChar char="•"/>
            </a:pPr>
            <a:r>
              <a:rPr lang="en-US" sz="900" dirty="0">
                <a:solidFill>
                  <a:schemeClr val="tx1"/>
                </a:solidFill>
              </a:rPr>
              <a:t>Recomendaciones de equipos, agenda y canal</a:t>
            </a:r>
            <a:endParaRPr lang="en-US" sz="900" dirty="0"/>
          </a:p>
          <a:p>
            <a:pPr marL="139700" indent="-139700">
              <a:spcAft>
                <a:spcPts val="300"/>
              </a:spcAft>
              <a:buSzPct val="100000"/>
              <a:buChar char="•"/>
            </a:pPr>
            <a:r>
              <a:rPr lang="en-US" sz="900" dirty="0">
                <a:solidFill>
                  <a:schemeClr val="tx1"/>
                </a:solidFill>
              </a:rPr>
              <a:t>Registro de aceptación, ejecución y efecto</a:t>
            </a:r>
            <a:endParaRPr lang="en-US" sz="900" dirty="0"/>
          </a:p>
          <a:p>
            <a:pPr marL="139700" indent="-139700">
              <a:spcAft>
                <a:spcPts val="300"/>
              </a:spcAft>
              <a:buSzPct val="100000"/>
              <a:buChar char="•"/>
            </a:pPr>
            <a:r>
              <a:rPr lang="en-US" sz="900" dirty="0">
                <a:solidFill>
                  <a:schemeClr val="tx1"/>
                </a:solidFill>
              </a:rPr>
              <a:t>Cuatro sedes y escenarios versionados</a:t>
            </a:r>
            <a:endParaRPr lang="en-US" sz="900" dirty="0"/>
          </a:p>
          <a:p>
            <a:pPr marL="139700" indent="-139700">
              <a:spcAft>
                <a:spcPts val="300"/>
              </a:spcAft>
              <a:buSzPct val="100000"/>
              <a:buChar char="•"/>
            </a:pPr>
            <a:r>
              <a:rPr lang="en-US" sz="900" dirty="0">
                <a:solidFill>
                  <a:schemeClr val="tx1"/>
                </a:solidFill>
              </a:rPr>
              <a:t>Gobierno de parámetros por rol</a:t>
            </a:r>
            <a:endParaRPr lang="en-US" sz="900" dirty="0"/>
          </a:p>
        </p:txBody>
      </p:sp>
      <p:sp>
        <p:nvSpPr>
          <p:cNvPr id="32" name="cambio-etiqueta-318"/>
          <p:cNvSpPr txBox="1"/>
          <p:nvPr/>
        </p:nvSpPr>
        <p:spPr>
          <a:xfrm>
            <a:off x="6374740" y="3749040"/>
            <a:ext cx="2318690" cy="164592"/>
          </a:xfrm>
          <a:prstGeom prst="rect">
            <a:avLst/>
          </a:prstGeom>
          <a:noFill/>
          <a:ln/>
        </p:spPr>
        <p:txBody>
          <a:bodyPr wrap="square" lIns="0" tIns="0" rIns="0" bIns="0" rtlCol="0" anchor="t"/>
          <a:lstStyle/>
          <a:p>
            <a:pPr indent="0" marL="0">
              <a:buNone/>
            </a:pPr>
            <a:r>
              <a:rPr lang="en-US" sz="750" b="1" dirty="0">
                <a:solidFill>
                  <a:schemeClr val="accent2"/>
                </a:solidFill>
              </a:rPr>
              <a:t>QUÉ CAMBIA PARA PHM</a:t>
            </a:r>
            <a:endParaRPr lang="en-US" sz="750" dirty="0"/>
          </a:p>
        </p:txBody>
      </p:sp>
      <p:sp>
        <p:nvSpPr>
          <p:cNvPr id="33" name="cambio-texto-319"/>
          <p:cNvSpPr txBox="1"/>
          <p:nvPr/>
        </p:nvSpPr>
        <p:spPr>
          <a:xfrm>
            <a:off x="6374740" y="3931920"/>
            <a:ext cx="2318690" cy="594360"/>
          </a:xfrm>
          <a:prstGeom prst="rect">
            <a:avLst/>
          </a:prstGeom>
          <a:noFill/>
          <a:ln/>
        </p:spPr>
        <p:txBody>
          <a:bodyPr wrap="square" lIns="0" tIns="0" rIns="0" bIns="0" rtlCol="0" anchor="t"/>
          <a:lstStyle/>
          <a:p>
            <a:pPr indent="0" marL="0">
              <a:buNone/>
            </a:pPr>
            <a:r>
              <a:rPr lang="en-US" sz="900" dirty="0">
                <a:solidFill>
                  <a:schemeClr val="tx2"/>
                </a:solidFill>
              </a:rPr>
              <a:t>PHM y la red reciben recomendaciones con responsable y pueden medir el efecto de cada decisión.</a:t>
            </a:r>
            <a:endParaRPr lang="en-US" sz="900" dirty="0"/>
          </a:p>
        </p:txBody>
      </p:sp>
      <p:sp>
        <p:nvSpPr>
          <p:cNvPr id="34" name="criterio-320"/>
          <p:cNvSpPr/>
          <p:nvPr/>
        </p:nvSpPr>
        <p:spPr>
          <a:xfrm>
            <a:off x="6319876" y="4572000"/>
            <a:ext cx="2428418" cy="713232"/>
          </a:xfrm>
          <a:prstGeom prst="roundRect">
            <a:avLst>
              <a:gd name="adj" fmla="val 8974"/>
            </a:avLst>
          </a:prstGeom>
          <a:solidFill>
            <a:schemeClr val="accent2">
              <a:alpha val="12000"/>
            </a:schemeClr>
          </a:solidFill>
          <a:ln/>
        </p:spPr>
      </p:sp>
      <p:sp>
        <p:nvSpPr>
          <p:cNvPr id="35" name="criterio-etiqueta-321"/>
          <p:cNvSpPr txBox="1"/>
          <p:nvPr/>
        </p:nvSpPr>
        <p:spPr>
          <a:xfrm>
            <a:off x="6447892" y="4645152"/>
            <a:ext cx="2172386" cy="164592"/>
          </a:xfrm>
          <a:prstGeom prst="rect">
            <a:avLst/>
          </a:prstGeom>
          <a:noFill/>
          <a:ln/>
        </p:spPr>
        <p:txBody>
          <a:bodyPr wrap="square" lIns="0" tIns="0" rIns="0" bIns="0" rtlCol="0" anchor="t"/>
          <a:lstStyle/>
          <a:p>
            <a:pPr indent="0" marL="0">
              <a:buNone/>
            </a:pPr>
            <a:r>
              <a:rPr lang="en-US" sz="750" b="1" dirty="0">
                <a:solidFill>
                  <a:schemeClr val="accent2"/>
                </a:solidFill>
              </a:rPr>
              <a:t>CRITERIO DE AVANCE</a:t>
            </a:r>
            <a:endParaRPr lang="en-US" sz="750" dirty="0"/>
          </a:p>
        </p:txBody>
      </p:sp>
      <p:sp>
        <p:nvSpPr>
          <p:cNvPr id="36" name="criterio-texto-322"/>
          <p:cNvSpPr txBox="1"/>
          <p:nvPr/>
        </p:nvSpPr>
        <p:spPr>
          <a:xfrm>
            <a:off x="6447892" y="4828032"/>
            <a:ext cx="2172386" cy="411480"/>
          </a:xfrm>
          <a:prstGeom prst="rect">
            <a:avLst/>
          </a:prstGeom>
          <a:noFill/>
          <a:ln/>
        </p:spPr>
        <p:txBody>
          <a:bodyPr wrap="square" lIns="0" tIns="0" rIns="0" bIns="0" rtlCol="0" anchor="t"/>
          <a:lstStyle/>
          <a:p>
            <a:pPr indent="0" marL="0">
              <a:buNone/>
            </a:pPr>
            <a:r>
              <a:rPr lang="en-US" sz="950" b="1" dirty="0">
                <a:solidFill>
                  <a:schemeClr val="tx1"/>
                </a:solidFill>
              </a:rPr>
              <a:t>Cierre de ciclo trazable en tres meses consecutivos</a:t>
            </a:r>
            <a:endParaRPr lang="en-US" sz="950" dirty="0"/>
          </a:p>
        </p:txBody>
      </p:sp>
      <p:sp>
        <p:nvSpPr>
          <p:cNvPr id="37" name="fase-323"/>
          <p:cNvSpPr/>
          <p:nvPr/>
        </p:nvSpPr>
        <p:spPr>
          <a:xfrm>
            <a:off x="9086621" y="1645920"/>
            <a:ext cx="2647874" cy="3749040"/>
          </a:xfrm>
          <a:prstGeom prst="roundRect">
            <a:avLst>
              <a:gd name="adj" fmla="val 2417"/>
            </a:avLst>
          </a:prstGeom>
          <a:solidFill>
            <a:srgbClr val="FFFFFF"/>
          </a:solidFill>
          <a:ln w="9525">
            <a:solidFill>
              <a:srgbClr val="D5DCE5"/>
            </a:solidFill>
            <a:prstDash val="solid"/>
          </a:ln>
        </p:spPr>
      </p:sp>
      <p:sp>
        <p:nvSpPr>
          <p:cNvPr id="38" name="insignia-324"/>
          <p:cNvSpPr/>
          <p:nvPr/>
        </p:nvSpPr>
        <p:spPr>
          <a:xfrm>
            <a:off x="9251213" y="1792224"/>
            <a:ext cx="310896" cy="310896"/>
          </a:xfrm>
          <a:prstGeom prst="ellipse">
            <a:avLst/>
          </a:prstGeom>
          <a:solidFill>
            <a:schemeClr val="accent4"/>
          </a:solidFill>
          <a:ln/>
        </p:spPr>
      </p:sp>
      <p:sp>
        <p:nvSpPr>
          <p:cNvPr id="39" name="insignia-texto-325"/>
          <p:cNvSpPr txBox="1"/>
          <p:nvPr/>
        </p:nvSpPr>
        <p:spPr>
          <a:xfrm>
            <a:off x="9251213" y="179222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40" name="fase-etiqueta-326"/>
          <p:cNvSpPr txBox="1"/>
          <p:nvPr/>
        </p:nvSpPr>
        <p:spPr>
          <a:xfrm>
            <a:off x="9653549" y="1801368"/>
            <a:ext cx="1962074" cy="292608"/>
          </a:xfrm>
          <a:prstGeom prst="rect">
            <a:avLst/>
          </a:prstGeom>
          <a:noFill/>
          <a:ln/>
        </p:spPr>
        <p:txBody>
          <a:bodyPr wrap="square" lIns="0" tIns="0" rIns="0" bIns="0" rtlCol="0" anchor="ctr"/>
          <a:lstStyle/>
          <a:p>
            <a:pPr indent="0" marL="0">
              <a:buNone/>
            </a:pPr>
            <a:r>
              <a:rPr lang="en-US" sz="750" b="1" spc="30" kern="0" dirty="0">
                <a:solidFill>
                  <a:schemeClr val="accent4"/>
                </a:solidFill>
              </a:rPr>
              <a:t>FASE 3 · POSTERIOR</a:t>
            </a:r>
            <a:endParaRPr lang="en-US" sz="750" dirty="0"/>
          </a:p>
        </p:txBody>
      </p:sp>
      <p:sp>
        <p:nvSpPr>
          <p:cNvPr id="41" name="fase-titulo-327"/>
          <p:cNvSpPr txBox="1"/>
          <p:nvPr/>
        </p:nvSpPr>
        <p:spPr>
          <a:xfrm>
            <a:off x="9251213" y="2194560"/>
            <a:ext cx="2318690" cy="274320"/>
          </a:xfrm>
          <a:prstGeom prst="rect">
            <a:avLst/>
          </a:prstGeom>
          <a:noFill/>
          <a:ln/>
        </p:spPr>
        <p:txBody>
          <a:bodyPr wrap="square" lIns="0" tIns="0" rIns="0" bIns="0" rtlCol="0" anchor="t"/>
          <a:lstStyle/>
          <a:p>
            <a:pPr indent="0" marL="0">
              <a:buNone/>
            </a:pPr>
            <a:r>
              <a:rPr lang="en-US" sz="1250" b="1" dirty="0">
                <a:solidFill>
                  <a:schemeClr val="tx1"/>
                </a:solidFill>
              </a:rPr>
              <a:t>Escala y operación física</a:t>
            </a:r>
            <a:endParaRPr lang="en-US" sz="1250" dirty="0"/>
          </a:p>
        </p:txBody>
      </p:sp>
      <p:sp>
        <p:nvSpPr>
          <p:cNvPr id="42" name="fase-entregables-328"/>
          <p:cNvSpPr txBox="1"/>
          <p:nvPr/>
        </p:nvSpPr>
        <p:spPr>
          <a:xfrm>
            <a:off x="9251213" y="2542032"/>
            <a:ext cx="2318690" cy="1143000"/>
          </a:xfrm>
          <a:prstGeom prst="rect">
            <a:avLst/>
          </a:prstGeom>
          <a:noFill/>
          <a:ln/>
        </p:spPr>
        <p:txBody>
          <a:bodyPr wrap="square" lIns="0" tIns="0" rIns="0" bIns="0" rtlCol="0" anchor="t"/>
          <a:lstStyle/>
          <a:p>
            <a:pPr marL="139700" indent="-139700">
              <a:spcAft>
                <a:spcPts val="300"/>
              </a:spcAft>
              <a:buSzPct val="100000"/>
              <a:buChar char="•"/>
            </a:pPr>
            <a:r>
              <a:rPr lang="en-US" sz="900" dirty="0">
                <a:solidFill>
                  <a:schemeClr val="tx1"/>
                </a:solidFill>
              </a:rPr>
              <a:t>Nuevas cohortes y rutas de atención</a:t>
            </a:r>
            <a:endParaRPr lang="en-US" sz="900" dirty="0"/>
          </a:p>
          <a:p>
            <a:pPr marL="139700" indent="-139700">
              <a:spcAft>
                <a:spcPts val="300"/>
              </a:spcAft>
              <a:buSzPct val="100000"/>
              <a:buChar char="•"/>
            </a:pPr>
            <a:r>
              <a:rPr lang="en-US" sz="900" dirty="0">
                <a:solidFill>
                  <a:schemeClr val="tx1"/>
                </a:solidFill>
              </a:rPr>
              <a:t>Equipos biomédicos conectados</a:t>
            </a:r>
            <a:endParaRPr lang="en-US" sz="900" dirty="0"/>
          </a:p>
          <a:p>
            <a:pPr marL="139700" indent="-139700">
              <a:spcAft>
                <a:spcPts val="300"/>
              </a:spcAft>
              <a:buSzPct val="100000"/>
              <a:buChar char="•"/>
            </a:pPr>
            <a:r>
              <a:rPr lang="en-US" sz="900" dirty="0">
                <a:solidFill>
                  <a:schemeClr val="tx1"/>
                </a:solidFill>
              </a:rPr>
              <a:t>Robótica de logística clínica</a:t>
            </a:r>
            <a:endParaRPr lang="en-US" sz="900" dirty="0"/>
          </a:p>
          <a:p>
            <a:pPr marL="139700" indent="-139700">
              <a:spcAft>
                <a:spcPts val="300"/>
              </a:spcAft>
              <a:buSzPct val="100000"/>
              <a:buChar char="•"/>
            </a:pPr>
            <a:r>
              <a:rPr lang="en-US" sz="900" dirty="0">
                <a:solidFill>
                  <a:schemeClr val="tx1"/>
                </a:solidFill>
              </a:rPr>
              <a:t>Otras regionales y prestadores</a:t>
            </a:r>
            <a:endParaRPr lang="en-US" sz="900" dirty="0"/>
          </a:p>
        </p:txBody>
      </p:sp>
      <p:sp>
        <p:nvSpPr>
          <p:cNvPr id="43" name="cambio-etiqueta-329"/>
          <p:cNvSpPr txBox="1"/>
          <p:nvPr/>
        </p:nvSpPr>
        <p:spPr>
          <a:xfrm>
            <a:off x="9251213" y="3749040"/>
            <a:ext cx="2318690" cy="164592"/>
          </a:xfrm>
          <a:prstGeom prst="rect">
            <a:avLst/>
          </a:prstGeom>
          <a:noFill/>
          <a:ln/>
        </p:spPr>
        <p:txBody>
          <a:bodyPr wrap="square" lIns="0" tIns="0" rIns="0" bIns="0" rtlCol="0" anchor="t"/>
          <a:lstStyle/>
          <a:p>
            <a:pPr indent="0" marL="0">
              <a:buNone/>
            </a:pPr>
            <a:r>
              <a:rPr lang="en-US" sz="750" b="1" dirty="0">
                <a:solidFill>
                  <a:schemeClr val="accent4"/>
                </a:solidFill>
              </a:rPr>
              <a:t>QUÉ CAMBIA PARA PHM</a:t>
            </a:r>
            <a:endParaRPr lang="en-US" sz="750" dirty="0"/>
          </a:p>
        </p:txBody>
      </p:sp>
      <p:sp>
        <p:nvSpPr>
          <p:cNvPr id="44" name="cambio-texto-330"/>
          <p:cNvSpPr txBox="1"/>
          <p:nvPr/>
        </p:nvSpPr>
        <p:spPr>
          <a:xfrm>
            <a:off x="9251213" y="3931920"/>
            <a:ext cx="2318690" cy="594360"/>
          </a:xfrm>
          <a:prstGeom prst="rect">
            <a:avLst/>
          </a:prstGeom>
          <a:noFill/>
          <a:ln/>
        </p:spPr>
        <p:txBody>
          <a:bodyPr wrap="square" lIns="0" tIns="0" rIns="0" bIns="0" rtlCol="0" anchor="t"/>
          <a:lstStyle/>
          <a:p>
            <a:pPr indent="0" marL="0">
              <a:buNone/>
            </a:pPr>
            <a:r>
              <a:rPr lang="en-US" sz="900" dirty="0">
                <a:solidFill>
                  <a:schemeClr val="tx2"/>
                </a:solidFill>
              </a:rPr>
              <a:t>El modelo se extiende a más rutas, sedes y prestadores, y a la operación física dentro de la sede.</a:t>
            </a:r>
            <a:endParaRPr lang="en-US" sz="900" dirty="0"/>
          </a:p>
        </p:txBody>
      </p:sp>
      <p:sp>
        <p:nvSpPr>
          <p:cNvPr id="45" name="criterio-331"/>
          <p:cNvSpPr/>
          <p:nvPr/>
        </p:nvSpPr>
        <p:spPr>
          <a:xfrm>
            <a:off x="9196349" y="4572000"/>
            <a:ext cx="2428418" cy="713232"/>
          </a:xfrm>
          <a:prstGeom prst="roundRect">
            <a:avLst>
              <a:gd name="adj" fmla="val 8974"/>
            </a:avLst>
          </a:prstGeom>
          <a:solidFill>
            <a:schemeClr val="accent4">
              <a:alpha val="12000"/>
            </a:schemeClr>
          </a:solidFill>
          <a:ln/>
        </p:spPr>
      </p:sp>
      <p:sp>
        <p:nvSpPr>
          <p:cNvPr id="46" name="criterio-etiqueta-332"/>
          <p:cNvSpPr txBox="1"/>
          <p:nvPr/>
        </p:nvSpPr>
        <p:spPr>
          <a:xfrm>
            <a:off x="9324365" y="4645152"/>
            <a:ext cx="2172386" cy="164592"/>
          </a:xfrm>
          <a:prstGeom prst="rect">
            <a:avLst/>
          </a:prstGeom>
          <a:noFill/>
          <a:ln/>
        </p:spPr>
        <p:txBody>
          <a:bodyPr wrap="square" lIns="0" tIns="0" rIns="0" bIns="0" rtlCol="0" anchor="t"/>
          <a:lstStyle/>
          <a:p>
            <a:pPr indent="0" marL="0">
              <a:buNone/>
            </a:pPr>
            <a:r>
              <a:rPr lang="en-US" sz="750" b="1" dirty="0">
                <a:solidFill>
                  <a:schemeClr val="accent4"/>
                </a:solidFill>
              </a:rPr>
              <a:t>CRITERIO DE AVANCE</a:t>
            </a:r>
            <a:endParaRPr lang="en-US" sz="750" dirty="0"/>
          </a:p>
        </p:txBody>
      </p:sp>
      <p:sp>
        <p:nvSpPr>
          <p:cNvPr id="47" name="criterio-texto-333"/>
          <p:cNvSpPr txBox="1"/>
          <p:nvPr/>
        </p:nvSpPr>
        <p:spPr>
          <a:xfrm>
            <a:off x="9324365" y="4828032"/>
            <a:ext cx="2172386" cy="411480"/>
          </a:xfrm>
          <a:prstGeom prst="rect">
            <a:avLst/>
          </a:prstGeom>
          <a:noFill/>
          <a:ln/>
        </p:spPr>
        <p:txBody>
          <a:bodyPr wrap="square" lIns="0" tIns="0" rIns="0" bIns="0" rtlCol="0" anchor="t"/>
          <a:lstStyle/>
          <a:p>
            <a:pPr indent="0" marL="0">
              <a:buNone/>
            </a:pPr>
            <a:r>
              <a:rPr lang="en-US" sz="950" b="1" dirty="0">
                <a:solidFill>
                  <a:schemeClr val="tx1"/>
                </a:solidFill>
              </a:rPr>
              <a:t>Decisión según valor demostrado</a:t>
            </a:r>
            <a:endParaRPr lang="en-US" sz="950" dirty="0"/>
          </a:p>
        </p:txBody>
      </p:sp>
      <p:sp>
        <p:nvSpPr>
          <p:cNvPr id="48" name="dependencias-334"/>
          <p:cNvSpPr/>
          <p:nvPr/>
        </p:nvSpPr>
        <p:spPr>
          <a:xfrm>
            <a:off x="457200" y="5559552"/>
            <a:ext cx="11277295" cy="704088"/>
          </a:xfrm>
          <a:prstGeom prst="roundRect">
            <a:avLst>
              <a:gd name="adj" fmla="val 9091"/>
            </a:avLst>
          </a:prstGeom>
          <a:solidFill>
            <a:schemeClr val="bg2"/>
          </a:solidFill>
          <a:ln/>
        </p:spPr>
      </p:sp>
      <p:sp>
        <p:nvSpPr>
          <p:cNvPr id="49" name="etiqueta-335"/>
          <p:cNvSpPr txBox="1"/>
          <p:nvPr/>
        </p:nvSpPr>
        <p:spPr>
          <a:xfrm>
            <a:off x="685800" y="5559552"/>
            <a:ext cx="2194560" cy="704088"/>
          </a:xfrm>
          <a:prstGeom prst="rect">
            <a:avLst/>
          </a:prstGeom>
          <a:noFill/>
          <a:ln/>
        </p:spPr>
        <p:txBody>
          <a:bodyPr wrap="square" lIns="0" tIns="0" rIns="0" bIns="0" rtlCol="0" anchor="ctr"/>
          <a:lstStyle/>
          <a:p>
            <a:pPr indent="0" marL="0">
              <a:buNone/>
            </a:pPr>
            <a:r>
              <a:rPr lang="en-US" sz="850" b="1" spc="50" kern="0" dirty="0">
                <a:solidFill>
                  <a:schemeClr val="accent5"/>
                </a:solidFill>
              </a:rPr>
              <a:t>DEPENDENCIAS DE SURA</a:t>
            </a:r>
            <a:endParaRPr lang="en-US" sz="850" dirty="0"/>
          </a:p>
        </p:txBody>
      </p:sp>
      <p:sp>
        <p:nvSpPr>
          <p:cNvPr id="50" name="dependencia-336"/>
          <p:cNvSpPr txBox="1"/>
          <p:nvPr/>
        </p:nvSpPr>
        <p:spPr>
          <a:xfrm>
            <a:off x="2926080" y="5559552"/>
            <a:ext cx="2646578" cy="704088"/>
          </a:xfrm>
          <a:prstGeom prst="rect">
            <a:avLst/>
          </a:prstGeom>
          <a:noFill/>
          <a:ln/>
        </p:spPr>
        <p:txBody>
          <a:bodyPr wrap="square" lIns="0" tIns="0" rIns="0" bIns="0" rtlCol="0" anchor="ctr"/>
          <a:lstStyle/>
          <a:p>
            <a:pPr indent="0" marL="0">
              <a:buNone/>
            </a:pPr>
            <a:r>
              <a:rPr lang="en-US" sz="950" dirty="0">
                <a:solidFill>
                  <a:schemeClr val="tx1"/>
                </a:solidFill>
              </a:rPr>
              <a:t>Acuerdo con los Data Partners para consultas federadas y agregados por celda</a:t>
            </a:r>
            <a:endParaRPr lang="en-US" sz="950" dirty="0"/>
          </a:p>
        </p:txBody>
      </p:sp>
      <p:sp>
        <p:nvSpPr>
          <p:cNvPr id="51" name="dependencia-337"/>
          <p:cNvSpPr txBox="1"/>
          <p:nvPr/>
        </p:nvSpPr>
        <p:spPr>
          <a:xfrm>
            <a:off x="5801258" y="5559552"/>
            <a:ext cx="2646578" cy="704088"/>
          </a:xfrm>
          <a:prstGeom prst="rect">
            <a:avLst/>
          </a:prstGeom>
          <a:noFill/>
          <a:ln/>
        </p:spPr>
        <p:txBody>
          <a:bodyPr wrap="square" lIns="0" tIns="0" rIns="0" bIns="0" rtlCol="0" anchor="ctr"/>
          <a:lstStyle/>
          <a:p>
            <a:pPr indent="0" marL="0">
              <a:buNone/>
            </a:pPr>
            <a:r>
              <a:rPr lang="en-US" sz="950" dirty="0">
                <a:solidFill>
                  <a:schemeClr val="tx1"/>
                </a:solidFill>
              </a:rPr>
              <a:t>Acceso a agenda y admisión por FHIR o extractos agregados por zona</a:t>
            </a:r>
            <a:endParaRPr lang="en-US" sz="950" dirty="0"/>
          </a:p>
        </p:txBody>
      </p:sp>
      <p:sp>
        <p:nvSpPr>
          <p:cNvPr id="52" name="dependencia-338"/>
          <p:cNvSpPr txBox="1"/>
          <p:nvPr/>
        </p:nvSpPr>
        <p:spPr>
          <a:xfrm>
            <a:off x="8676437" y="5559552"/>
            <a:ext cx="2646578" cy="704088"/>
          </a:xfrm>
          <a:prstGeom prst="rect">
            <a:avLst/>
          </a:prstGeom>
          <a:noFill/>
          <a:ln/>
        </p:spPr>
        <p:txBody>
          <a:bodyPr wrap="square" lIns="0" tIns="0" rIns="0" bIns="0" rtlCol="0" anchor="ctr"/>
          <a:lstStyle/>
          <a:p>
            <a:pPr indent="0" marL="0">
              <a:buNone/>
            </a:pPr>
            <a:r>
              <a:rPr lang="en-US" sz="950" dirty="0">
                <a:solidFill>
                  <a:schemeClr val="tx1"/>
                </a:solidFill>
              </a:rPr>
              <a:t>Metas de servicio por zona y responsables del cierre de ciclo</a:t>
            </a:r>
            <a:endParaRPr lang="en-US" sz="9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4949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11277295" cy="1005840"/>
          </a:xfrm>
          <a:prstGeom prst="rect">
            <a:avLst/>
          </a:prstGeom>
          <a:noFill/>
          <a:ln/>
        </p:spPr>
        <p:txBody>
          <a:bodyPr wrap="square" lIns="0" tIns="0" rIns="0" bIns="0" rtlCol="0" anchor="t"/>
          <a:lstStyle/>
          <a:p>
            <a:pPr algn="l" indent="0" marL="0">
              <a:buNone/>
            </a:pPr>
            <a:r>
              <a:rPr lang="en-US" sz="2600" b="1" dirty="0">
                <a:solidFill>
                  <a:schemeClr val="bg1"/>
                </a:solidFill>
              </a:rPr>
              <a:t>Proponemos calibrar el modelo con dos sedes y cinco cohortes para decidir con evidencia propia la expansión de canales</a:t>
            </a:r>
            <a:endParaRPr lang="en-US" sz="2600" dirty="0"/>
          </a:p>
        </p:txBody>
      </p:sp>
      <p:sp>
        <p:nvSpPr>
          <p:cNvPr id="3" name="paso-339"/>
          <p:cNvSpPr/>
          <p:nvPr/>
        </p:nvSpPr>
        <p:spPr>
          <a:xfrm>
            <a:off x="457200" y="1691640"/>
            <a:ext cx="3576218" cy="1920240"/>
          </a:xfrm>
          <a:prstGeom prst="roundRect">
            <a:avLst>
              <a:gd name="adj" fmla="val 3333"/>
            </a:avLst>
          </a:prstGeom>
          <a:solidFill>
            <a:srgbClr val="FFFFFF">
              <a:alpha val="8000"/>
            </a:srgbClr>
          </a:solidFill>
          <a:ln w="9525">
            <a:solidFill>
              <a:srgbClr val="3A4560"/>
            </a:solidFill>
            <a:prstDash val="solid"/>
          </a:ln>
        </p:spPr>
      </p:sp>
      <p:sp>
        <p:nvSpPr>
          <p:cNvPr id="4" name="insignia-340"/>
          <p:cNvSpPr/>
          <p:nvPr/>
        </p:nvSpPr>
        <p:spPr>
          <a:xfrm>
            <a:off x="685800" y="1920240"/>
            <a:ext cx="420624" cy="420624"/>
          </a:xfrm>
          <a:prstGeom prst="ellipse">
            <a:avLst/>
          </a:prstGeom>
          <a:solidFill>
            <a:srgbClr val="009AA4"/>
          </a:solidFill>
          <a:ln/>
        </p:spPr>
      </p:sp>
      <p:sp>
        <p:nvSpPr>
          <p:cNvPr id="5" name="insignia-texto-341"/>
          <p:cNvSpPr txBox="1"/>
          <p:nvPr/>
        </p:nvSpPr>
        <p:spPr>
          <a:xfrm>
            <a:off x="685800" y="1920240"/>
            <a:ext cx="420624" cy="420624"/>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paso-titulo-342"/>
          <p:cNvSpPr txBox="1"/>
          <p:nvPr/>
        </p:nvSpPr>
        <p:spPr>
          <a:xfrm>
            <a:off x="685800" y="2496312"/>
            <a:ext cx="3119018" cy="320040"/>
          </a:xfrm>
          <a:prstGeom prst="rect">
            <a:avLst/>
          </a:prstGeom>
          <a:noFill/>
          <a:ln/>
        </p:spPr>
        <p:txBody>
          <a:bodyPr wrap="square" lIns="0" tIns="0" rIns="0" bIns="0" rtlCol="0" anchor="t"/>
          <a:lstStyle/>
          <a:p>
            <a:pPr indent="0" marL="0">
              <a:buNone/>
            </a:pPr>
            <a:r>
              <a:rPr lang="en-US" sz="1400" b="1" dirty="0">
                <a:solidFill>
                  <a:schemeClr val="bg1"/>
                </a:solidFill>
              </a:rPr>
              <a:t>Priorizar el alcance</a:t>
            </a:r>
            <a:endParaRPr lang="en-US" sz="1400" dirty="0"/>
          </a:p>
        </p:txBody>
      </p:sp>
      <p:sp>
        <p:nvSpPr>
          <p:cNvPr id="7" name="paso-texto-343"/>
          <p:cNvSpPr txBox="1"/>
          <p:nvPr/>
        </p:nvSpPr>
        <p:spPr>
          <a:xfrm>
            <a:off x="685800" y="2843784"/>
            <a:ext cx="3119018" cy="685800"/>
          </a:xfrm>
          <a:prstGeom prst="rect">
            <a:avLst/>
          </a:prstGeom>
          <a:noFill/>
          <a:ln/>
        </p:spPr>
        <p:txBody>
          <a:bodyPr wrap="square" lIns="0" tIns="0" rIns="0" bIns="0" rtlCol="0" anchor="t"/>
          <a:lstStyle/>
          <a:p>
            <a:pPr indent="0" marL="0">
              <a:buNone/>
            </a:pPr>
            <a:r>
              <a:rPr lang="en-US" sz="1050" dirty="0">
                <a:solidFill>
                  <a:srgbClr val="C9D3E3"/>
                </a:solidFill>
              </a:rPr>
              <a:t>Seleccionar dos sedes con perfiles de demanda distintos y confirmar las cinco cohortes o sustituirlas por las rutas priorizadas por PHM.</a:t>
            </a:r>
            <a:endParaRPr lang="en-US" sz="1050" dirty="0"/>
          </a:p>
        </p:txBody>
      </p:sp>
      <p:sp>
        <p:nvSpPr>
          <p:cNvPr id="8" name="paso-344"/>
          <p:cNvSpPr/>
          <p:nvPr/>
        </p:nvSpPr>
        <p:spPr>
          <a:xfrm>
            <a:off x="4307738" y="1691640"/>
            <a:ext cx="3576218" cy="1920240"/>
          </a:xfrm>
          <a:prstGeom prst="roundRect">
            <a:avLst>
              <a:gd name="adj" fmla="val 3333"/>
            </a:avLst>
          </a:prstGeom>
          <a:solidFill>
            <a:srgbClr val="FFFFFF">
              <a:alpha val="8000"/>
            </a:srgbClr>
          </a:solidFill>
          <a:ln w="9525">
            <a:solidFill>
              <a:srgbClr val="3A4560"/>
            </a:solidFill>
            <a:prstDash val="solid"/>
          </a:ln>
        </p:spPr>
      </p:sp>
      <p:sp>
        <p:nvSpPr>
          <p:cNvPr id="9" name="insignia-345"/>
          <p:cNvSpPr/>
          <p:nvPr/>
        </p:nvSpPr>
        <p:spPr>
          <a:xfrm>
            <a:off x="4536338" y="1920240"/>
            <a:ext cx="420624" cy="420624"/>
          </a:xfrm>
          <a:prstGeom prst="ellipse">
            <a:avLst/>
          </a:prstGeom>
          <a:solidFill>
            <a:srgbClr val="009AA4"/>
          </a:solidFill>
          <a:ln/>
        </p:spPr>
      </p:sp>
      <p:sp>
        <p:nvSpPr>
          <p:cNvPr id="10" name="insignia-texto-346"/>
          <p:cNvSpPr txBox="1"/>
          <p:nvPr/>
        </p:nvSpPr>
        <p:spPr>
          <a:xfrm>
            <a:off x="4536338" y="1920240"/>
            <a:ext cx="420624" cy="420624"/>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paso-titulo-347"/>
          <p:cNvSpPr txBox="1"/>
          <p:nvPr/>
        </p:nvSpPr>
        <p:spPr>
          <a:xfrm>
            <a:off x="4536338" y="2496312"/>
            <a:ext cx="3119018" cy="320040"/>
          </a:xfrm>
          <a:prstGeom prst="rect">
            <a:avLst/>
          </a:prstGeom>
          <a:noFill/>
          <a:ln/>
        </p:spPr>
        <p:txBody>
          <a:bodyPr wrap="square" lIns="0" tIns="0" rIns="0" bIns="0" rtlCol="0" anchor="t"/>
          <a:lstStyle/>
          <a:p>
            <a:pPr indent="0" marL="0">
              <a:buNone/>
            </a:pPr>
            <a:r>
              <a:rPr lang="en-US" sz="1400" b="1" dirty="0">
                <a:solidFill>
                  <a:schemeClr val="bg1"/>
                </a:solidFill>
              </a:rPr>
              <a:t>Habilitar los datos</a:t>
            </a:r>
            <a:endParaRPr lang="en-US" sz="1400" dirty="0"/>
          </a:p>
        </p:txBody>
      </p:sp>
      <p:sp>
        <p:nvSpPr>
          <p:cNvPr id="12" name="paso-texto-348"/>
          <p:cNvSpPr txBox="1"/>
          <p:nvPr/>
        </p:nvSpPr>
        <p:spPr>
          <a:xfrm>
            <a:off x="4536338" y="2843784"/>
            <a:ext cx="3119018" cy="685800"/>
          </a:xfrm>
          <a:prstGeom prst="rect">
            <a:avLst/>
          </a:prstGeom>
          <a:noFill/>
          <a:ln/>
        </p:spPr>
        <p:txBody>
          <a:bodyPr wrap="square" lIns="0" tIns="0" rIns="0" bIns="0" rtlCol="0" anchor="t"/>
          <a:lstStyle/>
          <a:p>
            <a:pPr indent="0" marL="0">
              <a:buNone/>
            </a:pPr>
            <a:r>
              <a:rPr lang="en-US" sz="1050" dirty="0">
                <a:solidFill>
                  <a:srgbClr val="C9D3E3"/>
                </a:solidFill>
              </a:rPr>
              <a:t>Acordar con los Data Partners la consulta federada sobre OMOP con supresión de celdas menores a 11 y extractos agregados de agenda por sede y zona.</a:t>
            </a:r>
            <a:endParaRPr lang="en-US" sz="1050" dirty="0"/>
          </a:p>
        </p:txBody>
      </p:sp>
      <p:sp>
        <p:nvSpPr>
          <p:cNvPr id="13" name="paso-349"/>
          <p:cNvSpPr/>
          <p:nvPr/>
        </p:nvSpPr>
        <p:spPr>
          <a:xfrm>
            <a:off x="8158277" y="1691640"/>
            <a:ext cx="3576218" cy="1920240"/>
          </a:xfrm>
          <a:prstGeom prst="roundRect">
            <a:avLst>
              <a:gd name="adj" fmla="val 3333"/>
            </a:avLst>
          </a:prstGeom>
          <a:solidFill>
            <a:srgbClr val="FFFFFF">
              <a:alpha val="8000"/>
            </a:srgbClr>
          </a:solidFill>
          <a:ln w="9525">
            <a:solidFill>
              <a:srgbClr val="3A4560"/>
            </a:solidFill>
            <a:prstDash val="solid"/>
          </a:ln>
        </p:spPr>
      </p:sp>
      <p:sp>
        <p:nvSpPr>
          <p:cNvPr id="14" name="insignia-350"/>
          <p:cNvSpPr/>
          <p:nvPr/>
        </p:nvSpPr>
        <p:spPr>
          <a:xfrm>
            <a:off x="8386877" y="1920240"/>
            <a:ext cx="420624" cy="420624"/>
          </a:xfrm>
          <a:prstGeom prst="ellipse">
            <a:avLst/>
          </a:prstGeom>
          <a:solidFill>
            <a:srgbClr val="009AA4"/>
          </a:solidFill>
          <a:ln/>
        </p:spPr>
      </p:sp>
      <p:sp>
        <p:nvSpPr>
          <p:cNvPr id="15" name="insignia-texto-351"/>
          <p:cNvSpPr txBox="1"/>
          <p:nvPr/>
        </p:nvSpPr>
        <p:spPr>
          <a:xfrm>
            <a:off x="8386877" y="1920240"/>
            <a:ext cx="420624" cy="420624"/>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paso-titulo-352"/>
          <p:cNvSpPr txBox="1"/>
          <p:nvPr/>
        </p:nvSpPr>
        <p:spPr>
          <a:xfrm>
            <a:off x="8386877" y="2496312"/>
            <a:ext cx="3119018" cy="320040"/>
          </a:xfrm>
          <a:prstGeom prst="rect">
            <a:avLst/>
          </a:prstGeom>
          <a:noFill/>
          <a:ln/>
        </p:spPr>
        <p:txBody>
          <a:bodyPr wrap="square" lIns="0" tIns="0" rIns="0" bIns="0" rtlCol="0" anchor="t"/>
          <a:lstStyle/>
          <a:p>
            <a:pPr indent="0" marL="0">
              <a:buNone/>
            </a:pPr>
            <a:r>
              <a:rPr lang="en-US" sz="1400" b="1" dirty="0">
                <a:solidFill>
                  <a:schemeClr val="bg1"/>
                </a:solidFill>
              </a:rPr>
              <a:t>Fijar metas y responsables</a:t>
            </a:r>
            <a:endParaRPr lang="en-US" sz="1400" dirty="0"/>
          </a:p>
        </p:txBody>
      </p:sp>
      <p:sp>
        <p:nvSpPr>
          <p:cNvPr id="17" name="paso-texto-353"/>
          <p:cNvSpPr txBox="1"/>
          <p:nvPr/>
        </p:nvSpPr>
        <p:spPr>
          <a:xfrm>
            <a:off x="8386877" y="2843784"/>
            <a:ext cx="3119018" cy="685800"/>
          </a:xfrm>
          <a:prstGeom prst="rect">
            <a:avLst/>
          </a:prstGeom>
          <a:noFill/>
          <a:ln/>
        </p:spPr>
        <p:txBody>
          <a:bodyPr wrap="square" lIns="0" tIns="0" rIns="0" bIns="0" rtlCol="0" anchor="t"/>
          <a:lstStyle/>
          <a:p>
            <a:pPr indent="0" marL="0">
              <a:buNone/>
            </a:pPr>
            <a:r>
              <a:rPr lang="en-US" sz="1050" dirty="0">
                <a:solidFill>
                  <a:srgbClr val="C9D3E3"/>
                </a:solidFill>
              </a:rPr>
              <a:t>Definir metas de servicio por zona, valores de inasistencia por sede y los responsables de aceptar y ejecutar recomendaciones.</a:t>
            </a:r>
            <a:endParaRPr lang="en-US" sz="1050" dirty="0"/>
          </a:p>
        </p:txBody>
      </p:sp>
      <p:sp>
        <p:nvSpPr>
          <p:cNvPr id="18" name="resultado-fase0"/>
          <p:cNvSpPr/>
          <p:nvPr/>
        </p:nvSpPr>
        <p:spPr>
          <a:xfrm>
            <a:off x="457200" y="3840480"/>
            <a:ext cx="11277295" cy="1188720"/>
          </a:xfrm>
          <a:prstGeom prst="roundRect">
            <a:avLst>
              <a:gd name="adj" fmla="val 5385"/>
            </a:avLst>
          </a:prstGeom>
          <a:solidFill>
            <a:srgbClr val="009AA4"/>
          </a:solidFill>
          <a:ln/>
        </p:spPr>
      </p:sp>
      <p:sp>
        <p:nvSpPr>
          <p:cNvPr id="19" name="resultado-etiqueta-354"/>
          <p:cNvSpPr txBox="1"/>
          <p:nvPr/>
        </p:nvSpPr>
        <p:spPr>
          <a:xfrm>
            <a:off x="731520" y="3986784"/>
            <a:ext cx="3657600" cy="201168"/>
          </a:xfrm>
          <a:prstGeom prst="rect">
            <a:avLst/>
          </a:prstGeom>
          <a:noFill/>
          <a:ln/>
        </p:spPr>
        <p:txBody>
          <a:bodyPr wrap="square" lIns="0" tIns="0" rIns="0" bIns="0" rtlCol="0" anchor="t"/>
          <a:lstStyle/>
          <a:p>
            <a:pPr indent="0" marL="0">
              <a:buNone/>
            </a:pPr>
            <a:r>
              <a:rPr lang="en-US" sz="900" b="1" spc="50" kern="0" dirty="0">
                <a:solidFill>
                  <a:schemeClr val="tx1"/>
                </a:solidFill>
              </a:rPr>
              <a:t>AL CIERRE DE LA FASE 0</a:t>
            </a:r>
            <a:endParaRPr lang="en-US" sz="900" dirty="0"/>
          </a:p>
        </p:txBody>
      </p:sp>
      <p:sp>
        <p:nvSpPr>
          <p:cNvPr id="20" name="resultado-texto-355"/>
          <p:cNvSpPr txBox="1"/>
          <p:nvPr/>
        </p:nvSpPr>
        <p:spPr>
          <a:xfrm>
            <a:off x="731520" y="4224528"/>
            <a:ext cx="10728655" cy="731520"/>
          </a:xfrm>
          <a:prstGeom prst="rect">
            <a:avLst/>
          </a:prstGeom>
          <a:noFill/>
          <a:ln/>
        </p:spPr>
        <p:txBody>
          <a:bodyPr wrap="square" lIns="0" tIns="0" rIns="0" bIns="0" rtlCol="0" anchor="t"/>
          <a:lstStyle/>
          <a:p>
            <a:pPr indent="0" marL="0">
              <a:buNone/>
            </a:pPr>
            <a:r>
              <a:rPr lang="en-US" sz="1400" dirty="0">
                <a:solidFill>
                  <a:schemeClr val="bg1"/>
                </a:solidFill>
              </a:rPr>
              <a:t>El portal funciona con parámetros de SURA para dos sedes, con error de calibración medido por zona, </a:t>
            </a:r>
            <a:pPr indent="0" marL="0">
              <a:buNone/>
            </a:pPr>
            <a:r>
              <a:rPr lang="en-US" sz="1400" b="1" dirty="0">
                <a:solidFill>
                  <a:schemeClr val="bg1"/>
                </a:solidFill>
              </a:rPr>
              <a:t>y la dirección de PHM puede comparar la ampliación de cobertura con y sin canales alternos antes de comprometer capacidad para 2027.</a:t>
            </a:r>
            <a:endParaRPr lang="en-US" sz="1400" dirty="0"/>
          </a:p>
        </p:txBody>
      </p:sp>
      <p:sp>
        <p:nvSpPr>
          <p:cNvPr id="21" name="aporte-etiqueta-356"/>
          <p:cNvSpPr txBox="1"/>
          <p:nvPr/>
        </p:nvSpPr>
        <p:spPr>
          <a:xfrm>
            <a:off x="457200" y="5303520"/>
            <a:ext cx="3657600" cy="201168"/>
          </a:xfrm>
          <a:prstGeom prst="rect">
            <a:avLst/>
          </a:prstGeom>
          <a:noFill/>
          <a:ln/>
        </p:spPr>
        <p:txBody>
          <a:bodyPr wrap="square" lIns="0" tIns="0" rIns="0" bIns="0" rtlCol="0" anchor="t"/>
          <a:lstStyle/>
          <a:p>
            <a:pPr indent="0" marL="0">
              <a:buNone/>
            </a:pPr>
            <a:r>
              <a:rPr lang="en-US" sz="850" b="1" spc="50" kern="0" dirty="0">
                <a:solidFill>
                  <a:srgbClr val="00DFED"/>
                </a:solidFill>
              </a:rPr>
              <a:t>CÓMO TRABAJAMOS LA FASE 0</a:t>
            </a:r>
            <a:endParaRPr lang="en-US" sz="850" dirty="0"/>
          </a:p>
        </p:txBody>
      </p:sp>
      <p:sp>
        <p:nvSpPr>
          <p:cNvPr id="22" name="aporte-357"/>
          <p:cNvSpPr txBox="1"/>
          <p:nvPr/>
        </p:nvSpPr>
        <p:spPr>
          <a:xfrm>
            <a:off x="457200" y="5559552"/>
            <a:ext cx="3576218" cy="685800"/>
          </a:xfrm>
          <a:prstGeom prst="rect">
            <a:avLst/>
          </a:prstGeom>
          <a:noFill/>
          <a:ln/>
        </p:spPr>
        <p:txBody>
          <a:bodyPr wrap="square" lIns="0" tIns="0" rIns="0" bIns="0" rtlCol="0" anchor="t"/>
          <a:lstStyle/>
          <a:p>
            <a:pPr indent="0" marL="0">
              <a:buNone/>
            </a:pPr>
            <a:r>
              <a:rPr lang="en-US" sz="950" b="1" dirty="0">
                <a:solidFill>
                  <a:srgbClr val="FFFFFF"/>
                </a:solidFill>
              </a:rPr>
              <a:t>Modelación. </a:t>
            </a:r>
            <a:pPr indent="0" marL="0">
              <a:buNone/>
            </a:pPr>
            <a:r>
              <a:rPr lang="en-US" sz="950" dirty="0">
                <a:solidFill>
                  <a:srgbClr val="C9D3E3"/>
                </a:solidFill>
              </a:rPr>
              <a:t>Equipo de ciencia de datos y operaciones que calibra el modelo poblacional y el de capacidad con los agregados de SURA.</a:t>
            </a:r>
            <a:endParaRPr lang="en-US" sz="950" dirty="0"/>
          </a:p>
        </p:txBody>
      </p:sp>
      <p:sp>
        <p:nvSpPr>
          <p:cNvPr id="23" name="aporte-358"/>
          <p:cNvSpPr txBox="1"/>
          <p:nvPr/>
        </p:nvSpPr>
        <p:spPr>
          <a:xfrm>
            <a:off x="4307738" y="5559552"/>
            <a:ext cx="3576218" cy="685800"/>
          </a:xfrm>
          <a:prstGeom prst="rect">
            <a:avLst/>
          </a:prstGeom>
          <a:noFill/>
          <a:ln/>
        </p:spPr>
        <p:txBody>
          <a:bodyPr wrap="square" lIns="0" tIns="0" rIns="0" bIns="0" rtlCol="0" anchor="t"/>
          <a:lstStyle/>
          <a:p>
            <a:pPr indent="0" marL="0">
              <a:buNone/>
            </a:pPr>
            <a:r>
              <a:rPr lang="en-US" sz="950" b="1" dirty="0">
                <a:solidFill>
                  <a:srgbClr val="FFFFFF"/>
                </a:solidFill>
              </a:rPr>
              <a:t>Arquitectura federada. </a:t>
            </a:r>
            <a:pPr indent="0" marL="0">
              <a:buNone/>
            </a:pPr>
            <a:r>
              <a:rPr lang="en-US" sz="950" dirty="0">
                <a:solidFill>
                  <a:srgbClr val="C9D3E3"/>
                </a:solidFill>
              </a:rPr>
              <a:t>Consultas sobre OMOP diseñadas con los Data Partners dentro de AlejandrIA, sin mover datos de pacientes.</a:t>
            </a:r>
            <a:endParaRPr lang="en-US" sz="950" dirty="0"/>
          </a:p>
        </p:txBody>
      </p:sp>
      <p:sp>
        <p:nvSpPr>
          <p:cNvPr id="24" name="aporte-359"/>
          <p:cNvSpPr txBox="1"/>
          <p:nvPr/>
        </p:nvSpPr>
        <p:spPr>
          <a:xfrm>
            <a:off x="8158277" y="5559552"/>
            <a:ext cx="3576218" cy="685800"/>
          </a:xfrm>
          <a:prstGeom prst="rect">
            <a:avLst/>
          </a:prstGeom>
          <a:noFill/>
          <a:ln/>
        </p:spPr>
        <p:txBody>
          <a:bodyPr wrap="square" lIns="0" tIns="0" rIns="0" bIns="0" rtlCol="0" anchor="t"/>
          <a:lstStyle/>
          <a:p>
            <a:pPr indent="0" marL="0">
              <a:buNone/>
            </a:pPr>
            <a:r>
              <a:rPr lang="en-US" sz="950" b="1" dirty="0">
                <a:solidFill>
                  <a:srgbClr val="FFFFFF"/>
                </a:solidFill>
              </a:rPr>
              <a:t>Producto. </a:t>
            </a:r>
            <a:pPr indent="0" marL="0">
              <a:buNone/>
            </a:pPr>
            <a:r>
              <a:rPr lang="en-US" sz="950" dirty="0">
                <a:solidFill>
                  <a:srgbClr val="C9D3E3"/>
                </a:solidFill>
              </a:rPr>
              <a:t>Portal configurado con las sedes, zonas y cohortes de SURA, con los indicadores de salud del modelo activos.</a:t>
            </a:r>
            <a:endParaRPr lang="en-US" sz="950" dirty="0"/>
          </a:p>
        </p:txBody>
      </p:sp>
      <p:sp>
        <p:nvSpPr>
          <p:cNvPr id="25" name="Slide Number Placeholder 0"/>
          <p:cNvSpPr>
            <a:spLocks noGrp="1"/>
          </p:cNvSpPr>
          <p:nvPr>
            <p:ph type="sldNum" sz="quarter" idx="4294967295"/>
          </p:nvPr>
        </p:nvSpPr>
        <p:spPr>
          <a:xfrm>
            <a:off x="1118585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F9BB3"/>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NTT DATA PHM">
  <a:themeElements>
    <a:clrScheme name="NTT DATA PHM">
      <a:dk1>
        <a:srgbClr val="070F26"/>
      </a:dk1>
      <a:lt1>
        <a:srgbClr val="FFFFFF"/>
      </a:lt1>
      <a:dk2>
        <a:srgbClr val="4A5568"/>
      </a:dk2>
      <a:lt2>
        <a:srgbClr val="F2F5F9"/>
      </a:lt2>
      <a:accent1>
        <a:srgbClr val="005B96"/>
      </a:accent1>
      <a:accent2>
        <a:srgbClr val="009AA4"/>
      </a:accent2>
      <a:accent3>
        <a:srgbClr val="0072BC"/>
      </a:accent3>
      <a:accent4>
        <a:srgbClr val="6E4BB8"/>
      </a:accent4>
      <a:accent5>
        <a:srgbClr val="E07B39"/>
      </a:accent5>
      <a:accent6>
        <a:srgbClr val="C7354A"/>
      </a:accent6>
      <a:hlink>
        <a:srgbClr val="0072BC"/>
      </a:hlink>
      <a:folHlink>
        <a:srgbClr val="6E4BB8"/>
      </a:folHlink>
    </a:clrScheme>
    <a:fontScheme name="NTT DATA PH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NTT DATA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Planeación de la red de atención por cohortes de riesgo</dc:title>
  <dc:subject>Propuesta para Population Health Management</dc:subject>
  <dc:creator>NTT DATA</dc:creator>
  <cp:lastModifiedBy>NTT DATA</cp:lastModifiedBy>
  <cp:revision>1</cp:revision>
  <dcterms:created xsi:type="dcterms:W3CDTF">2026-10-02T14:02:56Z</dcterms:created>
  <dcterms:modified xsi:type="dcterms:W3CDTF">2026-10-02T14:02:56Z</dcterms:modified>
</cp:coreProperties>
</file>