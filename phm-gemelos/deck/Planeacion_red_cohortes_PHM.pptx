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c61cc857-a093-6808-3f08-e94243495cf0}">
          <p14:sldIdLst>
            <p14:sldId id="256"/>
            <p14:sldId id="257"/>
            <p14:sldId id="258"/>
          </p14:sldIdLst>
        </p14:section>
        <p14:section name="Portal" id="{f1249e51-e07b-00e1-c517-2ba2b8e80945}">
          <p14:sldIdLst>
            <p14:sldId id="259"/>
            <p14:sldId id="260"/>
            <p14:sldId id="261"/>
            <p14:sldId id="262"/>
            <p14:sldId id="263"/>
            <p14:sldId id="264"/>
            <p14:sldId id="265"/>
          </p14:sldIdLst>
        </p14:section>
        <p14:section name="Fundamentos" id="{fcf94778-b730-05a8-258c-4b0a40c989a6}">
          <p14:sldIdLst>
            <p14:sldId id="266"/>
            <p14:sldId id="267"/>
          </p14:sldIdLst>
        </p14:section>
        <p14:section name="Ruta" id="{a13eec7e-7c4d-9fa3-2707-d14b8d14236d}">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Statu quo</c:v>
                </c:pt>
              </c:strCache>
            </c:strRef>
          </c:tx>
          <c:spPr>
            <a:solidFill>
              <a:srgbClr val="949494"/>
            </a:solidFill>
            <a:ln w="25400" cap="flat">
              <a:solidFill>
                <a:srgbClr val="94949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49494"/>
              </a:solidFill>
              <a:ln w="9525" cap="flat">
                <a:solidFill>
                  <a:srgbClr val="949494"/>
                </a:solidFill>
                <a:prstDash val="solid"/>
                <a:round/>
              </a:ln>
              <a:effectLst/>
            </c:spPr>
          </c:marker>
          <c:cat>
            <c:multiLvlStrRef>
              <c:f>Sheet1!$A$2:$A$13</c:f>
              <c:multiLvlStrCache>
                <c:ptCount val="12"/>
                <c:lvl>
                  <c:pt idx="0">
                    <c:v>ene</c:v>
                  </c:pt>
                  <c:pt idx="1">
                    <c:v>feb</c:v>
                  </c:pt>
                  <c:pt idx="2">
                    <c:v>mar</c:v>
                  </c:pt>
                  <c:pt idx="3">
                    <c:v>abr</c:v>
                  </c:pt>
                  <c:pt idx="4">
                    <c:v>may</c:v>
                  </c:pt>
                  <c:pt idx="5">
                    <c:v>jun</c:v>
                  </c:pt>
                  <c:pt idx="6">
                    <c:v>jul</c:v>
                  </c:pt>
                  <c:pt idx="7">
                    <c:v>ago</c:v>
                  </c:pt>
                  <c:pt idx="8">
                    <c:v>sep</c:v>
                  </c:pt>
                  <c:pt idx="9">
                    <c:v>oct</c:v>
                  </c:pt>
                  <c:pt idx="10">
                    <c:v>nov</c:v>
                  </c:pt>
                  <c:pt idx="11">
                    <c:v>dic</c:v>
                  </c:pt>
                </c:lvl>
              </c:multiLvlStrCache>
            </c:multiLvlStrRef>
          </c:cat>
          <c:val>
            <c:numRef>
              <c:f>Sheet1!$B$2:$B$13</c:f>
              <c:numCache>
                <c:formatCode>General</c:formatCode>
                <c:ptCount val="12"/>
                <c:pt idx="0">
                  <c:v>0.8959999999999999</c:v>
                </c:pt>
                <c:pt idx="1">
                  <c:v>0.973</c:v>
                </c:pt>
                <c:pt idx="2">
                  <c:v>0.9440000000000001</c:v>
                </c:pt>
                <c:pt idx="3">
                  <c:v>0.992</c:v>
                </c:pt>
                <c:pt idx="4">
                  <c:v>0.992</c:v>
                </c:pt>
                <c:pt idx="5">
                  <c:v>0.9440000000000001</c:v>
                </c:pt>
                <c:pt idx="6">
                  <c:v>0.9059999999999999</c:v>
                </c:pt>
                <c:pt idx="7">
                  <c:v>0.973</c:v>
                </c:pt>
                <c:pt idx="8">
                  <c:v>1</c:v>
                </c:pt>
                <c:pt idx="9">
                  <c:v>0.992</c:v>
                </c:pt>
                <c:pt idx="10">
                  <c:v>0.992</c:v>
                </c:pt>
                <c:pt idx="11">
                  <c:v>0.934</c:v>
                </c:pt>
              </c:numCache>
            </c:numRef>
          </c:val>
          <c:smooth val="0"/>
        </c:ser>
        <c:ser>
          <c:idx val="1"/>
          <c:order val="1"/>
          <c:tx>
            <c:strRef>
              <c:f>Sheet1!$C$1</c:f>
              <c:strCache>
                <c:ptCount val="1"/>
                <c:pt idx="0">
                  <c:v>Gestión del riesgo ampliada</c:v>
                </c:pt>
              </c:strCache>
            </c:strRef>
          </c:tx>
          <c:spPr>
            <a:solidFill>
              <a:srgbClr val="005B96"/>
            </a:solidFill>
            <a:ln w="25400" cap="flat">
              <a:solidFill>
                <a:srgbClr val="005B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5B96"/>
              </a:solidFill>
              <a:ln w="9525" cap="flat">
                <a:solidFill>
                  <a:srgbClr val="005B96"/>
                </a:solidFill>
                <a:prstDash val="solid"/>
                <a:round/>
              </a:ln>
              <a:effectLst/>
            </c:spPr>
          </c:marker>
          <c:cat>
            <c:multiLvlStrRef>
              <c:f>Sheet1!$A$2:$A$13</c:f>
              <c:multiLvlStrCache>
                <c:ptCount val="12"/>
                <c:lvl>
                  <c:pt idx="0">
                    <c:v>ene</c:v>
                  </c:pt>
                  <c:pt idx="1">
                    <c:v>feb</c:v>
                  </c:pt>
                  <c:pt idx="2">
                    <c:v>mar</c:v>
                  </c:pt>
                  <c:pt idx="3">
                    <c:v>abr</c:v>
                  </c:pt>
                  <c:pt idx="4">
                    <c:v>may</c:v>
                  </c:pt>
                  <c:pt idx="5">
                    <c:v>jun</c:v>
                  </c:pt>
                  <c:pt idx="6">
                    <c:v>jul</c:v>
                  </c:pt>
                  <c:pt idx="7">
                    <c:v>ago</c:v>
                  </c:pt>
                  <c:pt idx="8">
                    <c:v>sep</c:v>
                  </c:pt>
                  <c:pt idx="9">
                    <c:v>oct</c:v>
                  </c:pt>
                  <c:pt idx="10">
                    <c:v>nov</c:v>
                  </c:pt>
                  <c:pt idx="11">
                    <c:v>dic</c:v>
                  </c:pt>
                </c:lvl>
              </c:multiLvlStrCache>
            </c:multiLvlStrRef>
          </c:cat>
          <c:val>
            <c:numRef>
              <c:f>Sheet1!$C$2:$C$13</c:f>
              <c:numCache>
                <c:formatCode>General</c:formatCode>
                <c:ptCount val="12"/>
                <c:pt idx="0">
                  <c:v>0.897</c:v>
                </c:pt>
                <c:pt idx="1">
                  <c:v>0.976</c:v>
                </c:pt>
                <c:pt idx="2">
                  <c:v>0.948</c:v>
                </c:pt>
                <c:pt idx="3">
                  <c:v>0.997</c:v>
                </c:pt>
                <c:pt idx="4">
                  <c:v>0.998</c:v>
                </c:pt>
                <c:pt idx="5">
                  <c:v>0.95</c:v>
                </c:pt>
                <c:pt idx="6">
                  <c:v>0.912</c:v>
                </c:pt>
                <c:pt idx="7">
                  <c:v>0.9790000000000001</c:v>
                </c:pt>
                <c:pt idx="8">
                  <c:v>1</c:v>
                </c:pt>
                <c:pt idx="9">
                  <c:v>0.9990000000000001</c:v>
                </c:pt>
                <c:pt idx="10">
                  <c:v>0.9990000000000001</c:v>
                </c:pt>
                <c:pt idx="11">
                  <c:v>0.941</c:v>
                </c:pt>
              </c:numCache>
            </c:numRef>
          </c:val>
          <c:smooth val="0"/>
        </c:ser>
        <c:ser>
          <c:idx val="2"/>
          <c:order val="2"/>
          <c:tx>
            <c:strRef>
              <c:f>Sheet1!$D$1</c:f>
              <c:strCache>
                <c:ptCount val="1"/>
                <c:pt idx="0">
                  <c:v>Gestión ampliada con canales</c:v>
                </c:pt>
              </c:strCache>
            </c:strRef>
          </c:tx>
          <c:spPr>
            <a:solidFill>
              <a:srgbClr val="009AA4"/>
            </a:solidFill>
            <a:ln w="25400" cap="flat">
              <a:solidFill>
                <a:srgbClr val="009AA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9AA4"/>
              </a:solidFill>
              <a:ln w="9525" cap="flat">
                <a:solidFill>
                  <a:srgbClr val="009AA4"/>
                </a:solidFill>
                <a:prstDash val="solid"/>
                <a:round/>
              </a:ln>
              <a:effectLst/>
            </c:spPr>
          </c:marker>
          <c:cat>
            <c:multiLvlStrRef>
              <c:f>Sheet1!$A$2:$A$13</c:f>
              <c:multiLvlStrCache>
                <c:ptCount val="12"/>
                <c:lvl>
                  <c:pt idx="0">
                    <c:v>ene</c:v>
                  </c:pt>
                  <c:pt idx="1">
                    <c:v>feb</c:v>
                  </c:pt>
                  <c:pt idx="2">
                    <c:v>mar</c:v>
                  </c:pt>
                  <c:pt idx="3">
                    <c:v>abr</c:v>
                  </c:pt>
                  <c:pt idx="4">
                    <c:v>may</c:v>
                  </c:pt>
                  <c:pt idx="5">
                    <c:v>jun</c:v>
                  </c:pt>
                  <c:pt idx="6">
                    <c:v>jul</c:v>
                  </c:pt>
                  <c:pt idx="7">
                    <c:v>ago</c:v>
                  </c:pt>
                  <c:pt idx="8">
                    <c:v>sep</c:v>
                  </c:pt>
                  <c:pt idx="9">
                    <c:v>oct</c:v>
                  </c:pt>
                  <c:pt idx="10">
                    <c:v>nov</c:v>
                  </c:pt>
                  <c:pt idx="11">
                    <c:v>dic</c:v>
                  </c:pt>
                </c:lvl>
              </c:multiLvlStrCache>
            </c:multiLvlStrRef>
          </c:cat>
          <c:val>
            <c:numRef>
              <c:f>Sheet1!$D$2:$D$13</c:f>
              <c:numCache>
                <c:formatCode>General</c:formatCode>
                <c:ptCount val="12"/>
                <c:pt idx="0">
                  <c:v>0.777</c:v>
                </c:pt>
                <c:pt idx="1">
                  <c:v>0.8540000000000001</c:v>
                </c:pt>
                <c:pt idx="2">
                  <c:v>0.8270000000000001</c:v>
                </c:pt>
                <c:pt idx="3">
                  <c:v>0.879</c:v>
                </c:pt>
                <c:pt idx="4">
                  <c:v>0.87</c:v>
                </c:pt>
                <c:pt idx="5">
                  <c:v>0.831</c:v>
                </c:pt>
                <c:pt idx="6">
                  <c:v>0.7929999999999999</c:v>
                </c:pt>
                <c:pt idx="7">
                  <c:v>0.857</c:v>
                </c:pt>
                <c:pt idx="8">
                  <c:v>0.889</c:v>
                </c:pt>
                <c:pt idx="9">
                  <c:v>0.875</c:v>
                </c:pt>
                <c:pt idx="10">
                  <c:v>0.873</c:v>
                </c:pt>
                <c:pt idx="11">
                  <c:v>0.823</c:v>
                </c:pt>
              </c:numCache>
            </c:numRef>
          </c:val>
          <c:smooth val="0"/>
        </c:ser>
        <c:ser>
          <c:idx val="3"/>
          <c:order val="3"/>
          <c:tx>
            <c:strRef>
              <c:f>Sheet1!$E$1</c:f>
              <c:strCache>
                <c:ptCount val="1"/>
                <c:pt idx="0">
                  <c:v>Caída de la gestión</c:v>
                </c:pt>
              </c:strCache>
            </c:strRef>
          </c:tx>
          <c:spPr>
            <a:solidFill>
              <a:srgbClr val="C7354A"/>
            </a:solidFill>
            <a:ln w="25400" cap="flat">
              <a:solidFill>
                <a:srgbClr val="C735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7354A"/>
              </a:solidFill>
              <a:ln w="9525" cap="flat">
                <a:solidFill>
                  <a:srgbClr val="C7354A"/>
                </a:solidFill>
                <a:prstDash val="solid"/>
                <a:round/>
              </a:ln>
              <a:effectLst/>
            </c:spPr>
          </c:marker>
          <c:cat>
            <c:multiLvlStrRef>
              <c:f>Sheet1!$A$2:$A$13</c:f>
              <c:multiLvlStrCache>
                <c:ptCount val="12"/>
                <c:lvl>
                  <c:pt idx="0">
                    <c:v>ene</c:v>
                  </c:pt>
                  <c:pt idx="1">
                    <c:v>feb</c:v>
                  </c:pt>
                  <c:pt idx="2">
                    <c:v>mar</c:v>
                  </c:pt>
                  <c:pt idx="3">
                    <c:v>abr</c:v>
                  </c:pt>
                  <c:pt idx="4">
                    <c:v>may</c:v>
                  </c:pt>
                  <c:pt idx="5">
                    <c:v>jun</c:v>
                  </c:pt>
                  <c:pt idx="6">
                    <c:v>jul</c:v>
                  </c:pt>
                  <c:pt idx="7">
                    <c:v>ago</c:v>
                  </c:pt>
                  <c:pt idx="8">
                    <c:v>sep</c:v>
                  </c:pt>
                  <c:pt idx="9">
                    <c:v>oct</c:v>
                  </c:pt>
                  <c:pt idx="10">
                    <c:v>nov</c:v>
                  </c:pt>
                  <c:pt idx="11">
                    <c:v>dic</c:v>
                  </c:pt>
                </c:lvl>
              </c:multiLvlStrCache>
            </c:multiLvlStrRef>
          </c:cat>
          <c:val>
            <c:numRef>
              <c:f>Sheet1!$E$2:$E$13</c:f>
              <c:numCache>
                <c:formatCode>General</c:formatCode>
                <c:ptCount val="12"/>
                <c:pt idx="0">
                  <c:v>0.895</c:v>
                </c:pt>
                <c:pt idx="1">
                  <c:v>0.971</c:v>
                </c:pt>
                <c:pt idx="2">
                  <c:v>0.941</c:v>
                </c:pt>
                <c:pt idx="3">
                  <c:v>0.9890000000000001</c:v>
                </c:pt>
                <c:pt idx="4">
                  <c:v>0.988</c:v>
                </c:pt>
                <c:pt idx="5">
                  <c:v>0.9390000000000001</c:v>
                </c:pt>
                <c:pt idx="6">
                  <c:v>0.9009999999999999</c:v>
                </c:pt>
                <c:pt idx="7">
                  <c:v>0.968</c:v>
                </c:pt>
                <c:pt idx="8">
                  <c:v>0.997</c:v>
                </c:pt>
                <c:pt idx="9">
                  <c:v>0.987</c:v>
                </c:pt>
                <c:pt idx="10">
                  <c:v>0.987</c:v>
                </c:pt>
                <c:pt idx="11">
                  <c:v>0.929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E3E8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9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el propósito de la sesión. La propuesta conecta dos piezas que hoy se gestionan por separado: la gestión del riesgo de las cohortes crónicas y la planeación de la capacidad de la red. El portal de demostración funciona con datos sintéticos de una red de cuatro sedes y 107.503 adultos; las cifras ilustran el mecanismo y no describen la operación real de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tensión central es temporal y espacial. Una ampliación de cobertura genera primero más controles programados y, solo después, menos hospitalizaciones evitables. Si la red no se ajusta, la consulta externa absorbe ese aumento y la oportunidad empeora. En la red sintética, pasar de la cobertura vigente a 25 puntos adicionales lleva la oportunidad P90 de 3,6 a 4,1 días; con canales domiciliario y virtual baja a 2,2 días. Las cifras provienen del modelo con datos sintéticos.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mecanismo tiene cinco etapas. La primera respeta la frontera federada: AlejandrIA no ingiere datos; cada Data Partner ejecuta la consulta sobre su OMOP CDM y entrega agregados con supresión de celdas menores a 11. La segunda proyecta la composición clínica de cada cohorte mes a mes. La tercera convierte estratos en atenciones y las enruta a zonas y canales. La cuarta aplica modelos de colas y de backlog según el tipo de zona. La quinta compara escenarios. Usamos la escala de madurez de NASEM: hoy es un modelo digital; llamarlo gemelo exige ingesta automática, calibración continua y cierre de ciclo.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portal se presenta como producto: navegación lateral, barra de contexto con escenario, sede y mes, y selectores que crecen con el catálogo. Los seis módulos siguen el orden de una conversación de planeación: dónde está la tensión, qué la explica en la población, dónde ocurre en el territorio, cómo se comporta dentro de la sede, qué escenario la resuelve y con qué supuestos trabaja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Panorama abre el portal en el escenario seleccionado. Cada celda del mapa de calor lleva a la sede y al mes correspondientes. Con otro escenario activo, el resumen muestra diferencias frente al statu quo. Las alertas mezclan saturación de zonas con eventos simulados de equipos, para mostrar cómo convivirían la planeación y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selector de cohorte se agrupa por ruta de atención y admite búsqueda, de modo que el catálogo puede crecer sin cambiar la interfaz. La comparación siempre se hace contra el statu quo. Las hospitalizaciones evitadas son modestas en un año y la banda P10–P90 lo hace visible; esta lectura es coherente con la evidencia de programas de gestión de enfermedad crónica, cuyo efecto sobre hospitalización se acumula en horizontes más largos. El valor del módulo está en anticipar la demanda de controles que la ampliación genera.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mapa usa una rampa secuencial de seis tonos y marca con línea gruesa los límites entre territorios de sede. La opción de sombrear celdas a más de 30 minutos permite discutir acceso y equidad. En producción, las celdas se construyen con un índice geoespacial jerárquico, como H3, y los conteos llegan agregados desde cada fuente con supresión de celdas pequeñas.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render 3D es una representación esquemática de la sede: cada zona se colorea según su estado y al seleccionarla se abre el panel con su indicador. La animación de pacientes está detenida por defecto para no distraer y se activa con "Reproducir flujo". El recorrido de 2027 permite ver la estacionalidad mes a mes. La meta de oportunidad de consulta externa toma como referencia la Resolución 1552 de 2013; las metas de espera de las zonas sin cita son supuestos que SURA debe fijar.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escenarios base son ilustrativos. El statu quo está bloqueado; los demás se pueden duplicar y editar, y la cobertura de cada cohorte se ajusta con controles generados desde el catálogo. La comparación admite hasta cinco escenarios. El costo de la variante con canales incluye visitas domiciliarias y teleconsultas a costos unitarios sintéticos; la discusión con SURA debe incluir el costo frente a la UPC y el valor de la oportunidad de 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Configuración es el módulo que diferencia una demostración de un producto operable. El contrato de datos fija mecanismo, granularidad, frescura y responsable de cada fuente; todas son sintéticas en este entorno. Los indicadores de salud del modelo permiten afirmar en qué nivel de madurez está la solución con evidencia, en lugar de declararlo.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línea roja marca la frontera federada. AlejandrIA no ingiere datos: cada Data Partner es responsable de su ingesta y de la transformación de FHIR a OMOP, y solo publica agregados con supresión. La telemetría operativa viaja por un espacio de nombres unificado sobre MQTT y no contiene datos de pacientes. Los referentes muestran que cada capacidad tiene precedentes en operación; la robótica de logística clínica se plantea para una fase posterior.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responde a la pregunta de dónde salen los números. Ningún parámetro de la demostración proviene de datos de SURA. La columna de calibración define qué datos se solicitarían en la primera fase, siempre como agregados federados. Las metas de espera por zona y la inasistencia por sede son decisiones o datos de SURA y deben fijarse antes de interpretar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avanza por niveles de madurez. La fase 0 reemplaza los parámetros sintéticos y mide el error de calibración; la fase 1 conecta agenda y estado de zonas para que el modelo refleje la operación casi en tiempo real; el Release 1.0 agrega recomendaciones con registro de aceptación y efecto, que es lo que permite llamar gemelo a la solución. La extensión incorpora equipos conectados y robótica de logística clínica cuando el valor esté demostrado.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la decisión concreta: aprobar la fase 0 con alcance acotado. Las tres condiciones dependen de SURA: priorizar sedes y cohortes, habilitar los agregados federados y fijar metas y responsables. Con eso, la conversación de planeación de 2027 se apoya en parámetros propios en lugar de supuestos.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70F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63040"/>
            <a:ext cx="4846320" cy="21031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457200" y="3749040"/>
            <a:ext cx="4754880" cy="1188720"/>
          </a:xfrm>
          <a:prstGeom prst="rect">
            <a:avLst/>
          </a:prstGeom>
          <a:noFill/>
          <a:ln/>
        </p:spPr>
        <p:txBody>
          <a:bodyPr wrap="square" rtlCol="0"/>
          <a:lstStyle>
            <a:lvl1pPr indent="0" marL="0">
              <a:buNone/>
              <a:defRPr lang="en-US" sz="1400" dirty="0">
                <a:solidFill>
                  <a:srgbClr val="C9D3E3"/>
                </a:solidFill>
              </a:defRPr>
            </a:lvl1pPr>
          </a:lstStyle>
          <a:p>
            <a:pPr indent="0" marL="0">
              <a:buNone/>
            </a:pPr>
            <a:endParaRPr lang="en-US" sz="1400" dirty="0"/>
          </a:p>
        </p:txBody>
      </p:sp>
      <p:sp>
        <p:nvSpPr>
          <p:cNvPr id="4" name="Text 0"/>
          <p:cNvSpPr/>
          <p:nvPr/>
        </p:nvSpPr>
        <p:spPr>
          <a:xfrm>
            <a:off x="457200" y="4572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NTT DATA</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rtlCol="0"/>
          <a:lstStyle>
            <a:lvl1pPr algn="l" indent="0" marL="0">
              <a:lnSpc>
                <a:spcPct val="95000"/>
              </a:lnSpc>
              <a:buNone/>
              <a:defRPr lang="en-US" sz="2300" b="1" dirty="0">
                <a:solidFill>
                  <a:schemeClr val="tx1"/>
                </a:solidFill>
              </a:defRPr>
            </a:lvl1pPr>
          </a:lstStyle>
          <a:p>
            <a:pPr algn="l" indent="0" marL="0">
              <a:lnSpc>
                <a:spcPct val="95000"/>
              </a:lnSpc>
              <a:buNone/>
            </a:pP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rtlCol="0"/>
          <a:lstStyle>
            <a:lvl1pPr algn="l" indent="0" marL="0">
              <a:buNone/>
              <a:defRPr lang="en-US" sz="1250" dirty="0">
                <a:solidFill>
                  <a:schemeClr val="tx2"/>
                </a:solidFill>
              </a:defRPr>
            </a:lvl1pPr>
          </a:lstStyle>
          <a:p>
            <a:pPr algn="l" indent="0" marL="0">
              <a:buNone/>
            </a:pPr>
            <a:endParaRPr lang="en-US" sz="1250" dirty="0"/>
          </a:p>
        </p:txBody>
      </p:sp>
      <p:sp>
        <p:nvSpPr>
          <p:cNvPr id="4" name="Text 0"/>
          <p:cNvSpPr/>
          <p:nvPr/>
        </p:nvSpPr>
        <p:spPr>
          <a:xfrm>
            <a:off x="457200" y="6473952"/>
            <a:ext cx="7315200" cy="228600"/>
          </a:xfrm>
          <a:prstGeom prst="rect">
            <a:avLst/>
          </a:prstGeom>
          <a:noFill/>
          <a:ln/>
        </p:spPr>
        <p:txBody>
          <a:bodyPr wrap="square" lIns="0" tIns="0" rIns="0" bIns="0" rtlCol="0" anchor="ctr"/>
          <a:lstStyle/>
          <a:p>
            <a:pPr indent="0" marL="0">
              <a:buNone/>
            </a:pPr>
            <a:r>
              <a:rPr lang="en-US" sz="800" dirty="0">
                <a:solidFill>
                  <a:srgbClr val="949494"/>
                </a:solidFill>
              </a:rPr>
              <a:t>NTT DATA  ·  Planeación de la red por cohortes de riesgo</a:t>
            </a:r>
            <a:endParaRPr lang="en-US" sz="8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070F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7295" cy="10058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457200" y="6473952"/>
            <a:ext cx="7315200" cy="228600"/>
          </a:xfrm>
          <a:prstGeom prst="rect">
            <a:avLst/>
          </a:prstGeom>
          <a:noFill/>
          <a:ln/>
        </p:spPr>
        <p:txBody>
          <a:bodyPr wrap="square" lIns="0" tIns="0" rIns="0" bIns="0" rtlCol="0" anchor="ctr"/>
          <a:lstStyle/>
          <a:p>
            <a:pPr indent="0" marL="0">
              <a:buNone/>
            </a:pPr>
            <a:r>
              <a:rPr lang="en-US" sz="800" dirty="0">
                <a:solidFill>
                  <a:srgbClr val="8F9BB3"/>
                </a:solidFill>
              </a:rPr>
              <a:t>NTT DATA  ·  Planeación de la red por cohortes de riesgo</a:t>
            </a:r>
            <a:endParaRPr lang="en-US" sz="8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F9BB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463040"/>
            <a:ext cx="4846320" cy="2103120"/>
          </a:xfrm>
          <a:prstGeom prst="rect">
            <a:avLst/>
          </a:prstGeom>
          <a:noFill/>
          <a:ln/>
        </p:spPr>
        <p:txBody>
          <a:bodyPr wrap="square" lIns="0" tIns="0" rIns="0" bIns="0" rtlCol="0" anchor="b"/>
          <a:lstStyle/>
          <a:p>
            <a:pPr algn="l" indent="0" marL="0">
              <a:buNone/>
            </a:pPr>
            <a:r>
              <a:rPr lang="en-US" sz="3000" b="1" dirty="0">
                <a:solidFill>
                  <a:schemeClr val="bg1"/>
                </a:solidFill>
              </a:rPr>
              <a:t>Planeación de la red de atención a partir del riesgo de cada cohorte</a:t>
            </a:r>
            <a:endParaRPr lang="en-US" sz="3000" dirty="0"/>
          </a:p>
        </p:txBody>
      </p:sp>
      <p:sp>
        <p:nvSpPr>
          <p:cNvPr id="3" name="Text 0"/>
          <p:cNvSpPr/>
          <p:nvPr>
            <p:ph idx="101" type="body" hasCustomPrompt="1"/>
          </p:nvPr>
        </p:nvSpPr>
        <p:spPr>
          <a:xfrm>
            <a:off x="457200" y="3749040"/>
            <a:ext cx="4754880" cy="1188720"/>
          </a:xfrm>
          <a:prstGeom prst="rect">
            <a:avLst/>
          </a:prstGeom>
          <a:noFill/>
          <a:ln/>
        </p:spPr>
        <p:txBody>
          <a:bodyPr wrap="square" lIns="0" tIns="0" rIns="0" bIns="0" rtlCol="0" anchor="t"/>
          <a:lstStyle/>
          <a:p>
            <a:pPr indent="0" marL="0">
              <a:buNone/>
            </a:pPr>
            <a:r>
              <a:rPr lang="en-US" sz="1400" dirty="0">
                <a:solidFill>
                  <a:srgbClr val="C9D3E3"/>
                </a:solidFill>
              </a:rPr>
              <a:t>Un modelo poblacional y un modelo de capacidad conectados para anticipar la demanda crónica por sede, zona y mes</a:t>
            </a:r>
            <a:endParaRPr lang="en-US" sz="1400" dirty="0"/>
          </a:p>
        </p:txBody>
      </p:sp>
      <p:sp>
        <p:nvSpPr>
          <p:cNvPr id="4" name="pie-portada-1"/>
          <p:cNvSpPr txBox="1"/>
          <p:nvPr/>
        </p:nvSpPr>
        <p:spPr>
          <a:xfrm>
            <a:off x="457200" y="5989320"/>
            <a:ext cx="6400800" cy="274320"/>
          </a:xfrm>
          <a:prstGeom prst="rect">
            <a:avLst/>
          </a:prstGeom>
          <a:noFill/>
          <a:ln/>
        </p:spPr>
        <p:txBody>
          <a:bodyPr wrap="square" lIns="0" tIns="0" rIns="0" bIns="0" rtlCol="0" anchor="t"/>
          <a:lstStyle/>
          <a:p>
            <a:pPr indent="0" marL="0">
              <a:buNone/>
            </a:pPr>
            <a:r>
              <a:rPr lang="en-US" sz="1000" dirty="0">
                <a:solidFill>
                  <a:srgbClr val="8F9BB3"/>
                </a:solidFill>
              </a:rPr>
              <a:t>Propuesta para la dirección de Population Health Management  ·  Octubre de 2026</a:t>
            </a:r>
            <a:endParaRPr lang="en-US" sz="1000" dirty="0"/>
          </a:p>
        </p:txBody>
      </p:sp>
      <p:pic>
        <p:nvPicPr>
          <p:cNvPr id="5" name="render-sede-3d" descr="/home/claude/sura/phm-gemelos/deck/capturas/r-portada3d.png">    </p:cNvPr>
          <p:cNvPicPr>
            <a:picLocks noChangeAspect="1"/>
          </p:cNvPicPr>
          <p:nvPr/>
        </p:nvPicPr>
        <p:blipFill>
          <a:blip r:embed="rId1"/>
          <a:stretch>
            <a:fillRect/>
          </a:stretch>
        </p:blipFill>
        <p:spPr>
          <a:xfrm>
            <a:off x="5470855" y="1234440"/>
            <a:ext cx="6400800" cy="3465095"/>
          </a:xfrm>
          <a:prstGeom prst="rect">
            <a:avLst/>
          </a:prstGeom>
        </p:spPr>
      </p:pic>
      <p:sp>
        <p:nvSpPr>
          <p:cNvPr id="6" name="nota-render-2"/>
          <p:cNvSpPr txBox="1"/>
          <p:nvPr/>
        </p:nvSpPr>
        <p:spPr>
          <a:xfrm>
            <a:off x="8031175" y="4790975"/>
            <a:ext cx="3840480" cy="228600"/>
          </a:xfrm>
          <a:prstGeom prst="rect">
            <a:avLst/>
          </a:prstGeom>
          <a:noFill/>
          <a:ln/>
        </p:spPr>
        <p:txBody>
          <a:bodyPr wrap="square" lIns="0" tIns="0" rIns="0" bIns="0" rtlCol="0" anchor="t"/>
          <a:lstStyle/>
          <a:p>
            <a:pPr algn="r" indent="0" marL="0">
              <a:buNone/>
            </a:pPr>
            <a:r>
              <a:rPr lang="en-US" sz="900" dirty="0">
                <a:solidFill>
                  <a:srgbClr val="8F9BB3"/>
                </a:solidFill>
              </a:rPr>
              <a:t>Modelo de capacidad de una sede con datos sintéticos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Ampliar la gestión del riesgo sin ajustar la red traslada la presión a la consulta y alarga la oportunidad de cita</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La demanda de las cohortes crónicas responde a la cobertura del programa con efectos que la planeación anual por sede no alcanza a ver.</a:t>
            </a:r>
            <a:endParaRPr lang="en-US" sz="1250" dirty="0"/>
          </a:p>
        </p:txBody>
      </p:sp>
      <p:sp>
        <p:nvSpPr>
          <p:cNvPr id="4" name="tension-3"/>
          <p:cNvSpPr/>
          <p:nvPr/>
        </p:nvSpPr>
        <p:spPr>
          <a:xfrm>
            <a:off x="457200" y="1673352"/>
            <a:ext cx="5989320" cy="1207008"/>
          </a:xfrm>
          <a:prstGeom prst="roundRect">
            <a:avLst>
              <a:gd name="adj" fmla="val 5303"/>
            </a:avLst>
          </a:prstGeom>
          <a:solidFill>
            <a:schemeClr val="bg2"/>
          </a:solidFill>
          <a:ln w="9525">
            <a:solidFill>
              <a:srgbClr val="D5DCE5"/>
            </a:solidFill>
            <a:prstDash val="solid"/>
          </a:ln>
        </p:spPr>
      </p:sp>
      <p:sp>
        <p:nvSpPr>
          <p:cNvPr id="5" name="icono-fondo-4"/>
          <p:cNvSpPr/>
          <p:nvPr/>
        </p:nvSpPr>
        <p:spPr>
          <a:xfrm>
            <a:off x="640080" y="1874520"/>
            <a:ext cx="457200" cy="457200"/>
          </a:xfrm>
          <a:prstGeom prst="ellipse">
            <a:avLst/>
          </a:prstGeom>
          <a:solidFill>
            <a:schemeClr val="accent6">
              <a:alpha val="12000"/>
            </a:schemeClr>
          </a:solidFill>
          <a:ln/>
        </p:spPr>
      </p:sp>
      <p:pic>
        <p:nvPicPr>
          <p:cNvPr id="6" name="icono-5" descr="preencoded.png">    </p:cNvPr>
          <p:cNvPicPr>
            <a:picLocks noChangeAspect="1"/>
          </p:cNvPicPr>
          <p:nvPr/>
        </p:nvPicPr>
        <p:blipFill>
          <a:blip r:embed="rId1"/>
          <a:stretch>
            <a:fillRect/>
          </a:stretch>
        </p:blipFill>
        <p:spPr>
          <a:xfrm>
            <a:off x="740664" y="1975104"/>
            <a:ext cx="256032" cy="256032"/>
          </a:xfrm>
          <a:prstGeom prst="rect">
            <a:avLst/>
          </a:prstGeom>
        </p:spPr>
      </p:pic>
      <p:sp>
        <p:nvSpPr>
          <p:cNvPr id="7" name="tension-titulo-6"/>
          <p:cNvSpPr txBox="1"/>
          <p:nvPr/>
        </p:nvSpPr>
        <p:spPr>
          <a:xfrm>
            <a:off x="1280160" y="1856232"/>
            <a:ext cx="4983480" cy="274320"/>
          </a:xfrm>
          <a:prstGeom prst="rect">
            <a:avLst/>
          </a:prstGeom>
          <a:noFill/>
          <a:ln/>
        </p:spPr>
        <p:txBody>
          <a:bodyPr wrap="square" lIns="0" tIns="0" rIns="0" bIns="0" rtlCol="0" anchor="t"/>
          <a:lstStyle/>
          <a:p>
            <a:pPr indent="0" marL="0">
              <a:buNone/>
            </a:pPr>
            <a:r>
              <a:rPr lang="en-US" sz="1200" b="1" dirty="0">
                <a:solidFill>
                  <a:schemeClr val="tx1"/>
                </a:solidFill>
              </a:rPr>
              <a:t>Los efectos llegan con tiempos distintos</a:t>
            </a:r>
            <a:endParaRPr lang="en-US" sz="1200" dirty="0"/>
          </a:p>
        </p:txBody>
      </p:sp>
      <p:sp>
        <p:nvSpPr>
          <p:cNvPr id="8" name="tension-texto-7"/>
          <p:cNvSpPr txBox="1"/>
          <p:nvPr/>
        </p:nvSpPr>
        <p:spPr>
          <a:xfrm>
            <a:off x="1280160" y="2157984"/>
            <a:ext cx="4983480" cy="658368"/>
          </a:xfrm>
          <a:prstGeom prst="rect">
            <a:avLst/>
          </a:prstGeom>
          <a:noFill/>
          <a:ln/>
        </p:spPr>
        <p:txBody>
          <a:bodyPr wrap="square" lIns="0" tIns="0" rIns="0" bIns="0" rtlCol="0" anchor="t"/>
          <a:lstStyle/>
          <a:p>
            <a:pPr indent="0" marL="0">
              <a:buNone/>
            </a:pPr>
            <a:r>
              <a:rPr lang="en-US" sz="1050" dirty="0">
                <a:solidFill>
                  <a:schemeClr val="tx2"/>
                </a:solidFill>
              </a:rPr>
              <a:t>Al aumentar la cobertura, los controles programados crecen en semanas; las hospitalizaciones evitables bajan de forma gradual y solo en la fracción sensible al cuidado ambulatorio (CSCA).</a:t>
            </a:r>
            <a:endParaRPr lang="en-US" sz="1050" dirty="0"/>
          </a:p>
        </p:txBody>
      </p:sp>
      <p:sp>
        <p:nvSpPr>
          <p:cNvPr id="9" name="tension-8"/>
          <p:cNvSpPr/>
          <p:nvPr/>
        </p:nvSpPr>
        <p:spPr>
          <a:xfrm>
            <a:off x="457200" y="3044952"/>
            <a:ext cx="5989320" cy="1207008"/>
          </a:xfrm>
          <a:prstGeom prst="roundRect">
            <a:avLst>
              <a:gd name="adj" fmla="val 5303"/>
            </a:avLst>
          </a:prstGeom>
          <a:solidFill>
            <a:schemeClr val="bg2"/>
          </a:solidFill>
          <a:ln w="9525">
            <a:solidFill>
              <a:srgbClr val="D5DCE5"/>
            </a:solidFill>
            <a:prstDash val="solid"/>
          </a:ln>
        </p:spPr>
      </p:sp>
      <p:sp>
        <p:nvSpPr>
          <p:cNvPr id="10" name="icono-fondo-9"/>
          <p:cNvSpPr/>
          <p:nvPr/>
        </p:nvSpPr>
        <p:spPr>
          <a:xfrm>
            <a:off x="640080" y="3246120"/>
            <a:ext cx="457200" cy="457200"/>
          </a:xfrm>
          <a:prstGeom prst="ellipse">
            <a:avLst/>
          </a:prstGeom>
          <a:solidFill>
            <a:schemeClr val="accent6">
              <a:alpha val="12000"/>
            </a:schemeClr>
          </a:solidFill>
          <a:ln/>
        </p:spPr>
      </p:sp>
      <p:pic>
        <p:nvPicPr>
          <p:cNvPr id="11" name="icono-10" descr="preencoded.png">    </p:cNvPr>
          <p:cNvPicPr>
            <a:picLocks noChangeAspect="1"/>
          </p:cNvPicPr>
          <p:nvPr/>
        </p:nvPicPr>
        <p:blipFill>
          <a:blip r:embed="rId2"/>
          <a:stretch>
            <a:fillRect/>
          </a:stretch>
        </p:blipFill>
        <p:spPr>
          <a:xfrm>
            <a:off x="740664" y="3346704"/>
            <a:ext cx="256032" cy="256032"/>
          </a:xfrm>
          <a:prstGeom prst="rect">
            <a:avLst/>
          </a:prstGeom>
        </p:spPr>
      </p:pic>
      <p:sp>
        <p:nvSpPr>
          <p:cNvPr id="12" name="tension-titulo-11"/>
          <p:cNvSpPr txBox="1"/>
          <p:nvPr/>
        </p:nvSpPr>
        <p:spPr>
          <a:xfrm>
            <a:off x="1280160" y="3227832"/>
            <a:ext cx="4983480" cy="274320"/>
          </a:xfrm>
          <a:prstGeom prst="rect">
            <a:avLst/>
          </a:prstGeom>
          <a:noFill/>
          <a:ln/>
        </p:spPr>
        <p:txBody>
          <a:bodyPr wrap="square" lIns="0" tIns="0" rIns="0" bIns="0" rtlCol="0" anchor="t"/>
          <a:lstStyle/>
          <a:p>
            <a:pPr indent="0" marL="0">
              <a:buNone/>
            </a:pPr>
            <a:r>
              <a:rPr lang="en-US" sz="1200" b="1" dirty="0">
                <a:solidFill>
                  <a:schemeClr val="tx1"/>
                </a:solidFill>
              </a:rPr>
              <a:t>La tensión ocurre por zona y por mes</a:t>
            </a:r>
            <a:endParaRPr lang="en-US" sz="1200" dirty="0"/>
          </a:p>
        </p:txBody>
      </p:sp>
      <p:sp>
        <p:nvSpPr>
          <p:cNvPr id="13" name="tension-texto-12"/>
          <p:cNvSpPr txBox="1"/>
          <p:nvPr/>
        </p:nvSpPr>
        <p:spPr>
          <a:xfrm>
            <a:off x="1280160" y="3529584"/>
            <a:ext cx="4983480" cy="658368"/>
          </a:xfrm>
          <a:prstGeom prst="rect">
            <a:avLst/>
          </a:prstGeom>
          <a:noFill/>
          <a:ln/>
        </p:spPr>
        <p:txBody>
          <a:bodyPr wrap="square" lIns="0" tIns="0" rIns="0" bIns="0" rtlCol="0" anchor="t"/>
          <a:lstStyle/>
          <a:p>
            <a:pPr indent="0" marL="0">
              <a:buNone/>
            </a:pPr>
            <a:r>
              <a:rPr lang="en-US" sz="1050" dirty="0">
                <a:solidFill>
                  <a:schemeClr val="tx2"/>
                </a:solidFill>
              </a:rPr>
              <a:t>La capacidad se planea por sede y por año, pero la saturación aparece en zonas concretas (consulta externa, admisión) y en meses de pico estacional.</a:t>
            </a:r>
            <a:endParaRPr lang="en-US" sz="1050" dirty="0"/>
          </a:p>
        </p:txBody>
      </p:sp>
      <p:sp>
        <p:nvSpPr>
          <p:cNvPr id="14" name="tension-13"/>
          <p:cNvSpPr/>
          <p:nvPr/>
        </p:nvSpPr>
        <p:spPr>
          <a:xfrm>
            <a:off x="457200" y="4416552"/>
            <a:ext cx="5989320" cy="1207008"/>
          </a:xfrm>
          <a:prstGeom prst="roundRect">
            <a:avLst>
              <a:gd name="adj" fmla="val 5303"/>
            </a:avLst>
          </a:prstGeom>
          <a:solidFill>
            <a:schemeClr val="bg2"/>
          </a:solidFill>
          <a:ln w="9525">
            <a:solidFill>
              <a:srgbClr val="D5DCE5"/>
            </a:solidFill>
            <a:prstDash val="solid"/>
          </a:ln>
        </p:spPr>
      </p:sp>
      <p:sp>
        <p:nvSpPr>
          <p:cNvPr id="15" name="icono-fondo-14"/>
          <p:cNvSpPr/>
          <p:nvPr/>
        </p:nvSpPr>
        <p:spPr>
          <a:xfrm>
            <a:off x="640080" y="4617720"/>
            <a:ext cx="457200" cy="457200"/>
          </a:xfrm>
          <a:prstGeom prst="ellipse">
            <a:avLst/>
          </a:prstGeom>
          <a:solidFill>
            <a:schemeClr val="accent6">
              <a:alpha val="12000"/>
            </a:schemeClr>
          </a:solidFill>
          <a:ln/>
        </p:spPr>
      </p:sp>
      <p:pic>
        <p:nvPicPr>
          <p:cNvPr id="16" name="icono-15" descr="preencoded.png">    </p:cNvPr>
          <p:cNvPicPr>
            <a:picLocks noChangeAspect="1"/>
          </p:cNvPicPr>
          <p:nvPr/>
        </p:nvPicPr>
        <p:blipFill>
          <a:blip r:embed="rId3"/>
          <a:stretch>
            <a:fillRect/>
          </a:stretch>
        </p:blipFill>
        <p:spPr>
          <a:xfrm>
            <a:off x="740664" y="4718304"/>
            <a:ext cx="256032" cy="256032"/>
          </a:xfrm>
          <a:prstGeom prst="rect">
            <a:avLst/>
          </a:prstGeom>
        </p:spPr>
      </p:pic>
      <p:sp>
        <p:nvSpPr>
          <p:cNvPr id="17" name="tension-titulo-16"/>
          <p:cNvSpPr txBox="1"/>
          <p:nvPr/>
        </p:nvSpPr>
        <p:spPr>
          <a:xfrm>
            <a:off x="1280160" y="4599432"/>
            <a:ext cx="4983480" cy="274320"/>
          </a:xfrm>
          <a:prstGeom prst="rect">
            <a:avLst/>
          </a:prstGeom>
          <a:noFill/>
          <a:ln/>
        </p:spPr>
        <p:txBody>
          <a:bodyPr wrap="square" lIns="0" tIns="0" rIns="0" bIns="0" rtlCol="0" anchor="t"/>
          <a:lstStyle/>
          <a:p>
            <a:pPr indent="0" marL="0">
              <a:buNone/>
            </a:pPr>
            <a:r>
              <a:rPr lang="en-US" sz="1200" b="1" dirty="0">
                <a:solidFill>
                  <a:schemeClr val="tx1"/>
                </a:solidFill>
              </a:rPr>
              <a:t>Los canales alternos se dimensionan aparte</a:t>
            </a:r>
            <a:endParaRPr lang="en-US" sz="1200" dirty="0"/>
          </a:p>
        </p:txBody>
      </p:sp>
      <p:sp>
        <p:nvSpPr>
          <p:cNvPr id="18" name="tension-texto-17"/>
          <p:cNvSpPr txBox="1"/>
          <p:nvPr/>
        </p:nvSpPr>
        <p:spPr>
          <a:xfrm>
            <a:off x="1280160" y="4901184"/>
            <a:ext cx="4983480" cy="658368"/>
          </a:xfrm>
          <a:prstGeom prst="rect">
            <a:avLst/>
          </a:prstGeom>
          <a:noFill/>
          <a:ln/>
        </p:spPr>
        <p:txBody>
          <a:bodyPr wrap="square" lIns="0" tIns="0" rIns="0" bIns="0" rtlCol="0" anchor="t"/>
          <a:lstStyle/>
          <a:p>
            <a:pPr indent="0" marL="0">
              <a:buNone/>
            </a:pPr>
            <a:r>
              <a:rPr lang="en-US" sz="1050" dirty="0">
                <a:solidFill>
                  <a:schemeClr val="tx2"/>
                </a:solidFill>
              </a:rPr>
              <a:t>La atención domiciliaria y la virtual liberan capacidad presencial solo si se dimensionan con el estrato clínico de cada cohorte y con su retorno a consulta presencial.</a:t>
            </a:r>
            <a:endParaRPr lang="en-US" sz="1050" dirty="0"/>
          </a:p>
        </p:txBody>
      </p:sp>
      <p:sp>
        <p:nvSpPr>
          <p:cNvPr id="19" name="evidencia-etiqueta-18"/>
          <p:cNvSpPr txBox="1"/>
          <p:nvPr/>
        </p:nvSpPr>
        <p:spPr>
          <a:xfrm>
            <a:off x="6720840" y="1673352"/>
            <a:ext cx="5013655" cy="228600"/>
          </a:xfrm>
          <a:prstGeom prst="rect">
            <a:avLst/>
          </a:prstGeom>
          <a:noFill/>
          <a:ln/>
        </p:spPr>
        <p:txBody>
          <a:bodyPr wrap="square" lIns="0" tIns="0" rIns="0" bIns="0" rtlCol="0" anchor="t"/>
          <a:lstStyle/>
          <a:p>
            <a:pPr indent="0" marL="0">
              <a:buNone/>
            </a:pPr>
            <a:r>
              <a:rPr lang="en-US" sz="850" b="1" spc="50" kern="0" dirty="0">
                <a:solidFill>
                  <a:schemeClr val="accent1"/>
                </a:solidFill>
              </a:rPr>
              <a:t>LO QUE MUESTRA EL MODELO EN UNA RED SINTÉTICA DE CUATRO SEDES</a:t>
            </a:r>
            <a:endParaRPr lang="en-US" sz="850" dirty="0"/>
          </a:p>
        </p:txBody>
      </p:sp>
      <p:sp>
        <p:nvSpPr>
          <p:cNvPr id="20" name="cifra-19"/>
          <p:cNvSpPr/>
          <p:nvPr/>
        </p:nvSpPr>
        <p:spPr>
          <a:xfrm>
            <a:off x="6720840" y="2011680"/>
            <a:ext cx="5013655" cy="932688"/>
          </a:xfrm>
          <a:prstGeom prst="roundRect">
            <a:avLst>
              <a:gd name="adj" fmla="val 6863"/>
            </a:avLst>
          </a:prstGeom>
          <a:solidFill>
            <a:srgbClr val="FFFFFF"/>
          </a:solidFill>
          <a:ln w="9525">
            <a:solidFill>
              <a:srgbClr val="D5DCE5"/>
            </a:solidFill>
            <a:prstDash val="solid"/>
          </a:ln>
        </p:spPr>
      </p:sp>
      <p:sp>
        <p:nvSpPr>
          <p:cNvPr id="21" name="cifra-valor-20"/>
          <p:cNvSpPr txBox="1"/>
          <p:nvPr/>
        </p:nvSpPr>
        <p:spPr>
          <a:xfrm>
            <a:off x="6949440" y="2157984"/>
            <a:ext cx="1920240" cy="640080"/>
          </a:xfrm>
          <a:prstGeom prst="rect">
            <a:avLst/>
          </a:prstGeom>
          <a:noFill/>
          <a:ln/>
        </p:spPr>
        <p:txBody>
          <a:bodyPr wrap="square" lIns="0" tIns="0" rIns="0" bIns="0" rtlCol="0" anchor="ctr"/>
          <a:lstStyle/>
          <a:p>
            <a:pPr indent="0" marL="0">
              <a:buNone/>
            </a:pPr>
            <a:r>
              <a:rPr lang="en-US" sz="3000" b="1" dirty="0">
                <a:solidFill>
                  <a:schemeClr val="tx1"/>
                </a:solidFill>
              </a:rPr>
              <a:t>3,6 días</a:t>
            </a:r>
            <a:endParaRPr lang="en-US" sz="3000" dirty="0"/>
          </a:p>
        </p:txBody>
      </p:sp>
      <p:sp>
        <p:nvSpPr>
          <p:cNvPr id="22" name="cifra-texto-21"/>
          <p:cNvSpPr txBox="1"/>
          <p:nvPr/>
        </p:nvSpPr>
        <p:spPr>
          <a:xfrm>
            <a:off x="8961120" y="2176272"/>
            <a:ext cx="2590495" cy="603504"/>
          </a:xfrm>
          <a:prstGeom prst="rect">
            <a:avLst/>
          </a:prstGeom>
          <a:noFill/>
          <a:ln/>
        </p:spPr>
        <p:txBody>
          <a:bodyPr wrap="square" lIns="0" tIns="0" rIns="0" bIns="0" rtlCol="0" anchor="ctr"/>
          <a:lstStyle/>
          <a:p>
            <a:pPr indent="0" marL="0">
              <a:buNone/>
            </a:pPr>
            <a:r>
              <a:rPr lang="en-US" sz="1050" dirty="0">
                <a:solidFill>
                  <a:schemeClr val="tx1"/>
                </a:solidFill>
              </a:rPr>
              <a:t>Oportunidad de cita P90 máxima con la cobertura vigente</a:t>
            </a:r>
            <a:endParaRPr lang="en-US" sz="1050" dirty="0"/>
          </a:p>
        </p:txBody>
      </p:sp>
      <p:sp>
        <p:nvSpPr>
          <p:cNvPr id="23" name="cifra-22"/>
          <p:cNvSpPr/>
          <p:nvPr/>
        </p:nvSpPr>
        <p:spPr>
          <a:xfrm>
            <a:off x="6720840" y="3054096"/>
            <a:ext cx="5013655" cy="932688"/>
          </a:xfrm>
          <a:prstGeom prst="roundRect">
            <a:avLst>
              <a:gd name="adj" fmla="val 6863"/>
            </a:avLst>
          </a:prstGeom>
          <a:solidFill>
            <a:srgbClr val="FFFFFF"/>
          </a:solidFill>
          <a:ln w="9525">
            <a:solidFill>
              <a:srgbClr val="D5DCE5"/>
            </a:solidFill>
            <a:prstDash val="solid"/>
          </a:ln>
        </p:spPr>
      </p:sp>
      <p:sp>
        <p:nvSpPr>
          <p:cNvPr id="24" name="cifra-valor-23"/>
          <p:cNvSpPr txBox="1"/>
          <p:nvPr/>
        </p:nvSpPr>
        <p:spPr>
          <a:xfrm>
            <a:off x="6949440" y="3200400"/>
            <a:ext cx="1920240" cy="640080"/>
          </a:xfrm>
          <a:prstGeom prst="rect">
            <a:avLst/>
          </a:prstGeom>
          <a:noFill/>
          <a:ln/>
        </p:spPr>
        <p:txBody>
          <a:bodyPr wrap="square" lIns="0" tIns="0" rIns="0" bIns="0" rtlCol="0" anchor="ctr"/>
          <a:lstStyle/>
          <a:p>
            <a:pPr indent="0" marL="0">
              <a:buNone/>
            </a:pPr>
            <a:r>
              <a:rPr lang="en-US" sz="3000" b="1" dirty="0">
                <a:solidFill>
                  <a:schemeClr val="accent6"/>
                </a:solidFill>
              </a:rPr>
              <a:t>4,1 días</a:t>
            </a:r>
            <a:endParaRPr lang="en-US" sz="3000" dirty="0"/>
          </a:p>
        </p:txBody>
      </p:sp>
      <p:sp>
        <p:nvSpPr>
          <p:cNvPr id="25" name="cifra-texto-24"/>
          <p:cNvSpPr txBox="1"/>
          <p:nvPr/>
        </p:nvSpPr>
        <p:spPr>
          <a:xfrm>
            <a:off x="8961120" y="3218688"/>
            <a:ext cx="2590495" cy="603504"/>
          </a:xfrm>
          <a:prstGeom prst="rect">
            <a:avLst/>
          </a:prstGeom>
          <a:noFill/>
          <a:ln/>
        </p:spPr>
        <p:txBody>
          <a:bodyPr wrap="square" lIns="0" tIns="0" rIns="0" bIns="0" rtlCol="0" anchor="ctr"/>
          <a:lstStyle/>
          <a:p>
            <a:pPr indent="0" marL="0">
              <a:buNone/>
            </a:pPr>
            <a:r>
              <a:rPr lang="en-US" sz="1050" dirty="0">
                <a:solidFill>
                  <a:schemeClr val="tx1"/>
                </a:solidFill>
              </a:rPr>
              <a:t>Con 25 puntos más de cobertura y la misma red</a:t>
            </a:r>
            <a:endParaRPr lang="en-US" sz="1050" dirty="0"/>
          </a:p>
        </p:txBody>
      </p:sp>
      <p:sp>
        <p:nvSpPr>
          <p:cNvPr id="26" name="cifra-25"/>
          <p:cNvSpPr/>
          <p:nvPr/>
        </p:nvSpPr>
        <p:spPr>
          <a:xfrm>
            <a:off x="6720840" y="4096512"/>
            <a:ext cx="5013655" cy="932688"/>
          </a:xfrm>
          <a:prstGeom prst="roundRect">
            <a:avLst>
              <a:gd name="adj" fmla="val 6863"/>
            </a:avLst>
          </a:prstGeom>
          <a:solidFill>
            <a:srgbClr val="FFFFFF"/>
          </a:solidFill>
          <a:ln w="9525">
            <a:solidFill>
              <a:srgbClr val="D5DCE5"/>
            </a:solidFill>
            <a:prstDash val="solid"/>
          </a:ln>
        </p:spPr>
      </p:sp>
      <p:sp>
        <p:nvSpPr>
          <p:cNvPr id="27" name="cifra-valor-26"/>
          <p:cNvSpPr txBox="1"/>
          <p:nvPr/>
        </p:nvSpPr>
        <p:spPr>
          <a:xfrm>
            <a:off x="6949440" y="4242816"/>
            <a:ext cx="1920240" cy="640080"/>
          </a:xfrm>
          <a:prstGeom prst="rect">
            <a:avLst/>
          </a:prstGeom>
          <a:noFill/>
          <a:ln/>
        </p:spPr>
        <p:txBody>
          <a:bodyPr wrap="square" lIns="0" tIns="0" rIns="0" bIns="0" rtlCol="0" anchor="ctr"/>
          <a:lstStyle/>
          <a:p>
            <a:pPr indent="0" marL="0">
              <a:buNone/>
            </a:pPr>
            <a:r>
              <a:rPr lang="en-US" sz="3000" b="1" dirty="0">
                <a:solidFill>
                  <a:schemeClr val="accent2"/>
                </a:solidFill>
              </a:rPr>
              <a:t>2,2 días</a:t>
            </a:r>
            <a:endParaRPr lang="en-US" sz="3000" dirty="0"/>
          </a:p>
        </p:txBody>
      </p:sp>
      <p:sp>
        <p:nvSpPr>
          <p:cNvPr id="28" name="cifra-texto-27"/>
          <p:cNvSpPr txBox="1"/>
          <p:nvPr/>
        </p:nvSpPr>
        <p:spPr>
          <a:xfrm>
            <a:off x="8961120" y="4261104"/>
            <a:ext cx="2590495" cy="603504"/>
          </a:xfrm>
          <a:prstGeom prst="rect">
            <a:avLst/>
          </a:prstGeom>
          <a:noFill/>
          <a:ln/>
        </p:spPr>
        <p:txBody>
          <a:bodyPr wrap="square" lIns="0" tIns="0" rIns="0" bIns="0" rtlCol="0" anchor="ctr"/>
          <a:lstStyle/>
          <a:p>
            <a:pPr indent="0" marL="0">
              <a:buNone/>
            </a:pPr>
            <a:r>
              <a:rPr lang="en-US" sz="1050" dirty="0">
                <a:solidFill>
                  <a:schemeClr val="tx1"/>
                </a:solidFill>
              </a:rPr>
              <a:t>Con la misma cobertura más atención domiciliaria, virtual y recordatorios</a:t>
            </a:r>
            <a:endParaRPr lang="en-US" sz="1050" dirty="0"/>
          </a:p>
        </p:txBody>
      </p:sp>
      <p:sp>
        <p:nvSpPr>
          <p:cNvPr id="29" name="evidencia-nota-28"/>
          <p:cNvSpPr txBox="1"/>
          <p:nvPr/>
        </p:nvSpPr>
        <p:spPr>
          <a:xfrm>
            <a:off x="6720840" y="5184648"/>
            <a:ext cx="5013655" cy="685800"/>
          </a:xfrm>
          <a:prstGeom prst="rect">
            <a:avLst/>
          </a:prstGeom>
          <a:noFill/>
          <a:ln/>
        </p:spPr>
        <p:txBody>
          <a:bodyPr wrap="square" lIns="0" tIns="0" rIns="0" bIns="0" rtlCol="0" anchor="t"/>
          <a:lstStyle/>
          <a:p>
            <a:pPr indent="0" marL="0">
              <a:buNone/>
            </a:pPr>
            <a:r>
              <a:rPr lang="en-US" sz="900" dirty="0">
                <a:solidFill>
                  <a:schemeClr val="tx2"/>
                </a:solidFill>
              </a:rPr>
              <a:t>Meses-sede con alguna zona saturada en 2027: 8 de 48 con la cobertura vigente, 8 de 48 con cobertura ampliada y 0 de 48 con canales. Referencia de oportunidad para medicina general: 3 días hábiles (Resolución 1552 de 2013).</a:t>
            </a:r>
            <a:endParaRPr lang="en-US" sz="9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Un modelo poblacional y un modelo de capacidad conectados traducen el riesgo de cada cohorte en demanda por sede, zona y mes</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Cada etapa produce una salida que consume la siguiente; la decisión vuelve al modelo como cambio de cobertura, canal o capacidad.</a:t>
            </a:r>
            <a:endParaRPr lang="en-US" sz="1250" dirty="0"/>
          </a:p>
        </p:txBody>
      </p:sp>
      <p:sp>
        <p:nvSpPr>
          <p:cNvPr id="4" name="etapa-29"/>
          <p:cNvSpPr/>
          <p:nvPr/>
        </p:nvSpPr>
        <p:spPr>
          <a:xfrm>
            <a:off x="457200" y="1719072"/>
            <a:ext cx="2075688" cy="3246120"/>
          </a:xfrm>
          <a:prstGeom prst="roundRect">
            <a:avLst>
              <a:gd name="adj" fmla="val 3084"/>
            </a:avLst>
          </a:prstGeom>
          <a:solidFill>
            <a:srgbClr val="FFFFFF"/>
          </a:solidFill>
          <a:ln w="9525">
            <a:solidFill>
              <a:srgbClr val="D5DCE5"/>
            </a:solidFill>
            <a:prstDash val="solid"/>
          </a:ln>
        </p:spPr>
      </p:sp>
      <p:sp>
        <p:nvSpPr>
          <p:cNvPr id="5" name="icono-fondo-30"/>
          <p:cNvSpPr/>
          <p:nvPr/>
        </p:nvSpPr>
        <p:spPr>
          <a:xfrm>
            <a:off x="621792" y="1901952"/>
            <a:ext cx="475488" cy="475488"/>
          </a:xfrm>
          <a:prstGeom prst="ellipse">
            <a:avLst/>
          </a:prstGeom>
          <a:solidFill>
            <a:schemeClr val="accent1"/>
          </a:solidFill>
          <a:ln/>
        </p:spPr>
      </p:sp>
      <p:pic>
        <p:nvPicPr>
          <p:cNvPr id="6" name="icono-31" descr="preencoded.png">    </p:cNvPr>
          <p:cNvPicPr>
            <a:picLocks noChangeAspect="1"/>
          </p:cNvPicPr>
          <p:nvPr/>
        </p:nvPicPr>
        <p:blipFill>
          <a:blip r:embed="rId1"/>
          <a:stretch>
            <a:fillRect/>
          </a:stretch>
        </p:blipFill>
        <p:spPr>
          <a:xfrm>
            <a:off x="726399" y="2006559"/>
            <a:ext cx="266273" cy="266273"/>
          </a:xfrm>
          <a:prstGeom prst="rect">
            <a:avLst/>
          </a:prstGeom>
        </p:spPr>
      </p:pic>
      <p:sp>
        <p:nvSpPr>
          <p:cNvPr id="7" name="etapa-num-32"/>
          <p:cNvSpPr txBox="1"/>
          <p:nvPr/>
        </p:nvSpPr>
        <p:spPr>
          <a:xfrm>
            <a:off x="1984248" y="1938528"/>
            <a:ext cx="384048" cy="365760"/>
          </a:xfrm>
          <a:prstGeom prst="rect">
            <a:avLst/>
          </a:prstGeom>
          <a:noFill/>
          <a:ln/>
        </p:spPr>
        <p:txBody>
          <a:bodyPr wrap="square" lIns="0" tIns="0" rIns="0" bIns="0" rtlCol="0" anchor="t"/>
          <a:lstStyle/>
          <a:p>
            <a:pPr algn="r" indent="0" marL="0">
              <a:buNone/>
            </a:pPr>
            <a:r>
              <a:rPr lang="en-US" sz="1600" b="1" dirty="0">
                <a:solidFill>
                  <a:srgbClr val="D5DCE5"/>
                </a:solidFill>
              </a:rPr>
              <a:t>01</a:t>
            </a:r>
            <a:endParaRPr lang="en-US" sz="1600" dirty="0"/>
          </a:p>
        </p:txBody>
      </p:sp>
      <p:sp>
        <p:nvSpPr>
          <p:cNvPr id="8" name="etapa-titulo-33"/>
          <p:cNvSpPr txBox="1"/>
          <p:nvPr/>
        </p:nvSpPr>
        <p:spPr>
          <a:xfrm>
            <a:off x="621792" y="2496312"/>
            <a:ext cx="1746504" cy="457200"/>
          </a:xfrm>
          <a:prstGeom prst="rect">
            <a:avLst/>
          </a:prstGeom>
          <a:noFill/>
          <a:ln/>
        </p:spPr>
        <p:txBody>
          <a:bodyPr wrap="square" lIns="0" tIns="0" rIns="0" bIns="0" rtlCol="0" anchor="b"/>
          <a:lstStyle/>
          <a:p>
            <a:pPr indent="0" marL="0">
              <a:buNone/>
            </a:pPr>
            <a:r>
              <a:rPr lang="en-US" sz="1200" b="1" dirty="0">
                <a:solidFill>
                  <a:schemeClr val="tx1"/>
                </a:solidFill>
              </a:rPr>
              <a:t>Agregados federados</a:t>
            </a:r>
            <a:endParaRPr lang="en-US" sz="1200" dirty="0"/>
          </a:p>
        </p:txBody>
      </p:sp>
      <p:sp>
        <p:nvSpPr>
          <p:cNvPr id="9" name="etapa-texto-34"/>
          <p:cNvSpPr txBox="1"/>
          <p:nvPr/>
        </p:nvSpPr>
        <p:spPr>
          <a:xfrm>
            <a:off x="621792" y="3044952"/>
            <a:ext cx="1746504" cy="1097280"/>
          </a:xfrm>
          <a:prstGeom prst="rect">
            <a:avLst/>
          </a:prstGeom>
          <a:noFill/>
          <a:ln/>
        </p:spPr>
        <p:txBody>
          <a:bodyPr wrap="square" lIns="0" tIns="0" rIns="0" bIns="0" rtlCol="0" anchor="t"/>
          <a:lstStyle/>
          <a:p>
            <a:pPr indent="0" marL="0">
              <a:buNone/>
            </a:pPr>
            <a:r>
              <a:rPr lang="en-US" sz="950" dirty="0">
                <a:solidFill>
                  <a:schemeClr val="tx2"/>
                </a:solidFill>
              </a:rPr>
              <a:t>Personas por celda territorial, cohorte y perfil de multimorbilidad desde OMOP CDM en cada fuente, con supresión de conteos menores a 11.</a:t>
            </a:r>
            <a:endParaRPr lang="en-US" sz="950" dirty="0"/>
          </a:p>
        </p:txBody>
      </p:sp>
      <p:sp>
        <p:nvSpPr>
          <p:cNvPr id="10" name="separador-35"/>
          <p:cNvSpPr/>
          <p:nvPr/>
        </p:nvSpPr>
        <p:spPr>
          <a:xfrm>
            <a:off x="621792" y="4206240"/>
            <a:ext cx="1746504" cy="0"/>
          </a:xfrm>
          <a:prstGeom prst="line">
            <a:avLst/>
          </a:prstGeom>
          <a:noFill/>
          <a:ln w="9525">
            <a:solidFill>
              <a:srgbClr val="D5DCE5"/>
            </a:solidFill>
            <a:prstDash val="solid"/>
          </a:ln>
        </p:spPr>
      </p:sp>
      <p:sp>
        <p:nvSpPr>
          <p:cNvPr id="11" name="produce-36"/>
          <p:cNvSpPr txBox="1"/>
          <p:nvPr/>
        </p:nvSpPr>
        <p:spPr>
          <a:xfrm>
            <a:off x="621792" y="4279392"/>
            <a:ext cx="1371600" cy="182880"/>
          </a:xfrm>
          <a:prstGeom prst="rect">
            <a:avLst/>
          </a:prstGeom>
          <a:noFill/>
          <a:ln/>
        </p:spPr>
        <p:txBody>
          <a:bodyPr wrap="square" lIns="0" tIns="0" rIns="0" bIns="0" rtlCol="0" anchor="t"/>
          <a:lstStyle/>
          <a:p>
            <a:pPr indent="0" marL="0">
              <a:buNone/>
            </a:pPr>
            <a:r>
              <a:rPr lang="en-US" sz="750" b="1" dirty="0">
                <a:solidFill>
                  <a:schemeClr val="accent1"/>
                </a:solidFill>
              </a:rPr>
              <a:t>PRODUCE</a:t>
            </a:r>
            <a:endParaRPr lang="en-US" sz="750" dirty="0"/>
          </a:p>
        </p:txBody>
      </p:sp>
      <p:sp>
        <p:nvSpPr>
          <p:cNvPr id="12" name="salida-37"/>
          <p:cNvSpPr txBox="1"/>
          <p:nvPr/>
        </p:nvSpPr>
        <p:spPr>
          <a:xfrm>
            <a:off x="621792" y="4462272"/>
            <a:ext cx="1746504" cy="457200"/>
          </a:xfrm>
          <a:prstGeom prst="rect">
            <a:avLst/>
          </a:prstGeom>
          <a:noFill/>
          <a:ln/>
        </p:spPr>
        <p:txBody>
          <a:bodyPr wrap="square" lIns="0" tIns="0" rIns="0" bIns="0" rtlCol="0" anchor="t"/>
          <a:lstStyle/>
          <a:p>
            <a:pPr indent="0" marL="0">
              <a:buNone/>
            </a:pPr>
            <a:r>
              <a:rPr lang="en-US" sz="950" b="1" dirty="0">
                <a:solidFill>
                  <a:schemeClr val="tx1"/>
                </a:solidFill>
              </a:rPr>
              <a:t>Población en riesgo por celda</a:t>
            </a:r>
            <a:endParaRPr lang="en-US" sz="950" dirty="0"/>
          </a:p>
        </p:txBody>
      </p:sp>
      <p:pic>
        <p:nvPicPr>
          <p:cNvPr id="13" name="flecha-38" descr="preencoded.png">    </p:cNvPr>
          <p:cNvPicPr>
            <a:picLocks noChangeAspect="1"/>
          </p:cNvPicPr>
          <p:nvPr/>
        </p:nvPicPr>
        <p:blipFill>
          <a:blip r:embed="rId2"/>
          <a:stretch>
            <a:fillRect/>
          </a:stretch>
        </p:blipFill>
        <p:spPr>
          <a:xfrm>
            <a:off x="2551176" y="3227832"/>
            <a:ext cx="182880" cy="182880"/>
          </a:xfrm>
          <a:prstGeom prst="rect">
            <a:avLst/>
          </a:prstGeom>
        </p:spPr>
      </p:pic>
      <p:sp>
        <p:nvSpPr>
          <p:cNvPr id="14" name="etapa-39"/>
          <p:cNvSpPr/>
          <p:nvPr/>
        </p:nvSpPr>
        <p:spPr>
          <a:xfrm>
            <a:off x="2756916" y="1719072"/>
            <a:ext cx="2075688" cy="3246120"/>
          </a:xfrm>
          <a:prstGeom prst="roundRect">
            <a:avLst>
              <a:gd name="adj" fmla="val 3084"/>
            </a:avLst>
          </a:prstGeom>
          <a:solidFill>
            <a:srgbClr val="FFFFFF"/>
          </a:solidFill>
          <a:ln w="9525">
            <a:solidFill>
              <a:srgbClr val="D5DCE5"/>
            </a:solidFill>
            <a:prstDash val="solid"/>
          </a:ln>
        </p:spPr>
      </p:sp>
      <p:sp>
        <p:nvSpPr>
          <p:cNvPr id="15" name="icono-fondo-40"/>
          <p:cNvSpPr/>
          <p:nvPr/>
        </p:nvSpPr>
        <p:spPr>
          <a:xfrm>
            <a:off x="2921508" y="1901952"/>
            <a:ext cx="475488" cy="475488"/>
          </a:xfrm>
          <a:prstGeom prst="ellipse">
            <a:avLst/>
          </a:prstGeom>
          <a:solidFill>
            <a:schemeClr val="accent4"/>
          </a:solidFill>
          <a:ln/>
        </p:spPr>
      </p:sp>
      <p:pic>
        <p:nvPicPr>
          <p:cNvPr id="16" name="icono-41" descr="preencoded.png">    </p:cNvPr>
          <p:cNvPicPr>
            <a:picLocks noChangeAspect="1"/>
          </p:cNvPicPr>
          <p:nvPr/>
        </p:nvPicPr>
        <p:blipFill>
          <a:blip r:embed="rId3"/>
          <a:stretch>
            <a:fillRect/>
          </a:stretch>
        </p:blipFill>
        <p:spPr>
          <a:xfrm>
            <a:off x="3026115" y="2006559"/>
            <a:ext cx="266273" cy="266273"/>
          </a:xfrm>
          <a:prstGeom prst="rect">
            <a:avLst/>
          </a:prstGeom>
        </p:spPr>
      </p:pic>
      <p:sp>
        <p:nvSpPr>
          <p:cNvPr id="17" name="etapa-num-42"/>
          <p:cNvSpPr txBox="1"/>
          <p:nvPr/>
        </p:nvSpPr>
        <p:spPr>
          <a:xfrm>
            <a:off x="4283964" y="1938528"/>
            <a:ext cx="384048" cy="365760"/>
          </a:xfrm>
          <a:prstGeom prst="rect">
            <a:avLst/>
          </a:prstGeom>
          <a:noFill/>
          <a:ln/>
        </p:spPr>
        <p:txBody>
          <a:bodyPr wrap="square" lIns="0" tIns="0" rIns="0" bIns="0" rtlCol="0" anchor="t"/>
          <a:lstStyle/>
          <a:p>
            <a:pPr algn="r" indent="0" marL="0">
              <a:buNone/>
            </a:pPr>
            <a:r>
              <a:rPr lang="en-US" sz="1600" b="1" dirty="0">
                <a:solidFill>
                  <a:srgbClr val="D5DCE5"/>
                </a:solidFill>
              </a:rPr>
              <a:t>02</a:t>
            </a:r>
            <a:endParaRPr lang="en-US" sz="1600" dirty="0"/>
          </a:p>
        </p:txBody>
      </p:sp>
      <p:sp>
        <p:nvSpPr>
          <p:cNvPr id="18" name="etapa-titulo-43"/>
          <p:cNvSpPr txBox="1"/>
          <p:nvPr/>
        </p:nvSpPr>
        <p:spPr>
          <a:xfrm>
            <a:off x="2921508" y="2496312"/>
            <a:ext cx="1746504" cy="457200"/>
          </a:xfrm>
          <a:prstGeom prst="rect">
            <a:avLst/>
          </a:prstGeom>
          <a:noFill/>
          <a:ln/>
        </p:spPr>
        <p:txBody>
          <a:bodyPr wrap="square" lIns="0" tIns="0" rIns="0" bIns="0" rtlCol="0" anchor="b"/>
          <a:lstStyle/>
          <a:p>
            <a:pPr indent="0" marL="0">
              <a:buNone/>
            </a:pPr>
            <a:r>
              <a:rPr lang="en-US" sz="1200" b="1" dirty="0">
                <a:solidFill>
                  <a:schemeClr val="tx1"/>
                </a:solidFill>
              </a:rPr>
              <a:t>Estratos y transiciones</a:t>
            </a:r>
            <a:endParaRPr lang="en-US" sz="1200" dirty="0"/>
          </a:p>
        </p:txBody>
      </p:sp>
      <p:sp>
        <p:nvSpPr>
          <p:cNvPr id="19" name="etapa-texto-44"/>
          <p:cNvSpPr txBox="1"/>
          <p:nvPr/>
        </p:nvSpPr>
        <p:spPr>
          <a:xfrm>
            <a:off x="2921508" y="3044952"/>
            <a:ext cx="1746504" cy="1097280"/>
          </a:xfrm>
          <a:prstGeom prst="rect">
            <a:avLst/>
          </a:prstGeom>
          <a:noFill/>
          <a:ln/>
        </p:spPr>
        <p:txBody>
          <a:bodyPr wrap="square" lIns="0" tIns="0" rIns="0" bIns="0" rtlCol="0" anchor="t"/>
          <a:lstStyle/>
          <a:p>
            <a:pPr indent="0" marL="0">
              <a:buNone/>
            </a:pPr>
            <a:r>
              <a:rPr lang="en-US" sz="950" dirty="0">
                <a:solidFill>
                  <a:schemeClr val="tx2"/>
                </a:solidFill>
              </a:rPr>
              <a:t>Cadena de Markov mensual con cuatro estratos clínicos por cohorte; la cobertura cambia las transiciones. 200 simulaciones con semilla fija.</a:t>
            </a:r>
            <a:endParaRPr lang="en-US" sz="950" dirty="0"/>
          </a:p>
        </p:txBody>
      </p:sp>
      <p:sp>
        <p:nvSpPr>
          <p:cNvPr id="20" name="separador-45"/>
          <p:cNvSpPr/>
          <p:nvPr/>
        </p:nvSpPr>
        <p:spPr>
          <a:xfrm>
            <a:off x="2921508" y="4206240"/>
            <a:ext cx="1746504" cy="0"/>
          </a:xfrm>
          <a:prstGeom prst="line">
            <a:avLst/>
          </a:prstGeom>
          <a:noFill/>
          <a:ln w="9525">
            <a:solidFill>
              <a:srgbClr val="D5DCE5"/>
            </a:solidFill>
            <a:prstDash val="solid"/>
          </a:ln>
        </p:spPr>
      </p:sp>
      <p:sp>
        <p:nvSpPr>
          <p:cNvPr id="21" name="produce-46"/>
          <p:cNvSpPr txBox="1"/>
          <p:nvPr/>
        </p:nvSpPr>
        <p:spPr>
          <a:xfrm>
            <a:off x="2921508" y="4279392"/>
            <a:ext cx="1371600" cy="182880"/>
          </a:xfrm>
          <a:prstGeom prst="rect">
            <a:avLst/>
          </a:prstGeom>
          <a:noFill/>
          <a:ln/>
        </p:spPr>
        <p:txBody>
          <a:bodyPr wrap="square" lIns="0" tIns="0" rIns="0" bIns="0" rtlCol="0" anchor="t"/>
          <a:lstStyle/>
          <a:p>
            <a:pPr indent="0" marL="0">
              <a:buNone/>
            </a:pPr>
            <a:r>
              <a:rPr lang="en-US" sz="750" b="1" dirty="0">
                <a:solidFill>
                  <a:schemeClr val="accent4"/>
                </a:solidFill>
              </a:rPr>
              <a:t>PRODUCE</a:t>
            </a:r>
            <a:endParaRPr lang="en-US" sz="750" dirty="0"/>
          </a:p>
        </p:txBody>
      </p:sp>
      <p:sp>
        <p:nvSpPr>
          <p:cNvPr id="22" name="salida-47"/>
          <p:cNvSpPr txBox="1"/>
          <p:nvPr/>
        </p:nvSpPr>
        <p:spPr>
          <a:xfrm>
            <a:off x="2921508" y="4462272"/>
            <a:ext cx="1746504" cy="457200"/>
          </a:xfrm>
          <a:prstGeom prst="rect">
            <a:avLst/>
          </a:prstGeom>
          <a:noFill/>
          <a:ln/>
        </p:spPr>
        <p:txBody>
          <a:bodyPr wrap="square" lIns="0" tIns="0" rIns="0" bIns="0" rtlCol="0" anchor="t"/>
          <a:lstStyle/>
          <a:p>
            <a:pPr indent="0" marL="0">
              <a:buNone/>
            </a:pPr>
            <a:r>
              <a:rPr lang="en-US" sz="950" b="1" dirty="0">
                <a:solidFill>
                  <a:schemeClr val="tx1"/>
                </a:solidFill>
              </a:rPr>
              <a:t>Composición por estrato y mes, con banda P10–P90</a:t>
            </a:r>
            <a:endParaRPr lang="en-US" sz="950" dirty="0"/>
          </a:p>
        </p:txBody>
      </p:sp>
      <p:pic>
        <p:nvPicPr>
          <p:cNvPr id="23" name="flecha-48" descr="preencoded.png">    </p:cNvPr>
          <p:cNvPicPr>
            <a:picLocks noChangeAspect="1"/>
          </p:cNvPicPr>
          <p:nvPr/>
        </p:nvPicPr>
        <p:blipFill>
          <a:blip r:embed="rId4"/>
          <a:stretch>
            <a:fillRect/>
          </a:stretch>
        </p:blipFill>
        <p:spPr>
          <a:xfrm>
            <a:off x="4850892" y="3227832"/>
            <a:ext cx="182880" cy="182880"/>
          </a:xfrm>
          <a:prstGeom prst="rect">
            <a:avLst/>
          </a:prstGeom>
        </p:spPr>
      </p:pic>
      <p:sp>
        <p:nvSpPr>
          <p:cNvPr id="24" name="etapa-49"/>
          <p:cNvSpPr/>
          <p:nvPr/>
        </p:nvSpPr>
        <p:spPr>
          <a:xfrm>
            <a:off x="5056632" y="1719072"/>
            <a:ext cx="2075688" cy="3246120"/>
          </a:xfrm>
          <a:prstGeom prst="roundRect">
            <a:avLst>
              <a:gd name="adj" fmla="val 3084"/>
            </a:avLst>
          </a:prstGeom>
          <a:solidFill>
            <a:srgbClr val="FFFFFF"/>
          </a:solidFill>
          <a:ln w="9525">
            <a:solidFill>
              <a:srgbClr val="D5DCE5"/>
            </a:solidFill>
            <a:prstDash val="solid"/>
          </a:ln>
        </p:spPr>
      </p:sp>
      <p:sp>
        <p:nvSpPr>
          <p:cNvPr id="25" name="icono-fondo-50"/>
          <p:cNvSpPr/>
          <p:nvPr/>
        </p:nvSpPr>
        <p:spPr>
          <a:xfrm>
            <a:off x="5221224" y="1901952"/>
            <a:ext cx="475488" cy="475488"/>
          </a:xfrm>
          <a:prstGeom prst="ellipse">
            <a:avLst/>
          </a:prstGeom>
          <a:solidFill>
            <a:schemeClr val="accent4"/>
          </a:solidFill>
          <a:ln/>
        </p:spPr>
      </p:sp>
      <p:pic>
        <p:nvPicPr>
          <p:cNvPr id="26" name="icono-51" descr="preencoded.png">    </p:cNvPr>
          <p:cNvPicPr>
            <a:picLocks noChangeAspect="1"/>
          </p:cNvPicPr>
          <p:nvPr/>
        </p:nvPicPr>
        <p:blipFill>
          <a:blip r:embed="rId5"/>
          <a:stretch>
            <a:fillRect/>
          </a:stretch>
        </p:blipFill>
        <p:spPr>
          <a:xfrm>
            <a:off x="5325831" y="2006559"/>
            <a:ext cx="266273" cy="266273"/>
          </a:xfrm>
          <a:prstGeom prst="rect">
            <a:avLst/>
          </a:prstGeom>
        </p:spPr>
      </p:pic>
      <p:sp>
        <p:nvSpPr>
          <p:cNvPr id="27" name="etapa-num-52"/>
          <p:cNvSpPr txBox="1"/>
          <p:nvPr/>
        </p:nvSpPr>
        <p:spPr>
          <a:xfrm>
            <a:off x="6583680" y="1938528"/>
            <a:ext cx="384048" cy="365760"/>
          </a:xfrm>
          <a:prstGeom prst="rect">
            <a:avLst/>
          </a:prstGeom>
          <a:noFill/>
          <a:ln/>
        </p:spPr>
        <p:txBody>
          <a:bodyPr wrap="square" lIns="0" tIns="0" rIns="0" bIns="0" rtlCol="0" anchor="t"/>
          <a:lstStyle/>
          <a:p>
            <a:pPr algn="r" indent="0" marL="0">
              <a:buNone/>
            </a:pPr>
            <a:r>
              <a:rPr lang="en-US" sz="1600" b="1" dirty="0">
                <a:solidFill>
                  <a:srgbClr val="D5DCE5"/>
                </a:solidFill>
              </a:rPr>
              <a:t>03</a:t>
            </a:r>
            <a:endParaRPr lang="en-US" sz="1600" dirty="0"/>
          </a:p>
        </p:txBody>
      </p:sp>
      <p:sp>
        <p:nvSpPr>
          <p:cNvPr id="28" name="etapa-titulo-53"/>
          <p:cNvSpPr txBox="1"/>
          <p:nvPr/>
        </p:nvSpPr>
        <p:spPr>
          <a:xfrm>
            <a:off x="5221224" y="2496312"/>
            <a:ext cx="1746504" cy="457200"/>
          </a:xfrm>
          <a:prstGeom prst="rect">
            <a:avLst/>
          </a:prstGeom>
          <a:noFill/>
          <a:ln/>
        </p:spPr>
        <p:txBody>
          <a:bodyPr wrap="square" lIns="0" tIns="0" rIns="0" bIns="0" rtlCol="0" anchor="b"/>
          <a:lstStyle/>
          <a:p>
            <a:pPr indent="0" marL="0">
              <a:buNone/>
            </a:pPr>
            <a:r>
              <a:rPr lang="en-US" sz="1200" b="1" dirty="0">
                <a:solidFill>
                  <a:schemeClr val="tx1"/>
                </a:solidFill>
              </a:rPr>
              <a:t>Demanda por zona y canal</a:t>
            </a:r>
            <a:endParaRPr lang="en-US" sz="1200" dirty="0"/>
          </a:p>
        </p:txBody>
      </p:sp>
      <p:sp>
        <p:nvSpPr>
          <p:cNvPr id="29" name="etapa-texto-54"/>
          <p:cNvSpPr txBox="1"/>
          <p:nvPr/>
        </p:nvSpPr>
        <p:spPr>
          <a:xfrm>
            <a:off x="5221224" y="3044952"/>
            <a:ext cx="1746504" cy="1097280"/>
          </a:xfrm>
          <a:prstGeom prst="rect">
            <a:avLst/>
          </a:prstGeom>
          <a:noFill/>
          <a:ln/>
        </p:spPr>
        <p:txBody>
          <a:bodyPr wrap="square" lIns="0" tIns="0" rIns="0" bIns="0" rtlCol="0" anchor="t"/>
          <a:lstStyle/>
          <a:p>
            <a:pPr indent="0" marL="0">
              <a:buNone/>
            </a:pPr>
            <a:r>
              <a:rPr lang="en-US" sz="950" dirty="0">
                <a:solidFill>
                  <a:schemeClr val="tx2"/>
                </a:solidFill>
              </a:rPr>
              <a:t>Tasas de uso por estrato y tipo de atención; enrutamiento a zonas de la sede, a la red hospitalaria y a los canales domiciliario y virtual.</a:t>
            </a:r>
            <a:endParaRPr lang="en-US" sz="950" dirty="0"/>
          </a:p>
        </p:txBody>
      </p:sp>
      <p:sp>
        <p:nvSpPr>
          <p:cNvPr id="30" name="separador-55"/>
          <p:cNvSpPr/>
          <p:nvPr/>
        </p:nvSpPr>
        <p:spPr>
          <a:xfrm>
            <a:off x="5221224" y="4206240"/>
            <a:ext cx="1746504" cy="0"/>
          </a:xfrm>
          <a:prstGeom prst="line">
            <a:avLst/>
          </a:prstGeom>
          <a:noFill/>
          <a:ln w="9525">
            <a:solidFill>
              <a:srgbClr val="D5DCE5"/>
            </a:solidFill>
            <a:prstDash val="solid"/>
          </a:ln>
        </p:spPr>
      </p:sp>
      <p:sp>
        <p:nvSpPr>
          <p:cNvPr id="31" name="produce-56"/>
          <p:cNvSpPr txBox="1"/>
          <p:nvPr/>
        </p:nvSpPr>
        <p:spPr>
          <a:xfrm>
            <a:off x="5221224" y="4279392"/>
            <a:ext cx="1371600" cy="182880"/>
          </a:xfrm>
          <a:prstGeom prst="rect">
            <a:avLst/>
          </a:prstGeom>
          <a:noFill/>
          <a:ln/>
        </p:spPr>
        <p:txBody>
          <a:bodyPr wrap="square" lIns="0" tIns="0" rIns="0" bIns="0" rtlCol="0" anchor="t"/>
          <a:lstStyle/>
          <a:p>
            <a:pPr indent="0" marL="0">
              <a:buNone/>
            </a:pPr>
            <a:r>
              <a:rPr lang="en-US" sz="750" b="1" dirty="0">
                <a:solidFill>
                  <a:schemeClr val="accent4"/>
                </a:solidFill>
              </a:rPr>
              <a:t>PRODUCE</a:t>
            </a:r>
            <a:endParaRPr lang="en-US" sz="750" dirty="0"/>
          </a:p>
        </p:txBody>
      </p:sp>
      <p:sp>
        <p:nvSpPr>
          <p:cNvPr id="32" name="salida-57"/>
          <p:cNvSpPr txBox="1"/>
          <p:nvPr/>
        </p:nvSpPr>
        <p:spPr>
          <a:xfrm>
            <a:off x="5221224" y="4462272"/>
            <a:ext cx="1746504" cy="457200"/>
          </a:xfrm>
          <a:prstGeom prst="rect">
            <a:avLst/>
          </a:prstGeom>
          <a:noFill/>
          <a:ln/>
        </p:spPr>
        <p:txBody>
          <a:bodyPr wrap="square" lIns="0" tIns="0" rIns="0" bIns="0" rtlCol="0" anchor="t"/>
          <a:lstStyle/>
          <a:p>
            <a:pPr indent="0" marL="0">
              <a:buNone/>
            </a:pPr>
            <a:r>
              <a:rPr lang="en-US" sz="950" b="1" dirty="0">
                <a:solidFill>
                  <a:schemeClr val="tx1"/>
                </a:solidFill>
              </a:rPr>
              <a:t>Atenciones por sede, zona, mes y canal</a:t>
            </a:r>
            <a:endParaRPr lang="en-US" sz="950" dirty="0"/>
          </a:p>
        </p:txBody>
      </p:sp>
      <p:pic>
        <p:nvPicPr>
          <p:cNvPr id="33" name="flecha-58" descr="preencoded.png">    </p:cNvPr>
          <p:cNvPicPr>
            <a:picLocks noChangeAspect="1"/>
          </p:cNvPicPr>
          <p:nvPr/>
        </p:nvPicPr>
        <p:blipFill>
          <a:blip r:embed="rId6"/>
          <a:stretch>
            <a:fillRect/>
          </a:stretch>
        </p:blipFill>
        <p:spPr>
          <a:xfrm>
            <a:off x="7150608" y="3227832"/>
            <a:ext cx="182880" cy="182880"/>
          </a:xfrm>
          <a:prstGeom prst="rect">
            <a:avLst/>
          </a:prstGeom>
        </p:spPr>
      </p:pic>
      <p:sp>
        <p:nvSpPr>
          <p:cNvPr id="34" name="etapa-59"/>
          <p:cNvSpPr/>
          <p:nvPr/>
        </p:nvSpPr>
        <p:spPr>
          <a:xfrm>
            <a:off x="7356348" y="1719072"/>
            <a:ext cx="2075688" cy="3246120"/>
          </a:xfrm>
          <a:prstGeom prst="roundRect">
            <a:avLst>
              <a:gd name="adj" fmla="val 3084"/>
            </a:avLst>
          </a:prstGeom>
          <a:solidFill>
            <a:srgbClr val="FFFFFF"/>
          </a:solidFill>
          <a:ln w="9525">
            <a:solidFill>
              <a:srgbClr val="D5DCE5"/>
            </a:solidFill>
            <a:prstDash val="solid"/>
          </a:ln>
        </p:spPr>
      </p:sp>
      <p:sp>
        <p:nvSpPr>
          <p:cNvPr id="35" name="icono-fondo-60"/>
          <p:cNvSpPr/>
          <p:nvPr/>
        </p:nvSpPr>
        <p:spPr>
          <a:xfrm>
            <a:off x="7520940" y="1901952"/>
            <a:ext cx="475488" cy="475488"/>
          </a:xfrm>
          <a:prstGeom prst="ellipse">
            <a:avLst/>
          </a:prstGeom>
          <a:solidFill>
            <a:schemeClr val="accent3"/>
          </a:solidFill>
          <a:ln/>
        </p:spPr>
      </p:sp>
      <p:pic>
        <p:nvPicPr>
          <p:cNvPr id="36" name="icono-61" descr="preencoded.png">    </p:cNvPr>
          <p:cNvPicPr>
            <a:picLocks noChangeAspect="1"/>
          </p:cNvPicPr>
          <p:nvPr/>
        </p:nvPicPr>
        <p:blipFill>
          <a:blip r:embed="rId7"/>
          <a:stretch>
            <a:fillRect/>
          </a:stretch>
        </p:blipFill>
        <p:spPr>
          <a:xfrm>
            <a:off x="7625547" y="2006559"/>
            <a:ext cx="266273" cy="266273"/>
          </a:xfrm>
          <a:prstGeom prst="rect">
            <a:avLst/>
          </a:prstGeom>
        </p:spPr>
      </p:pic>
      <p:sp>
        <p:nvSpPr>
          <p:cNvPr id="37" name="etapa-num-62"/>
          <p:cNvSpPr txBox="1"/>
          <p:nvPr/>
        </p:nvSpPr>
        <p:spPr>
          <a:xfrm>
            <a:off x="8883396" y="1938528"/>
            <a:ext cx="384048" cy="365760"/>
          </a:xfrm>
          <a:prstGeom prst="rect">
            <a:avLst/>
          </a:prstGeom>
          <a:noFill/>
          <a:ln/>
        </p:spPr>
        <p:txBody>
          <a:bodyPr wrap="square" lIns="0" tIns="0" rIns="0" bIns="0" rtlCol="0" anchor="t"/>
          <a:lstStyle/>
          <a:p>
            <a:pPr algn="r" indent="0" marL="0">
              <a:buNone/>
            </a:pPr>
            <a:r>
              <a:rPr lang="en-US" sz="1600" b="1" dirty="0">
                <a:solidFill>
                  <a:srgbClr val="D5DCE5"/>
                </a:solidFill>
              </a:rPr>
              <a:t>04</a:t>
            </a:r>
            <a:endParaRPr lang="en-US" sz="1600" dirty="0"/>
          </a:p>
        </p:txBody>
      </p:sp>
      <p:sp>
        <p:nvSpPr>
          <p:cNvPr id="38" name="etapa-titulo-63"/>
          <p:cNvSpPr txBox="1"/>
          <p:nvPr/>
        </p:nvSpPr>
        <p:spPr>
          <a:xfrm>
            <a:off x="7520940" y="2496312"/>
            <a:ext cx="1746504" cy="457200"/>
          </a:xfrm>
          <a:prstGeom prst="rect">
            <a:avLst/>
          </a:prstGeom>
          <a:noFill/>
          <a:ln/>
        </p:spPr>
        <p:txBody>
          <a:bodyPr wrap="square" lIns="0" tIns="0" rIns="0" bIns="0" rtlCol="0" anchor="b"/>
          <a:lstStyle/>
          <a:p>
            <a:pPr indent="0" marL="0">
              <a:buNone/>
            </a:pPr>
            <a:r>
              <a:rPr lang="en-US" sz="1200" b="1" dirty="0">
                <a:solidFill>
                  <a:schemeClr val="tx1"/>
                </a:solidFill>
              </a:rPr>
              <a:t>Colas y backlog</a:t>
            </a:r>
            <a:endParaRPr lang="en-US" sz="1200" dirty="0"/>
          </a:p>
        </p:txBody>
      </p:sp>
      <p:sp>
        <p:nvSpPr>
          <p:cNvPr id="39" name="etapa-texto-64"/>
          <p:cNvSpPr txBox="1"/>
          <p:nvPr/>
        </p:nvSpPr>
        <p:spPr>
          <a:xfrm>
            <a:off x="7520940" y="3044952"/>
            <a:ext cx="1746504" cy="1097280"/>
          </a:xfrm>
          <a:prstGeom prst="rect">
            <a:avLst/>
          </a:prstGeom>
          <a:noFill/>
          <a:ln/>
        </p:spPr>
        <p:txBody>
          <a:bodyPr wrap="square" lIns="0" tIns="0" rIns="0" bIns="0" rtlCol="0" anchor="t"/>
          <a:lstStyle/>
          <a:p>
            <a:pPr indent="0" marL="0">
              <a:buNone/>
            </a:pPr>
            <a:r>
              <a:rPr lang="en-US" sz="950" dirty="0">
                <a:solidFill>
                  <a:schemeClr val="tx2"/>
                </a:solidFill>
              </a:rPr>
              <a:t>Zonas sin cita con Erlang C y ajuste de Allen-Cunneen por hora; zonas con cita con recursión diaria de backlog e inasistencia.</a:t>
            </a:r>
            <a:endParaRPr lang="en-US" sz="950" dirty="0"/>
          </a:p>
        </p:txBody>
      </p:sp>
      <p:sp>
        <p:nvSpPr>
          <p:cNvPr id="40" name="separador-65"/>
          <p:cNvSpPr/>
          <p:nvPr/>
        </p:nvSpPr>
        <p:spPr>
          <a:xfrm>
            <a:off x="7520940" y="4206240"/>
            <a:ext cx="1746504" cy="0"/>
          </a:xfrm>
          <a:prstGeom prst="line">
            <a:avLst/>
          </a:prstGeom>
          <a:noFill/>
          <a:ln w="9525">
            <a:solidFill>
              <a:srgbClr val="D5DCE5"/>
            </a:solidFill>
            <a:prstDash val="solid"/>
          </a:ln>
        </p:spPr>
      </p:sp>
      <p:sp>
        <p:nvSpPr>
          <p:cNvPr id="41" name="produce-66"/>
          <p:cNvSpPr txBox="1"/>
          <p:nvPr/>
        </p:nvSpPr>
        <p:spPr>
          <a:xfrm>
            <a:off x="7520940" y="4279392"/>
            <a:ext cx="1371600" cy="182880"/>
          </a:xfrm>
          <a:prstGeom prst="rect">
            <a:avLst/>
          </a:prstGeom>
          <a:noFill/>
          <a:ln/>
        </p:spPr>
        <p:txBody>
          <a:bodyPr wrap="square" lIns="0" tIns="0" rIns="0" bIns="0" rtlCol="0" anchor="t"/>
          <a:lstStyle/>
          <a:p>
            <a:pPr indent="0" marL="0">
              <a:buNone/>
            </a:pPr>
            <a:r>
              <a:rPr lang="en-US" sz="750" b="1" dirty="0">
                <a:solidFill>
                  <a:schemeClr val="accent3"/>
                </a:solidFill>
              </a:rPr>
              <a:t>PRODUCE</a:t>
            </a:r>
            <a:endParaRPr lang="en-US" sz="750" dirty="0"/>
          </a:p>
        </p:txBody>
      </p:sp>
      <p:sp>
        <p:nvSpPr>
          <p:cNvPr id="42" name="salida-67"/>
          <p:cNvSpPr txBox="1"/>
          <p:nvPr/>
        </p:nvSpPr>
        <p:spPr>
          <a:xfrm>
            <a:off x="7520940" y="4462272"/>
            <a:ext cx="1746504" cy="457200"/>
          </a:xfrm>
          <a:prstGeom prst="rect">
            <a:avLst/>
          </a:prstGeom>
          <a:noFill/>
          <a:ln/>
        </p:spPr>
        <p:txBody>
          <a:bodyPr wrap="square" lIns="0" tIns="0" rIns="0" bIns="0" rtlCol="0" anchor="t"/>
          <a:lstStyle/>
          <a:p>
            <a:pPr indent="0" marL="0">
              <a:buNone/>
            </a:pPr>
            <a:r>
              <a:rPr lang="en-US" sz="950" b="1" dirty="0">
                <a:solidFill>
                  <a:schemeClr val="tx1"/>
                </a:solidFill>
              </a:rPr>
              <a:t>Utilización, espera y oportunidad P50 y P90</a:t>
            </a:r>
            <a:endParaRPr lang="en-US" sz="950" dirty="0"/>
          </a:p>
        </p:txBody>
      </p:sp>
      <p:pic>
        <p:nvPicPr>
          <p:cNvPr id="43" name="flecha-68" descr="preencoded.png">    </p:cNvPr>
          <p:cNvPicPr>
            <a:picLocks noChangeAspect="1"/>
          </p:cNvPicPr>
          <p:nvPr/>
        </p:nvPicPr>
        <p:blipFill>
          <a:blip r:embed="rId8"/>
          <a:stretch>
            <a:fillRect/>
          </a:stretch>
        </p:blipFill>
        <p:spPr>
          <a:xfrm>
            <a:off x="9450324" y="3227832"/>
            <a:ext cx="182880" cy="182880"/>
          </a:xfrm>
          <a:prstGeom prst="rect">
            <a:avLst/>
          </a:prstGeom>
        </p:spPr>
      </p:pic>
      <p:sp>
        <p:nvSpPr>
          <p:cNvPr id="44" name="etapa-69"/>
          <p:cNvSpPr/>
          <p:nvPr/>
        </p:nvSpPr>
        <p:spPr>
          <a:xfrm>
            <a:off x="9656064" y="1719072"/>
            <a:ext cx="2075688" cy="3246120"/>
          </a:xfrm>
          <a:prstGeom prst="roundRect">
            <a:avLst>
              <a:gd name="adj" fmla="val 3084"/>
            </a:avLst>
          </a:prstGeom>
          <a:solidFill>
            <a:srgbClr val="FFFFFF"/>
          </a:solidFill>
          <a:ln w="9525">
            <a:solidFill>
              <a:srgbClr val="D5DCE5"/>
            </a:solidFill>
            <a:prstDash val="solid"/>
          </a:ln>
        </p:spPr>
      </p:sp>
      <p:sp>
        <p:nvSpPr>
          <p:cNvPr id="45" name="icono-fondo-70"/>
          <p:cNvSpPr/>
          <p:nvPr/>
        </p:nvSpPr>
        <p:spPr>
          <a:xfrm>
            <a:off x="9820656" y="1901952"/>
            <a:ext cx="475488" cy="475488"/>
          </a:xfrm>
          <a:prstGeom prst="ellipse">
            <a:avLst/>
          </a:prstGeom>
          <a:solidFill>
            <a:schemeClr val="accent5"/>
          </a:solidFill>
          <a:ln/>
        </p:spPr>
      </p:sp>
      <p:pic>
        <p:nvPicPr>
          <p:cNvPr id="46" name="icono-71" descr="preencoded.png">    </p:cNvPr>
          <p:cNvPicPr>
            <a:picLocks noChangeAspect="1"/>
          </p:cNvPicPr>
          <p:nvPr/>
        </p:nvPicPr>
        <p:blipFill>
          <a:blip r:embed="rId9"/>
          <a:stretch>
            <a:fillRect/>
          </a:stretch>
        </p:blipFill>
        <p:spPr>
          <a:xfrm>
            <a:off x="9925263" y="2006559"/>
            <a:ext cx="266273" cy="266273"/>
          </a:xfrm>
          <a:prstGeom prst="rect">
            <a:avLst/>
          </a:prstGeom>
        </p:spPr>
      </p:pic>
      <p:sp>
        <p:nvSpPr>
          <p:cNvPr id="47" name="etapa-num-72"/>
          <p:cNvSpPr txBox="1"/>
          <p:nvPr/>
        </p:nvSpPr>
        <p:spPr>
          <a:xfrm>
            <a:off x="11183112" y="1938528"/>
            <a:ext cx="384048" cy="365760"/>
          </a:xfrm>
          <a:prstGeom prst="rect">
            <a:avLst/>
          </a:prstGeom>
          <a:noFill/>
          <a:ln/>
        </p:spPr>
        <p:txBody>
          <a:bodyPr wrap="square" lIns="0" tIns="0" rIns="0" bIns="0" rtlCol="0" anchor="t"/>
          <a:lstStyle/>
          <a:p>
            <a:pPr algn="r" indent="0" marL="0">
              <a:buNone/>
            </a:pPr>
            <a:r>
              <a:rPr lang="en-US" sz="1600" b="1" dirty="0">
                <a:solidFill>
                  <a:srgbClr val="D5DCE5"/>
                </a:solidFill>
              </a:rPr>
              <a:t>05</a:t>
            </a:r>
            <a:endParaRPr lang="en-US" sz="1600" dirty="0"/>
          </a:p>
        </p:txBody>
      </p:sp>
      <p:sp>
        <p:nvSpPr>
          <p:cNvPr id="48" name="etapa-titulo-73"/>
          <p:cNvSpPr txBox="1"/>
          <p:nvPr/>
        </p:nvSpPr>
        <p:spPr>
          <a:xfrm>
            <a:off x="9820656" y="2496312"/>
            <a:ext cx="1746504" cy="457200"/>
          </a:xfrm>
          <a:prstGeom prst="rect">
            <a:avLst/>
          </a:prstGeom>
          <a:noFill/>
          <a:ln/>
        </p:spPr>
        <p:txBody>
          <a:bodyPr wrap="square" lIns="0" tIns="0" rIns="0" bIns="0" rtlCol="0" anchor="b"/>
          <a:lstStyle/>
          <a:p>
            <a:pPr indent="0" marL="0">
              <a:buNone/>
            </a:pPr>
            <a:r>
              <a:rPr lang="en-US" sz="1200" b="1" dirty="0">
                <a:solidFill>
                  <a:schemeClr val="tx1"/>
                </a:solidFill>
              </a:rPr>
              <a:t>Decisiones</a:t>
            </a:r>
            <a:endParaRPr lang="en-US" sz="1200" dirty="0"/>
          </a:p>
        </p:txBody>
      </p:sp>
      <p:sp>
        <p:nvSpPr>
          <p:cNvPr id="49" name="etapa-texto-74"/>
          <p:cNvSpPr txBox="1"/>
          <p:nvPr/>
        </p:nvSpPr>
        <p:spPr>
          <a:xfrm>
            <a:off x="9820656" y="3044952"/>
            <a:ext cx="1746504" cy="1097280"/>
          </a:xfrm>
          <a:prstGeom prst="rect">
            <a:avLst/>
          </a:prstGeom>
          <a:noFill/>
          <a:ln/>
        </p:spPr>
        <p:txBody>
          <a:bodyPr wrap="square" lIns="0" tIns="0" rIns="0" bIns="0" rtlCol="0" anchor="t"/>
          <a:lstStyle/>
          <a:p>
            <a:pPr indent="0" marL="0">
              <a:buNone/>
            </a:pPr>
            <a:r>
              <a:rPr lang="en-US" sz="950" dirty="0">
                <a:solidFill>
                  <a:schemeClr val="tx2"/>
                </a:solidFill>
              </a:rPr>
              <a:t>Cobertura por cohorte, equipos domiciliarios, médicos virtuales, recordatorios y ajustes de agenda, comparados en escenarios.</a:t>
            </a:r>
            <a:endParaRPr lang="en-US" sz="950" dirty="0"/>
          </a:p>
        </p:txBody>
      </p:sp>
      <p:sp>
        <p:nvSpPr>
          <p:cNvPr id="50" name="separador-75"/>
          <p:cNvSpPr/>
          <p:nvPr/>
        </p:nvSpPr>
        <p:spPr>
          <a:xfrm>
            <a:off x="9820656" y="4206240"/>
            <a:ext cx="1746504" cy="0"/>
          </a:xfrm>
          <a:prstGeom prst="line">
            <a:avLst/>
          </a:prstGeom>
          <a:noFill/>
          <a:ln w="9525">
            <a:solidFill>
              <a:srgbClr val="D5DCE5"/>
            </a:solidFill>
            <a:prstDash val="solid"/>
          </a:ln>
        </p:spPr>
      </p:sp>
      <p:sp>
        <p:nvSpPr>
          <p:cNvPr id="51" name="produce-76"/>
          <p:cNvSpPr txBox="1"/>
          <p:nvPr/>
        </p:nvSpPr>
        <p:spPr>
          <a:xfrm>
            <a:off x="9820656" y="4279392"/>
            <a:ext cx="1371600" cy="182880"/>
          </a:xfrm>
          <a:prstGeom prst="rect">
            <a:avLst/>
          </a:prstGeom>
          <a:noFill/>
          <a:ln/>
        </p:spPr>
        <p:txBody>
          <a:bodyPr wrap="square" lIns="0" tIns="0" rIns="0" bIns="0" rtlCol="0" anchor="t"/>
          <a:lstStyle/>
          <a:p>
            <a:pPr indent="0" marL="0">
              <a:buNone/>
            </a:pPr>
            <a:r>
              <a:rPr lang="en-US" sz="750" b="1" dirty="0">
                <a:solidFill>
                  <a:schemeClr val="accent5"/>
                </a:solidFill>
              </a:rPr>
              <a:t>PRODUCE</a:t>
            </a:r>
            <a:endParaRPr lang="en-US" sz="750" dirty="0"/>
          </a:p>
        </p:txBody>
      </p:sp>
      <p:sp>
        <p:nvSpPr>
          <p:cNvPr id="52" name="salida-77"/>
          <p:cNvSpPr txBox="1"/>
          <p:nvPr/>
        </p:nvSpPr>
        <p:spPr>
          <a:xfrm>
            <a:off x="9820656" y="4462272"/>
            <a:ext cx="1746504" cy="457200"/>
          </a:xfrm>
          <a:prstGeom prst="rect">
            <a:avLst/>
          </a:prstGeom>
          <a:noFill/>
          <a:ln/>
        </p:spPr>
        <p:txBody>
          <a:bodyPr wrap="square" lIns="0" tIns="0" rIns="0" bIns="0" rtlCol="0" anchor="t"/>
          <a:lstStyle/>
          <a:p>
            <a:pPr indent="0" marL="0">
              <a:buNone/>
            </a:pPr>
            <a:r>
              <a:rPr lang="en-US" sz="950" b="1" dirty="0">
                <a:solidFill>
                  <a:schemeClr val="tx1"/>
                </a:solidFill>
              </a:rPr>
              <a:t>Escenario recomendado y su costo</a:t>
            </a:r>
            <a:endParaRPr lang="en-US" sz="950" dirty="0"/>
          </a:p>
        </p:txBody>
      </p:sp>
      <p:sp>
        <p:nvSpPr>
          <p:cNvPr id="53" name="barra-madurez-78"/>
          <p:cNvSpPr/>
          <p:nvPr/>
        </p:nvSpPr>
        <p:spPr>
          <a:xfrm>
            <a:off x="457200" y="5193792"/>
            <a:ext cx="11277295" cy="1005840"/>
          </a:xfrm>
          <a:prstGeom prst="roundRect">
            <a:avLst>
              <a:gd name="adj" fmla="val 6364"/>
            </a:avLst>
          </a:prstGeom>
          <a:solidFill>
            <a:schemeClr val="tx1"/>
          </a:solidFill>
          <a:ln/>
        </p:spPr>
      </p:sp>
      <p:sp>
        <p:nvSpPr>
          <p:cNvPr id="54" name="madurez-etiqueta-79"/>
          <p:cNvSpPr txBox="1"/>
          <p:nvPr/>
        </p:nvSpPr>
        <p:spPr>
          <a:xfrm>
            <a:off x="731520" y="5376672"/>
            <a:ext cx="2011680" cy="201168"/>
          </a:xfrm>
          <a:prstGeom prst="rect">
            <a:avLst/>
          </a:prstGeom>
          <a:noFill/>
          <a:ln/>
        </p:spPr>
        <p:txBody>
          <a:bodyPr wrap="square" lIns="0" tIns="0" rIns="0" bIns="0" rtlCol="0" anchor="t"/>
          <a:lstStyle/>
          <a:p>
            <a:pPr indent="0" marL="0">
              <a:buNone/>
            </a:pPr>
            <a:r>
              <a:rPr lang="en-US" sz="850" b="1" dirty="0">
                <a:solidFill>
                  <a:srgbClr val="00DFED"/>
                </a:solidFill>
              </a:rPr>
              <a:t>NIVEL DE MADUREZ</a:t>
            </a:r>
            <a:endParaRPr lang="en-US" sz="850" dirty="0"/>
          </a:p>
        </p:txBody>
      </p:sp>
      <p:sp>
        <p:nvSpPr>
          <p:cNvPr id="55" name="madurez-actual-80"/>
          <p:cNvSpPr txBox="1"/>
          <p:nvPr/>
        </p:nvSpPr>
        <p:spPr>
          <a:xfrm>
            <a:off x="731520" y="5605272"/>
            <a:ext cx="4206240" cy="502920"/>
          </a:xfrm>
          <a:prstGeom prst="rect">
            <a:avLst/>
          </a:prstGeom>
          <a:noFill/>
          <a:ln/>
        </p:spPr>
        <p:txBody>
          <a:bodyPr wrap="square" lIns="0" tIns="0" rIns="0" bIns="0" rtlCol="0" anchor="t"/>
          <a:lstStyle/>
          <a:p>
            <a:pPr indent="0" marL="0">
              <a:buNone/>
            </a:pPr>
            <a:r>
              <a:rPr lang="en-US" sz="1000" dirty="0">
                <a:solidFill>
                  <a:schemeClr val="bg1"/>
                </a:solidFill>
              </a:rPr>
              <a:t>La demostración opera como modelo digital: parámetros sintéticos, sin flujo automático desde la operación.</a:t>
            </a:r>
            <a:endParaRPr lang="en-US" sz="1000" dirty="0"/>
          </a:p>
        </p:txBody>
      </p:sp>
      <p:sp>
        <p:nvSpPr>
          <p:cNvPr id="56" name="nivel-81"/>
          <p:cNvSpPr/>
          <p:nvPr/>
        </p:nvSpPr>
        <p:spPr>
          <a:xfrm>
            <a:off x="5257800" y="5376672"/>
            <a:ext cx="2057400" cy="658368"/>
          </a:xfrm>
          <a:prstGeom prst="roundRect">
            <a:avLst>
              <a:gd name="adj" fmla="val 8333"/>
            </a:avLst>
          </a:prstGeom>
          <a:solidFill>
            <a:schemeClr val="accent2"/>
          </a:solidFill>
          <a:ln w="9525">
            <a:solidFill>
              <a:srgbClr val="009AA4"/>
            </a:solidFill>
            <a:prstDash val="solid"/>
          </a:ln>
        </p:spPr>
      </p:sp>
      <p:sp>
        <p:nvSpPr>
          <p:cNvPr id="57" name="nivel-titulo-82"/>
          <p:cNvSpPr txBox="1"/>
          <p:nvPr/>
        </p:nvSpPr>
        <p:spPr>
          <a:xfrm>
            <a:off x="5385816" y="5440680"/>
            <a:ext cx="1828800" cy="228600"/>
          </a:xfrm>
          <a:prstGeom prst="rect">
            <a:avLst/>
          </a:prstGeom>
          <a:noFill/>
          <a:ln/>
        </p:spPr>
        <p:txBody>
          <a:bodyPr wrap="square" lIns="0" tIns="0" rIns="0" bIns="0" rtlCol="0" anchor="t"/>
          <a:lstStyle/>
          <a:p>
            <a:pPr indent="0" marL="0">
              <a:buNone/>
            </a:pPr>
            <a:r>
              <a:rPr lang="en-US" sz="1000" b="1" dirty="0">
                <a:solidFill>
                  <a:schemeClr val="bg1"/>
                </a:solidFill>
              </a:rPr>
              <a:t>1. Modelo digital</a:t>
            </a:r>
            <a:endParaRPr lang="en-US" sz="1000" dirty="0"/>
          </a:p>
        </p:txBody>
      </p:sp>
      <p:sp>
        <p:nvSpPr>
          <p:cNvPr id="58" name="nivel-texto-83"/>
          <p:cNvSpPr txBox="1"/>
          <p:nvPr/>
        </p:nvSpPr>
        <p:spPr>
          <a:xfrm>
            <a:off x="5385816" y="5669280"/>
            <a:ext cx="1828800" cy="329184"/>
          </a:xfrm>
          <a:prstGeom prst="rect">
            <a:avLst/>
          </a:prstGeom>
          <a:noFill/>
          <a:ln/>
        </p:spPr>
        <p:txBody>
          <a:bodyPr wrap="square" lIns="0" tIns="0" rIns="0" bIns="0" rtlCol="0" anchor="t"/>
          <a:lstStyle/>
          <a:p>
            <a:pPr indent="0" marL="0">
              <a:buNone/>
            </a:pPr>
            <a:r>
              <a:rPr lang="en-US" sz="850" dirty="0">
                <a:solidFill>
                  <a:srgbClr val="FFFFFF"/>
                </a:solidFill>
              </a:rPr>
              <a:t>Parámetros e históricos</a:t>
            </a:r>
            <a:endParaRPr lang="en-US" sz="850" dirty="0"/>
          </a:p>
        </p:txBody>
      </p:sp>
      <p:sp>
        <p:nvSpPr>
          <p:cNvPr id="59" name="nivel-84"/>
          <p:cNvSpPr/>
          <p:nvPr/>
        </p:nvSpPr>
        <p:spPr>
          <a:xfrm>
            <a:off x="7452360" y="5376672"/>
            <a:ext cx="2057400" cy="658368"/>
          </a:xfrm>
          <a:prstGeom prst="roundRect">
            <a:avLst>
              <a:gd name="adj" fmla="val 8333"/>
            </a:avLst>
          </a:prstGeom>
          <a:solidFill>
            <a:srgbClr val="FFFFFF">
              <a:alpha val="10000"/>
            </a:srgbClr>
          </a:solidFill>
          <a:ln w="9525">
            <a:solidFill>
              <a:srgbClr val="3A4560"/>
            </a:solidFill>
            <a:prstDash val="solid"/>
          </a:ln>
        </p:spPr>
      </p:sp>
      <p:sp>
        <p:nvSpPr>
          <p:cNvPr id="60" name="nivel-titulo-85"/>
          <p:cNvSpPr txBox="1"/>
          <p:nvPr/>
        </p:nvSpPr>
        <p:spPr>
          <a:xfrm>
            <a:off x="7580376" y="5440680"/>
            <a:ext cx="1828800" cy="228600"/>
          </a:xfrm>
          <a:prstGeom prst="rect">
            <a:avLst/>
          </a:prstGeom>
          <a:noFill/>
          <a:ln/>
        </p:spPr>
        <p:txBody>
          <a:bodyPr wrap="square" lIns="0" tIns="0" rIns="0" bIns="0" rtlCol="0" anchor="t"/>
          <a:lstStyle/>
          <a:p>
            <a:pPr indent="0" marL="0">
              <a:buNone/>
            </a:pPr>
            <a:r>
              <a:rPr lang="en-US" sz="1000" b="1" dirty="0">
                <a:solidFill>
                  <a:schemeClr val="bg1"/>
                </a:solidFill>
              </a:rPr>
              <a:t>2. Sombra digital</a:t>
            </a:r>
            <a:endParaRPr lang="en-US" sz="1000" dirty="0"/>
          </a:p>
        </p:txBody>
      </p:sp>
      <p:sp>
        <p:nvSpPr>
          <p:cNvPr id="61" name="nivel-texto-86"/>
          <p:cNvSpPr txBox="1"/>
          <p:nvPr/>
        </p:nvSpPr>
        <p:spPr>
          <a:xfrm>
            <a:off x="7580376" y="5669280"/>
            <a:ext cx="1828800" cy="329184"/>
          </a:xfrm>
          <a:prstGeom prst="rect">
            <a:avLst/>
          </a:prstGeom>
          <a:noFill/>
          <a:ln/>
        </p:spPr>
        <p:txBody>
          <a:bodyPr wrap="square" lIns="0" tIns="0" rIns="0" bIns="0" rtlCol="0" anchor="t"/>
          <a:lstStyle/>
          <a:p>
            <a:pPr indent="0" marL="0">
              <a:buNone/>
            </a:pPr>
            <a:r>
              <a:rPr lang="en-US" sz="850" dirty="0">
                <a:solidFill>
                  <a:srgbClr val="B8C2D6"/>
                </a:solidFill>
              </a:rPr>
              <a:t>Ingesta automática de agenda, zonas y equipos</a:t>
            </a:r>
            <a:endParaRPr lang="en-US" sz="850" dirty="0"/>
          </a:p>
        </p:txBody>
      </p:sp>
      <p:sp>
        <p:nvSpPr>
          <p:cNvPr id="62" name="nivel-87"/>
          <p:cNvSpPr/>
          <p:nvPr/>
        </p:nvSpPr>
        <p:spPr>
          <a:xfrm>
            <a:off x="9646920" y="5376672"/>
            <a:ext cx="2057400" cy="658368"/>
          </a:xfrm>
          <a:prstGeom prst="roundRect">
            <a:avLst>
              <a:gd name="adj" fmla="val 8333"/>
            </a:avLst>
          </a:prstGeom>
          <a:solidFill>
            <a:srgbClr val="FFFFFF">
              <a:alpha val="10000"/>
            </a:srgbClr>
          </a:solidFill>
          <a:ln w="9525">
            <a:solidFill>
              <a:srgbClr val="3A4560"/>
            </a:solidFill>
            <a:prstDash val="solid"/>
          </a:ln>
        </p:spPr>
      </p:sp>
      <p:sp>
        <p:nvSpPr>
          <p:cNvPr id="63" name="nivel-titulo-88"/>
          <p:cNvSpPr txBox="1"/>
          <p:nvPr/>
        </p:nvSpPr>
        <p:spPr>
          <a:xfrm>
            <a:off x="9774936" y="5440680"/>
            <a:ext cx="1828800" cy="228600"/>
          </a:xfrm>
          <a:prstGeom prst="rect">
            <a:avLst/>
          </a:prstGeom>
          <a:noFill/>
          <a:ln/>
        </p:spPr>
        <p:txBody>
          <a:bodyPr wrap="square" lIns="0" tIns="0" rIns="0" bIns="0" rtlCol="0" anchor="t"/>
          <a:lstStyle/>
          <a:p>
            <a:pPr indent="0" marL="0">
              <a:buNone/>
            </a:pPr>
            <a:r>
              <a:rPr lang="en-US" sz="1000" b="1" dirty="0">
                <a:solidFill>
                  <a:schemeClr val="bg1"/>
                </a:solidFill>
              </a:rPr>
              <a:t>3. Gemelo digital</a:t>
            </a:r>
            <a:endParaRPr lang="en-US" sz="1000" dirty="0"/>
          </a:p>
        </p:txBody>
      </p:sp>
      <p:sp>
        <p:nvSpPr>
          <p:cNvPr id="64" name="nivel-texto-89"/>
          <p:cNvSpPr txBox="1"/>
          <p:nvPr/>
        </p:nvSpPr>
        <p:spPr>
          <a:xfrm>
            <a:off x="9774936" y="5669280"/>
            <a:ext cx="1828800" cy="329184"/>
          </a:xfrm>
          <a:prstGeom prst="rect">
            <a:avLst/>
          </a:prstGeom>
          <a:noFill/>
          <a:ln/>
        </p:spPr>
        <p:txBody>
          <a:bodyPr wrap="square" lIns="0" tIns="0" rIns="0" bIns="0" rtlCol="0" anchor="t"/>
          <a:lstStyle/>
          <a:p>
            <a:pPr indent="0" marL="0">
              <a:buNone/>
            </a:pPr>
            <a:r>
              <a:rPr lang="en-US" sz="850" dirty="0">
                <a:solidFill>
                  <a:srgbClr val="B8C2D6"/>
                </a:solidFill>
              </a:rPr>
              <a:t>Calibración continua y cierre de ciclo trazable</a:t>
            </a:r>
            <a:endParaRPr lang="en-US" sz="8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El portal organiza el trabajo en seis módulos, desde el estado de la red hasta la configuración del modelo</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Cada módulo responde una pregunta de planeación y comparte el mismo contexto de escenario, sede y mes.</a:t>
            </a:r>
            <a:endParaRPr lang="en-US" sz="1250" dirty="0"/>
          </a:p>
        </p:txBody>
      </p:sp>
      <p:sp>
        <p:nvSpPr>
          <p:cNvPr id="4" name="modulo-90"/>
          <p:cNvSpPr/>
          <p:nvPr/>
        </p:nvSpPr>
        <p:spPr>
          <a:xfrm>
            <a:off x="457200" y="1673352"/>
            <a:ext cx="3576218" cy="2176272"/>
          </a:xfrm>
          <a:prstGeom prst="roundRect">
            <a:avLst>
              <a:gd name="adj" fmla="val 2941"/>
            </a:avLst>
          </a:prstGeom>
          <a:solidFill>
            <a:schemeClr val="bg2"/>
          </a:solidFill>
          <a:ln w="9525">
            <a:solidFill>
              <a:srgbClr val="D5DCE5"/>
            </a:solidFill>
            <a:prstDash val="solid"/>
          </a:ln>
        </p:spPr>
      </p:sp>
      <p:sp>
        <p:nvSpPr>
          <p:cNvPr id="5" name="icono-fondo-91"/>
          <p:cNvSpPr/>
          <p:nvPr/>
        </p:nvSpPr>
        <p:spPr>
          <a:xfrm>
            <a:off x="658368" y="1874520"/>
            <a:ext cx="457200" cy="457200"/>
          </a:xfrm>
          <a:prstGeom prst="ellipse">
            <a:avLst/>
          </a:prstGeom>
          <a:solidFill>
            <a:srgbClr val="FFFFFF"/>
          </a:solidFill>
          <a:ln/>
        </p:spPr>
      </p:sp>
      <p:pic>
        <p:nvPicPr>
          <p:cNvPr id="6" name="icono-92" descr="preencoded.png">    </p:cNvPr>
          <p:cNvPicPr>
            <a:picLocks noChangeAspect="1"/>
          </p:cNvPicPr>
          <p:nvPr/>
        </p:nvPicPr>
        <p:blipFill>
          <a:blip r:embed="rId1"/>
          <a:stretch>
            <a:fillRect/>
          </a:stretch>
        </p:blipFill>
        <p:spPr>
          <a:xfrm>
            <a:off x="758952" y="1975104"/>
            <a:ext cx="256032" cy="256032"/>
          </a:xfrm>
          <a:prstGeom prst="rect">
            <a:avLst/>
          </a:prstGeom>
        </p:spPr>
      </p:pic>
      <p:sp>
        <p:nvSpPr>
          <p:cNvPr id="7" name="modulo-nombre-93"/>
          <p:cNvSpPr txBox="1"/>
          <p:nvPr/>
        </p:nvSpPr>
        <p:spPr>
          <a:xfrm>
            <a:off x="1234440" y="1947672"/>
            <a:ext cx="2570378" cy="310896"/>
          </a:xfrm>
          <a:prstGeom prst="rect">
            <a:avLst/>
          </a:prstGeom>
          <a:noFill/>
          <a:ln/>
        </p:spPr>
        <p:txBody>
          <a:bodyPr wrap="square" lIns="0" tIns="0" rIns="0" bIns="0" rtlCol="0" anchor="t"/>
          <a:lstStyle/>
          <a:p>
            <a:pPr indent="0" marL="0">
              <a:buNone/>
            </a:pPr>
            <a:r>
              <a:rPr lang="en-US" sz="1400" b="1" dirty="0">
                <a:solidFill>
                  <a:schemeClr val="tx1"/>
                </a:solidFill>
              </a:rPr>
              <a:t>Panorama</a:t>
            </a:r>
            <a:endParaRPr lang="en-US" sz="1400" dirty="0"/>
          </a:p>
        </p:txBody>
      </p:sp>
      <p:sp>
        <p:nvSpPr>
          <p:cNvPr id="8" name="modulo-pregunta-94"/>
          <p:cNvSpPr txBox="1"/>
          <p:nvPr/>
        </p:nvSpPr>
        <p:spPr>
          <a:xfrm>
            <a:off x="658368" y="2459736"/>
            <a:ext cx="3173882" cy="502920"/>
          </a:xfrm>
          <a:prstGeom prst="rect">
            <a:avLst/>
          </a:prstGeom>
          <a:noFill/>
          <a:ln/>
        </p:spPr>
        <p:txBody>
          <a:bodyPr wrap="square" lIns="0" tIns="0" rIns="0" bIns="0" rtlCol="0" anchor="t"/>
          <a:lstStyle/>
          <a:p>
            <a:pPr indent="0" marL="0">
              <a:buNone/>
            </a:pPr>
            <a:r>
              <a:rPr lang="en-US" sz="1050" b="1" dirty="0">
                <a:solidFill>
                  <a:schemeClr val="accent1"/>
                </a:solidFill>
              </a:rPr>
              <a:t>¿Qué sedes y meses llegan a saturación en 2027?</a:t>
            </a:r>
            <a:endParaRPr lang="en-US" sz="1050" dirty="0"/>
          </a:p>
        </p:txBody>
      </p:sp>
      <p:sp>
        <p:nvSpPr>
          <p:cNvPr id="9" name="modulo-vista-95"/>
          <p:cNvSpPr txBox="1"/>
          <p:nvPr/>
        </p:nvSpPr>
        <p:spPr>
          <a:xfrm>
            <a:off x="658368" y="2990088"/>
            <a:ext cx="3173882" cy="457200"/>
          </a:xfrm>
          <a:prstGeom prst="rect">
            <a:avLst/>
          </a:prstGeom>
          <a:noFill/>
          <a:ln/>
        </p:spPr>
        <p:txBody>
          <a:bodyPr wrap="square" lIns="0" tIns="0" rIns="0" bIns="0" rtlCol="0" anchor="t"/>
          <a:lstStyle/>
          <a:p>
            <a:pPr indent="0" marL="0">
              <a:buNone/>
            </a:pPr>
            <a:r>
              <a:rPr lang="en-US" sz="950" dirty="0">
                <a:solidFill>
                  <a:schemeClr val="tx2"/>
                </a:solidFill>
              </a:rPr>
              <a:t>Tarjetas por sede, mapa de calor sede por mes y alertas priorizadas.</a:t>
            </a:r>
            <a:endParaRPr lang="en-US" sz="950" dirty="0"/>
          </a:p>
        </p:txBody>
      </p:sp>
      <p:sp>
        <p:nvSpPr>
          <p:cNvPr id="10" name="modulo-usuario-96"/>
          <p:cNvSpPr txBox="1"/>
          <p:nvPr/>
        </p:nvSpPr>
        <p:spPr>
          <a:xfrm>
            <a:off x="658368" y="3483864"/>
            <a:ext cx="3173882" cy="228600"/>
          </a:xfrm>
          <a:prstGeom prst="rect">
            <a:avLst/>
          </a:prstGeom>
          <a:noFill/>
          <a:ln/>
        </p:spPr>
        <p:txBody>
          <a:bodyPr wrap="square" lIns="0" tIns="0" rIns="0" bIns="0" rtlCol="0" anchor="t"/>
          <a:lstStyle/>
          <a:p>
            <a:pPr indent="0" marL="0">
              <a:buNone/>
            </a:pPr>
            <a:r>
              <a:rPr lang="en-US" sz="900" b="1" dirty="0">
                <a:solidFill>
                  <a:schemeClr val="tx1"/>
                </a:solidFill>
              </a:rPr>
              <a:t>Usuario: </a:t>
            </a:r>
            <a:pPr indent="0" marL="0">
              <a:buNone/>
            </a:pPr>
            <a:r>
              <a:rPr lang="en-US" sz="900" dirty="0">
                <a:solidFill>
                  <a:schemeClr val="tx1"/>
                </a:solidFill>
              </a:rPr>
              <a:t>Dirección de red y PHM</a:t>
            </a:r>
            <a:endParaRPr lang="en-US" sz="900" dirty="0"/>
          </a:p>
        </p:txBody>
      </p:sp>
      <p:sp>
        <p:nvSpPr>
          <p:cNvPr id="11" name="modulo-97"/>
          <p:cNvSpPr/>
          <p:nvPr/>
        </p:nvSpPr>
        <p:spPr>
          <a:xfrm>
            <a:off x="4307738" y="1673352"/>
            <a:ext cx="3576218" cy="2176272"/>
          </a:xfrm>
          <a:prstGeom prst="roundRect">
            <a:avLst>
              <a:gd name="adj" fmla="val 2941"/>
            </a:avLst>
          </a:prstGeom>
          <a:solidFill>
            <a:schemeClr val="bg2"/>
          </a:solidFill>
          <a:ln w="9525">
            <a:solidFill>
              <a:srgbClr val="D5DCE5"/>
            </a:solidFill>
            <a:prstDash val="solid"/>
          </a:ln>
        </p:spPr>
      </p:sp>
      <p:sp>
        <p:nvSpPr>
          <p:cNvPr id="12" name="icono-fondo-98"/>
          <p:cNvSpPr/>
          <p:nvPr/>
        </p:nvSpPr>
        <p:spPr>
          <a:xfrm>
            <a:off x="4508906" y="1874520"/>
            <a:ext cx="457200" cy="457200"/>
          </a:xfrm>
          <a:prstGeom prst="ellipse">
            <a:avLst/>
          </a:prstGeom>
          <a:solidFill>
            <a:srgbClr val="FFFFFF"/>
          </a:solidFill>
          <a:ln/>
        </p:spPr>
      </p:sp>
      <p:pic>
        <p:nvPicPr>
          <p:cNvPr id="13" name="icono-99" descr="preencoded.png">    </p:cNvPr>
          <p:cNvPicPr>
            <a:picLocks noChangeAspect="1"/>
          </p:cNvPicPr>
          <p:nvPr/>
        </p:nvPicPr>
        <p:blipFill>
          <a:blip r:embed="rId2"/>
          <a:stretch>
            <a:fillRect/>
          </a:stretch>
        </p:blipFill>
        <p:spPr>
          <a:xfrm>
            <a:off x="4609490" y="1975104"/>
            <a:ext cx="256032" cy="256032"/>
          </a:xfrm>
          <a:prstGeom prst="rect">
            <a:avLst/>
          </a:prstGeom>
        </p:spPr>
      </p:pic>
      <p:sp>
        <p:nvSpPr>
          <p:cNvPr id="14" name="modulo-nombre-100"/>
          <p:cNvSpPr txBox="1"/>
          <p:nvPr/>
        </p:nvSpPr>
        <p:spPr>
          <a:xfrm>
            <a:off x="5084978" y="1947672"/>
            <a:ext cx="2570378" cy="310896"/>
          </a:xfrm>
          <a:prstGeom prst="rect">
            <a:avLst/>
          </a:prstGeom>
          <a:noFill/>
          <a:ln/>
        </p:spPr>
        <p:txBody>
          <a:bodyPr wrap="square" lIns="0" tIns="0" rIns="0" bIns="0" rtlCol="0" anchor="t"/>
          <a:lstStyle/>
          <a:p>
            <a:pPr indent="0" marL="0">
              <a:buNone/>
            </a:pPr>
            <a:r>
              <a:rPr lang="en-US" sz="1400" b="1" dirty="0">
                <a:solidFill>
                  <a:schemeClr val="tx1"/>
                </a:solidFill>
              </a:rPr>
              <a:t>Cohortes</a:t>
            </a:r>
            <a:endParaRPr lang="en-US" sz="1400" dirty="0"/>
          </a:p>
        </p:txBody>
      </p:sp>
      <p:sp>
        <p:nvSpPr>
          <p:cNvPr id="15" name="modulo-pregunta-101"/>
          <p:cNvSpPr txBox="1"/>
          <p:nvPr/>
        </p:nvSpPr>
        <p:spPr>
          <a:xfrm>
            <a:off x="4508906" y="2459736"/>
            <a:ext cx="3173882" cy="502920"/>
          </a:xfrm>
          <a:prstGeom prst="rect">
            <a:avLst/>
          </a:prstGeom>
          <a:noFill/>
          <a:ln/>
        </p:spPr>
        <p:txBody>
          <a:bodyPr wrap="square" lIns="0" tIns="0" rIns="0" bIns="0" rtlCol="0" anchor="t"/>
          <a:lstStyle/>
          <a:p>
            <a:pPr indent="0" marL="0">
              <a:buNone/>
            </a:pPr>
            <a:r>
              <a:rPr lang="en-US" sz="1050" b="1" dirty="0">
                <a:solidFill>
                  <a:schemeClr val="accent1"/>
                </a:solidFill>
              </a:rPr>
              <a:t>¿Cómo cambia la composición clínica con la cobertura y cuánta demanda genera?</a:t>
            </a:r>
            <a:endParaRPr lang="en-US" sz="1050" dirty="0"/>
          </a:p>
        </p:txBody>
      </p:sp>
      <p:sp>
        <p:nvSpPr>
          <p:cNvPr id="16" name="modulo-vista-102"/>
          <p:cNvSpPr txBox="1"/>
          <p:nvPr/>
        </p:nvSpPr>
        <p:spPr>
          <a:xfrm>
            <a:off x="4508906" y="2990088"/>
            <a:ext cx="3173882" cy="457200"/>
          </a:xfrm>
          <a:prstGeom prst="rect">
            <a:avLst/>
          </a:prstGeom>
          <a:noFill/>
          <a:ln/>
        </p:spPr>
        <p:txBody>
          <a:bodyPr wrap="square" lIns="0" tIns="0" rIns="0" bIns="0" rtlCol="0" anchor="t"/>
          <a:lstStyle/>
          <a:p>
            <a:pPr indent="0" marL="0">
              <a:buNone/>
            </a:pPr>
            <a:r>
              <a:rPr lang="en-US" sz="950" dirty="0">
                <a:solidFill>
                  <a:schemeClr val="tx2"/>
                </a:solidFill>
              </a:rPr>
              <a:t>Matriz de unidades, transiciones entre estratos, proyección con banda y multimorbilidad.</a:t>
            </a:r>
            <a:endParaRPr lang="en-US" sz="950" dirty="0"/>
          </a:p>
        </p:txBody>
      </p:sp>
      <p:sp>
        <p:nvSpPr>
          <p:cNvPr id="17" name="modulo-usuario-103"/>
          <p:cNvSpPr txBox="1"/>
          <p:nvPr/>
        </p:nvSpPr>
        <p:spPr>
          <a:xfrm>
            <a:off x="4508906" y="3483864"/>
            <a:ext cx="3173882" cy="228600"/>
          </a:xfrm>
          <a:prstGeom prst="rect">
            <a:avLst/>
          </a:prstGeom>
          <a:noFill/>
          <a:ln/>
        </p:spPr>
        <p:txBody>
          <a:bodyPr wrap="square" lIns="0" tIns="0" rIns="0" bIns="0" rtlCol="0" anchor="t"/>
          <a:lstStyle/>
          <a:p>
            <a:pPr indent="0" marL="0">
              <a:buNone/>
            </a:pPr>
            <a:r>
              <a:rPr lang="en-US" sz="900" b="1" dirty="0">
                <a:solidFill>
                  <a:schemeClr val="tx1"/>
                </a:solidFill>
              </a:rPr>
              <a:t>Usuario: </a:t>
            </a:r>
            <a:pPr indent="0" marL="0">
              <a:buNone/>
            </a:pPr>
            <a:r>
              <a:rPr lang="en-US" sz="900" dirty="0">
                <a:solidFill>
                  <a:schemeClr val="tx1"/>
                </a:solidFill>
              </a:rPr>
              <a:t>Gestión del riesgo en salud</a:t>
            </a:r>
            <a:endParaRPr lang="en-US" sz="900" dirty="0"/>
          </a:p>
        </p:txBody>
      </p:sp>
      <p:sp>
        <p:nvSpPr>
          <p:cNvPr id="18" name="modulo-104"/>
          <p:cNvSpPr/>
          <p:nvPr/>
        </p:nvSpPr>
        <p:spPr>
          <a:xfrm>
            <a:off x="8158277" y="1673352"/>
            <a:ext cx="3576218" cy="2176272"/>
          </a:xfrm>
          <a:prstGeom prst="roundRect">
            <a:avLst>
              <a:gd name="adj" fmla="val 2941"/>
            </a:avLst>
          </a:prstGeom>
          <a:solidFill>
            <a:schemeClr val="bg2"/>
          </a:solidFill>
          <a:ln w="9525">
            <a:solidFill>
              <a:srgbClr val="D5DCE5"/>
            </a:solidFill>
            <a:prstDash val="solid"/>
          </a:ln>
        </p:spPr>
      </p:sp>
      <p:sp>
        <p:nvSpPr>
          <p:cNvPr id="19" name="icono-fondo-105"/>
          <p:cNvSpPr/>
          <p:nvPr/>
        </p:nvSpPr>
        <p:spPr>
          <a:xfrm>
            <a:off x="8359445" y="1874520"/>
            <a:ext cx="457200" cy="457200"/>
          </a:xfrm>
          <a:prstGeom prst="ellipse">
            <a:avLst/>
          </a:prstGeom>
          <a:solidFill>
            <a:srgbClr val="FFFFFF"/>
          </a:solidFill>
          <a:ln/>
        </p:spPr>
      </p:sp>
      <p:pic>
        <p:nvPicPr>
          <p:cNvPr id="20" name="icono-106" descr="preencoded.png">    </p:cNvPr>
          <p:cNvPicPr>
            <a:picLocks noChangeAspect="1"/>
          </p:cNvPicPr>
          <p:nvPr/>
        </p:nvPicPr>
        <p:blipFill>
          <a:blip r:embed="rId3"/>
          <a:stretch>
            <a:fillRect/>
          </a:stretch>
        </p:blipFill>
        <p:spPr>
          <a:xfrm>
            <a:off x="8460029" y="1975104"/>
            <a:ext cx="256032" cy="256032"/>
          </a:xfrm>
          <a:prstGeom prst="rect">
            <a:avLst/>
          </a:prstGeom>
        </p:spPr>
      </p:pic>
      <p:sp>
        <p:nvSpPr>
          <p:cNvPr id="21" name="modulo-nombre-107"/>
          <p:cNvSpPr txBox="1"/>
          <p:nvPr/>
        </p:nvSpPr>
        <p:spPr>
          <a:xfrm>
            <a:off x="8935517" y="1947672"/>
            <a:ext cx="2570378" cy="310896"/>
          </a:xfrm>
          <a:prstGeom prst="rect">
            <a:avLst/>
          </a:prstGeom>
          <a:noFill/>
          <a:ln/>
        </p:spPr>
        <p:txBody>
          <a:bodyPr wrap="square" lIns="0" tIns="0" rIns="0" bIns="0" rtlCol="0" anchor="t"/>
          <a:lstStyle/>
          <a:p>
            <a:pPr indent="0" marL="0">
              <a:buNone/>
            </a:pPr>
            <a:r>
              <a:rPr lang="en-US" sz="1400" b="1" dirty="0">
                <a:solidFill>
                  <a:schemeClr val="tx1"/>
                </a:solidFill>
              </a:rPr>
              <a:t>Territorio</a:t>
            </a:r>
            <a:endParaRPr lang="en-US" sz="1400" dirty="0"/>
          </a:p>
        </p:txBody>
      </p:sp>
      <p:sp>
        <p:nvSpPr>
          <p:cNvPr id="22" name="modulo-pregunta-108"/>
          <p:cNvSpPr txBox="1"/>
          <p:nvPr/>
        </p:nvSpPr>
        <p:spPr>
          <a:xfrm>
            <a:off x="8359445" y="2459736"/>
            <a:ext cx="3173882" cy="502920"/>
          </a:xfrm>
          <a:prstGeom prst="rect">
            <a:avLst/>
          </a:prstGeom>
          <a:noFill/>
          <a:ln/>
        </p:spPr>
        <p:txBody>
          <a:bodyPr wrap="square" lIns="0" tIns="0" rIns="0" bIns="0" rtlCol="0" anchor="t"/>
          <a:lstStyle/>
          <a:p>
            <a:pPr indent="0" marL="0">
              <a:buNone/>
            </a:pPr>
            <a:r>
              <a:rPr lang="en-US" sz="1050" b="1" dirty="0">
                <a:solidFill>
                  <a:schemeClr val="accent1"/>
                </a:solidFill>
              </a:rPr>
              <a:t>¿Dónde se concentra la carga crónica y quién vive lejos de su sede?</a:t>
            </a:r>
            <a:endParaRPr lang="en-US" sz="1050" dirty="0"/>
          </a:p>
        </p:txBody>
      </p:sp>
      <p:sp>
        <p:nvSpPr>
          <p:cNvPr id="23" name="modulo-vista-109"/>
          <p:cNvSpPr txBox="1"/>
          <p:nvPr/>
        </p:nvSpPr>
        <p:spPr>
          <a:xfrm>
            <a:off x="8359445" y="2990088"/>
            <a:ext cx="3173882" cy="457200"/>
          </a:xfrm>
          <a:prstGeom prst="rect">
            <a:avLst/>
          </a:prstGeom>
          <a:noFill/>
          <a:ln/>
        </p:spPr>
        <p:txBody>
          <a:bodyPr wrap="square" lIns="0" tIns="0" rIns="0" bIns="0" rtlCol="0" anchor="t"/>
          <a:lstStyle/>
          <a:p>
            <a:pPr indent="0" marL="0">
              <a:buNone/>
            </a:pPr>
            <a:r>
              <a:rPr lang="en-US" sz="950" dirty="0">
                <a:solidFill>
                  <a:schemeClr val="tx2"/>
                </a:solidFill>
              </a:rPr>
              <a:t>Mapa hexagonal de 111 celdas con prevalencia, alto riesgo, demanda y tiempo a sede.</a:t>
            </a:r>
            <a:endParaRPr lang="en-US" sz="950" dirty="0"/>
          </a:p>
        </p:txBody>
      </p:sp>
      <p:sp>
        <p:nvSpPr>
          <p:cNvPr id="24" name="modulo-usuario-110"/>
          <p:cNvSpPr txBox="1"/>
          <p:nvPr/>
        </p:nvSpPr>
        <p:spPr>
          <a:xfrm>
            <a:off x="8359445" y="3483864"/>
            <a:ext cx="3173882" cy="228600"/>
          </a:xfrm>
          <a:prstGeom prst="rect">
            <a:avLst/>
          </a:prstGeom>
          <a:noFill/>
          <a:ln/>
        </p:spPr>
        <p:txBody>
          <a:bodyPr wrap="square" lIns="0" tIns="0" rIns="0" bIns="0" rtlCol="0" anchor="t"/>
          <a:lstStyle/>
          <a:p>
            <a:pPr indent="0" marL="0">
              <a:buNone/>
            </a:pPr>
            <a:r>
              <a:rPr lang="en-US" sz="900" b="1" dirty="0">
                <a:solidFill>
                  <a:schemeClr val="tx1"/>
                </a:solidFill>
              </a:rPr>
              <a:t>Usuario: </a:t>
            </a:r>
            <a:pPr indent="0" marL="0">
              <a:buNone/>
            </a:pPr>
            <a:r>
              <a:rPr lang="en-US" sz="900" dirty="0">
                <a:solidFill>
                  <a:schemeClr val="tx1"/>
                </a:solidFill>
              </a:rPr>
              <a:t>Planeación territorial y atención domiciliaria</a:t>
            </a:r>
            <a:endParaRPr lang="en-US" sz="900" dirty="0"/>
          </a:p>
        </p:txBody>
      </p:sp>
      <p:sp>
        <p:nvSpPr>
          <p:cNvPr id="25" name="modulo-111"/>
          <p:cNvSpPr/>
          <p:nvPr/>
        </p:nvSpPr>
        <p:spPr>
          <a:xfrm>
            <a:off x="457200" y="4078224"/>
            <a:ext cx="3576218" cy="2176272"/>
          </a:xfrm>
          <a:prstGeom prst="roundRect">
            <a:avLst>
              <a:gd name="adj" fmla="val 2941"/>
            </a:avLst>
          </a:prstGeom>
          <a:solidFill>
            <a:schemeClr val="bg2"/>
          </a:solidFill>
          <a:ln w="9525">
            <a:solidFill>
              <a:srgbClr val="D5DCE5"/>
            </a:solidFill>
            <a:prstDash val="solid"/>
          </a:ln>
        </p:spPr>
      </p:sp>
      <p:sp>
        <p:nvSpPr>
          <p:cNvPr id="26" name="icono-fondo-112"/>
          <p:cNvSpPr/>
          <p:nvPr/>
        </p:nvSpPr>
        <p:spPr>
          <a:xfrm>
            <a:off x="658368" y="4279392"/>
            <a:ext cx="457200" cy="457200"/>
          </a:xfrm>
          <a:prstGeom prst="ellipse">
            <a:avLst/>
          </a:prstGeom>
          <a:solidFill>
            <a:srgbClr val="FFFFFF"/>
          </a:solidFill>
          <a:ln/>
        </p:spPr>
      </p:sp>
      <p:pic>
        <p:nvPicPr>
          <p:cNvPr id="27" name="icono-113" descr="preencoded.png">    </p:cNvPr>
          <p:cNvPicPr>
            <a:picLocks noChangeAspect="1"/>
          </p:cNvPicPr>
          <p:nvPr/>
        </p:nvPicPr>
        <p:blipFill>
          <a:blip r:embed="rId4"/>
          <a:stretch>
            <a:fillRect/>
          </a:stretch>
        </p:blipFill>
        <p:spPr>
          <a:xfrm>
            <a:off x="758952" y="4379976"/>
            <a:ext cx="256032" cy="256032"/>
          </a:xfrm>
          <a:prstGeom prst="rect">
            <a:avLst/>
          </a:prstGeom>
        </p:spPr>
      </p:pic>
      <p:sp>
        <p:nvSpPr>
          <p:cNvPr id="28" name="modulo-nombre-114"/>
          <p:cNvSpPr txBox="1"/>
          <p:nvPr/>
        </p:nvSpPr>
        <p:spPr>
          <a:xfrm>
            <a:off x="1234440" y="4352544"/>
            <a:ext cx="2570378" cy="310896"/>
          </a:xfrm>
          <a:prstGeom prst="rect">
            <a:avLst/>
          </a:prstGeom>
          <a:noFill/>
          <a:ln/>
        </p:spPr>
        <p:txBody>
          <a:bodyPr wrap="square" lIns="0" tIns="0" rIns="0" bIns="0" rtlCol="0" anchor="t"/>
          <a:lstStyle/>
          <a:p>
            <a:pPr indent="0" marL="0">
              <a:buNone/>
            </a:pPr>
            <a:r>
              <a:rPr lang="en-US" sz="1400" b="1" dirty="0">
                <a:solidFill>
                  <a:schemeClr val="tx1"/>
                </a:solidFill>
              </a:rPr>
              <a:t>Sede</a:t>
            </a:r>
            <a:endParaRPr lang="en-US" sz="1400" dirty="0"/>
          </a:p>
        </p:txBody>
      </p:sp>
      <p:sp>
        <p:nvSpPr>
          <p:cNvPr id="29" name="modulo-pregunta-115"/>
          <p:cNvSpPr txBox="1"/>
          <p:nvPr/>
        </p:nvSpPr>
        <p:spPr>
          <a:xfrm>
            <a:off x="658368" y="4864608"/>
            <a:ext cx="3173882" cy="502920"/>
          </a:xfrm>
          <a:prstGeom prst="rect">
            <a:avLst/>
          </a:prstGeom>
          <a:noFill/>
          <a:ln/>
        </p:spPr>
        <p:txBody>
          <a:bodyPr wrap="square" lIns="0" tIns="0" rIns="0" bIns="0" rtlCol="0" anchor="t"/>
          <a:lstStyle/>
          <a:p>
            <a:pPr indent="0" marL="0">
              <a:buNone/>
            </a:pPr>
            <a:r>
              <a:rPr lang="en-US" sz="1050" b="1" dirty="0">
                <a:solidFill>
                  <a:schemeClr val="accent1"/>
                </a:solidFill>
              </a:rPr>
              <a:t>¿Qué zona se satura, en qué mes y con qué indicador de servicio?</a:t>
            </a:r>
            <a:endParaRPr lang="en-US" sz="1050" dirty="0"/>
          </a:p>
        </p:txBody>
      </p:sp>
      <p:sp>
        <p:nvSpPr>
          <p:cNvPr id="30" name="modulo-vista-116"/>
          <p:cNvSpPr txBox="1"/>
          <p:nvPr/>
        </p:nvSpPr>
        <p:spPr>
          <a:xfrm>
            <a:off x="658368" y="5394960"/>
            <a:ext cx="3173882" cy="457200"/>
          </a:xfrm>
          <a:prstGeom prst="rect">
            <a:avLst/>
          </a:prstGeom>
          <a:noFill/>
          <a:ln/>
        </p:spPr>
        <p:txBody>
          <a:bodyPr wrap="square" lIns="0" tIns="0" rIns="0" bIns="0" rtlCol="0" anchor="t"/>
          <a:lstStyle/>
          <a:p>
            <a:pPr indent="0" marL="0">
              <a:buNone/>
            </a:pPr>
            <a:r>
              <a:rPr lang="en-US" sz="950" dirty="0">
                <a:solidFill>
                  <a:schemeClr val="tx2"/>
                </a:solidFill>
              </a:rPr>
              <a:t>Modelo 3D de la sede, panel de zona, utilización por hora y equipos.</a:t>
            </a:r>
            <a:endParaRPr lang="en-US" sz="950" dirty="0"/>
          </a:p>
        </p:txBody>
      </p:sp>
      <p:sp>
        <p:nvSpPr>
          <p:cNvPr id="31" name="modulo-usuario-117"/>
          <p:cNvSpPr txBox="1"/>
          <p:nvPr/>
        </p:nvSpPr>
        <p:spPr>
          <a:xfrm>
            <a:off x="658368" y="5888736"/>
            <a:ext cx="3173882" cy="228600"/>
          </a:xfrm>
          <a:prstGeom prst="rect">
            <a:avLst/>
          </a:prstGeom>
          <a:noFill/>
          <a:ln/>
        </p:spPr>
        <p:txBody>
          <a:bodyPr wrap="square" lIns="0" tIns="0" rIns="0" bIns="0" rtlCol="0" anchor="t"/>
          <a:lstStyle/>
          <a:p>
            <a:pPr indent="0" marL="0">
              <a:buNone/>
            </a:pPr>
            <a:r>
              <a:rPr lang="en-US" sz="900" b="1" dirty="0">
                <a:solidFill>
                  <a:schemeClr val="tx1"/>
                </a:solidFill>
              </a:rPr>
              <a:t>Usuario: </a:t>
            </a:r>
            <a:pPr indent="0" marL="0">
              <a:buNone/>
            </a:pPr>
            <a:r>
              <a:rPr lang="en-US" sz="900" dirty="0">
                <a:solidFill>
                  <a:schemeClr val="tx1"/>
                </a:solidFill>
              </a:rPr>
              <a:t>Coordinación de sede</a:t>
            </a:r>
            <a:endParaRPr lang="en-US" sz="900" dirty="0"/>
          </a:p>
        </p:txBody>
      </p:sp>
      <p:sp>
        <p:nvSpPr>
          <p:cNvPr id="32" name="modulo-118"/>
          <p:cNvSpPr/>
          <p:nvPr/>
        </p:nvSpPr>
        <p:spPr>
          <a:xfrm>
            <a:off x="4307738" y="4078224"/>
            <a:ext cx="3576218" cy="2176272"/>
          </a:xfrm>
          <a:prstGeom prst="roundRect">
            <a:avLst>
              <a:gd name="adj" fmla="val 2941"/>
            </a:avLst>
          </a:prstGeom>
          <a:solidFill>
            <a:schemeClr val="bg2"/>
          </a:solidFill>
          <a:ln w="9525">
            <a:solidFill>
              <a:srgbClr val="D5DCE5"/>
            </a:solidFill>
            <a:prstDash val="solid"/>
          </a:ln>
        </p:spPr>
      </p:sp>
      <p:sp>
        <p:nvSpPr>
          <p:cNvPr id="33" name="icono-fondo-119"/>
          <p:cNvSpPr/>
          <p:nvPr/>
        </p:nvSpPr>
        <p:spPr>
          <a:xfrm>
            <a:off x="4508906" y="4279392"/>
            <a:ext cx="457200" cy="457200"/>
          </a:xfrm>
          <a:prstGeom prst="ellipse">
            <a:avLst/>
          </a:prstGeom>
          <a:solidFill>
            <a:srgbClr val="FFFFFF"/>
          </a:solidFill>
          <a:ln/>
        </p:spPr>
      </p:sp>
      <p:pic>
        <p:nvPicPr>
          <p:cNvPr id="34" name="icono-120" descr="preencoded.png">    </p:cNvPr>
          <p:cNvPicPr>
            <a:picLocks noChangeAspect="1"/>
          </p:cNvPicPr>
          <p:nvPr/>
        </p:nvPicPr>
        <p:blipFill>
          <a:blip r:embed="rId5"/>
          <a:stretch>
            <a:fillRect/>
          </a:stretch>
        </p:blipFill>
        <p:spPr>
          <a:xfrm>
            <a:off x="4609490" y="4379976"/>
            <a:ext cx="256032" cy="256032"/>
          </a:xfrm>
          <a:prstGeom prst="rect">
            <a:avLst/>
          </a:prstGeom>
        </p:spPr>
      </p:pic>
      <p:sp>
        <p:nvSpPr>
          <p:cNvPr id="35" name="modulo-nombre-121"/>
          <p:cNvSpPr txBox="1"/>
          <p:nvPr/>
        </p:nvSpPr>
        <p:spPr>
          <a:xfrm>
            <a:off x="5084978" y="4352544"/>
            <a:ext cx="2570378" cy="310896"/>
          </a:xfrm>
          <a:prstGeom prst="rect">
            <a:avLst/>
          </a:prstGeom>
          <a:noFill/>
          <a:ln/>
        </p:spPr>
        <p:txBody>
          <a:bodyPr wrap="square" lIns="0" tIns="0" rIns="0" bIns="0" rtlCol="0" anchor="t"/>
          <a:lstStyle/>
          <a:p>
            <a:pPr indent="0" marL="0">
              <a:buNone/>
            </a:pPr>
            <a:r>
              <a:rPr lang="en-US" sz="1400" b="1" dirty="0">
                <a:solidFill>
                  <a:schemeClr val="tx1"/>
                </a:solidFill>
              </a:rPr>
              <a:t>Escenarios</a:t>
            </a:r>
            <a:endParaRPr lang="en-US" sz="1400" dirty="0"/>
          </a:p>
        </p:txBody>
      </p:sp>
      <p:sp>
        <p:nvSpPr>
          <p:cNvPr id="36" name="modulo-pregunta-122"/>
          <p:cNvSpPr txBox="1"/>
          <p:nvPr/>
        </p:nvSpPr>
        <p:spPr>
          <a:xfrm>
            <a:off x="4508906" y="4864608"/>
            <a:ext cx="3173882" cy="502920"/>
          </a:xfrm>
          <a:prstGeom prst="rect">
            <a:avLst/>
          </a:prstGeom>
          <a:noFill/>
          <a:ln/>
        </p:spPr>
        <p:txBody>
          <a:bodyPr wrap="square" lIns="0" tIns="0" rIns="0" bIns="0" rtlCol="0" anchor="t"/>
          <a:lstStyle/>
          <a:p>
            <a:pPr indent="0" marL="0">
              <a:buNone/>
            </a:pPr>
            <a:r>
              <a:rPr lang="en-US" sz="1050" b="1" dirty="0">
                <a:solidFill>
                  <a:schemeClr val="accent1"/>
                </a:solidFill>
              </a:rPr>
              <a:t>¿Qué combinación de cobertura y canales mejora el acceso y a qué costo?</a:t>
            </a:r>
            <a:endParaRPr lang="en-US" sz="1050" dirty="0"/>
          </a:p>
        </p:txBody>
      </p:sp>
      <p:sp>
        <p:nvSpPr>
          <p:cNvPr id="37" name="modulo-vista-123"/>
          <p:cNvSpPr txBox="1"/>
          <p:nvPr/>
        </p:nvSpPr>
        <p:spPr>
          <a:xfrm>
            <a:off x="4508906" y="5394960"/>
            <a:ext cx="3173882" cy="457200"/>
          </a:xfrm>
          <a:prstGeom prst="rect">
            <a:avLst/>
          </a:prstGeom>
          <a:noFill/>
          <a:ln/>
        </p:spPr>
        <p:txBody>
          <a:bodyPr wrap="square" lIns="0" tIns="0" rIns="0" bIns="0" rtlCol="0" anchor="t"/>
          <a:lstStyle/>
          <a:p>
            <a:pPr indent="0" marL="0">
              <a:buNone/>
            </a:pPr>
            <a:r>
              <a:rPr lang="en-US" sz="950" dirty="0">
                <a:solidFill>
                  <a:schemeClr val="tx2"/>
                </a:solidFill>
              </a:rPr>
              <a:t>Editor de escenarios y comparación de hasta cinco variantes.</a:t>
            </a:r>
            <a:endParaRPr lang="en-US" sz="950" dirty="0"/>
          </a:p>
        </p:txBody>
      </p:sp>
      <p:sp>
        <p:nvSpPr>
          <p:cNvPr id="38" name="modulo-usuario-124"/>
          <p:cNvSpPr txBox="1"/>
          <p:nvPr/>
        </p:nvSpPr>
        <p:spPr>
          <a:xfrm>
            <a:off x="4508906" y="5888736"/>
            <a:ext cx="3173882" cy="228600"/>
          </a:xfrm>
          <a:prstGeom prst="rect">
            <a:avLst/>
          </a:prstGeom>
          <a:noFill/>
          <a:ln/>
        </p:spPr>
        <p:txBody>
          <a:bodyPr wrap="square" lIns="0" tIns="0" rIns="0" bIns="0" rtlCol="0" anchor="t"/>
          <a:lstStyle/>
          <a:p>
            <a:pPr indent="0" marL="0">
              <a:buNone/>
            </a:pPr>
            <a:r>
              <a:rPr lang="en-US" sz="900" b="1" dirty="0">
                <a:solidFill>
                  <a:schemeClr val="tx1"/>
                </a:solidFill>
              </a:rPr>
              <a:t>Usuario: </a:t>
            </a:r>
            <a:pPr indent="0" marL="0">
              <a:buNone/>
            </a:pPr>
            <a:r>
              <a:rPr lang="en-US" sz="900" dirty="0">
                <a:solidFill>
                  <a:schemeClr val="tx1"/>
                </a:solidFill>
              </a:rPr>
              <a:t>Dirección de PHM y finanzas</a:t>
            </a:r>
            <a:endParaRPr lang="en-US" sz="900" dirty="0"/>
          </a:p>
        </p:txBody>
      </p:sp>
      <p:sp>
        <p:nvSpPr>
          <p:cNvPr id="39" name="modulo-125"/>
          <p:cNvSpPr/>
          <p:nvPr/>
        </p:nvSpPr>
        <p:spPr>
          <a:xfrm>
            <a:off x="8158277" y="4078224"/>
            <a:ext cx="3576218" cy="2176272"/>
          </a:xfrm>
          <a:prstGeom prst="roundRect">
            <a:avLst>
              <a:gd name="adj" fmla="val 2941"/>
            </a:avLst>
          </a:prstGeom>
          <a:solidFill>
            <a:schemeClr val="bg2"/>
          </a:solidFill>
          <a:ln w="9525">
            <a:solidFill>
              <a:srgbClr val="D5DCE5"/>
            </a:solidFill>
            <a:prstDash val="solid"/>
          </a:ln>
        </p:spPr>
      </p:sp>
      <p:sp>
        <p:nvSpPr>
          <p:cNvPr id="40" name="icono-fondo-126"/>
          <p:cNvSpPr/>
          <p:nvPr/>
        </p:nvSpPr>
        <p:spPr>
          <a:xfrm>
            <a:off x="8359445" y="4279392"/>
            <a:ext cx="457200" cy="457200"/>
          </a:xfrm>
          <a:prstGeom prst="ellipse">
            <a:avLst/>
          </a:prstGeom>
          <a:solidFill>
            <a:srgbClr val="FFFFFF"/>
          </a:solidFill>
          <a:ln/>
        </p:spPr>
      </p:sp>
      <p:pic>
        <p:nvPicPr>
          <p:cNvPr id="41" name="icono-127" descr="preencoded.png">    </p:cNvPr>
          <p:cNvPicPr>
            <a:picLocks noChangeAspect="1"/>
          </p:cNvPicPr>
          <p:nvPr/>
        </p:nvPicPr>
        <p:blipFill>
          <a:blip r:embed="rId6"/>
          <a:stretch>
            <a:fillRect/>
          </a:stretch>
        </p:blipFill>
        <p:spPr>
          <a:xfrm>
            <a:off x="8460029" y="4379976"/>
            <a:ext cx="256032" cy="256032"/>
          </a:xfrm>
          <a:prstGeom prst="rect">
            <a:avLst/>
          </a:prstGeom>
        </p:spPr>
      </p:pic>
      <p:sp>
        <p:nvSpPr>
          <p:cNvPr id="42" name="modulo-nombre-128"/>
          <p:cNvSpPr txBox="1"/>
          <p:nvPr/>
        </p:nvSpPr>
        <p:spPr>
          <a:xfrm>
            <a:off x="8935517" y="4352544"/>
            <a:ext cx="2570378" cy="310896"/>
          </a:xfrm>
          <a:prstGeom prst="rect">
            <a:avLst/>
          </a:prstGeom>
          <a:noFill/>
          <a:ln/>
        </p:spPr>
        <p:txBody>
          <a:bodyPr wrap="square" lIns="0" tIns="0" rIns="0" bIns="0" rtlCol="0" anchor="t"/>
          <a:lstStyle/>
          <a:p>
            <a:pPr indent="0" marL="0">
              <a:buNone/>
            </a:pPr>
            <a:r>
              <a:rPr lang="en-US" sz="1400" b="1" dirty="0">
                <a:solidFill>
                  <a:schemeClr val="tx1"/>
                </a:solidFill>
              </a:rPr>
              <a:t>Configuración</a:t>
            </a:r>
            <a:endParaRPr lang="en-US" sz="1400" dirty="0"/>
          </a:p>
        </p:txBody>
      </p:sp>
      <p:sp>
        <p:nvSpPr>
          <p:cNvPr id="43" name="modulo-pregunta-129"/>
          <p:cNvSpPr txBox="1"/>
          <p:nvPr/>
        </p:nvSpPr>
        <p:spPr>
          <a:xfrm>
            <a:off x="8359445" y="4864608"/>
            <a:ext cx="3173882" cy="502920"/>
          </a:xfrm>
          <a:prstGeom prst="rect">
            <a:avLst/>
          </a:prstGeom>
          <a:noFill/>
          <a:ln/>
        </p:spPr>
        <p:txBody>
          <a:bodyPr wrap="square" lIns="0" tIns="0" rIns="0" bIns="0" rtlCol="0" anchor="t"/>
          <a:lstStyle/>
          <a:p>
            <a:pPr indent="0" marL="0">
              <a:buNone/>
            </a:pPr>
            <a:r>
              <a:rPr lang="en-US" sz="1050" b="1" dirty="0">
                <a:solidFill>
                  <a:schemeClr val="accent1"/>
                </a:solidFill>
              </a:rPr>
              <a:t>¿Con qué parámetros y fuentes trabaja el modelo y qué tan maduro es?</a:t>
            </a:r>
            <a:endParaRPr lang="en-US" sz="1050" dirty="0"/>
          </a:p>
        </p:txBody>
      </p:sp>
      <p:sp>
        <p:nvSpPr>
          <p:cNvPr id="44" name="modulo-vista-130"/>
          <p:cNvSpPr txBox="1"/>
          <p:nvPr/>
        </p:nvSpPr>
        <p:spPr>
          <a:xfrm>
            <a:off x="8359445" y="5394960"/>
            <a:ext cx="3173882" cy="457200"/>
          </a:xfrm>
          <a:prstGeom prst="rect">
            <a:avLst/>
          </a:prstGeom>
          <a:noFill/>
          <a:ln/>
        </p:spPr>
        <p:txBody>
          <a:bodyPr wrap="square" lIns="0" tIns="0" rIns="0" bIns="0" rtlCol="0" anchor="t"/>
          <a:lstStyle/>
          <a:p>
            <a:pPr indent="0" marL="0">
              <a:buNone/>
            </a:pPr>
            <a:r>
              <a:rPr lang="en-US" sz="950" dirty="0">
                <a:solidFill>
                  <a:schemeClr val="tx2"/>
                </a:solidFill>
              </a:rPr>
              <a:t>Catálogo de cohortes y zonas, contrato de datos y salud del modelo.</a:t>
            </a:r>
            <a:endParaRPr lang="en-US" sz="950" dirty="0"/>
          </a:p>
        </p:txBody>
      </p:sp>
      <p:sp>
        <p:nvSpPr>
          <p:cNvPr id="45" name="modulo-usuario-131"/>
          <p:cNvSpPr txBox="1"/>
          <p:nvPr/>
        </p:nvSpPr>
        <p:spPr>
          <a:xfrm>
            <a:off x="8359445" y="5888736"/>
            <a:ext cx="3173882" cy="228600"/>
          </a:xfrm>
          <a:prstGeom prst="rect">
            <a:avLst/>
          </a:prstGeom>
          <a:noFill/>
          <a:ln/>
        </p:spPr>
        <p:txBody>
          <a:bodyPr wrap="square" lIns="0" tIns="0" rIns="0" bIns="0" rtlCol="0" anchor="t"/>
          <a:lstStyle/>
          <a:p>
            <a:pPr indent="0" marL="0">
              <a:buNone/>
            </a:pPr>
            <a:r>
              <a:rPr lang="en-US" sz="900" b="1" dirty="0">
                <a:solidFill>
                  <a:schemeClr val="tx1"/>
                </a:solidFill>
              </a:rPr>
              <a:t>Usuario: </a:t>
            </a:r>
            <a:pPr indent="0" marL="0">
              <a:buNone/>
            </a:pPr>
            <a:r>
              <a:rPr lang="en-US" sz="900" dirty="0">
                <a:solidFill>
                  <a:schemeClr val="tx1"/>
                </a:solidFill>
              </a:rPr>
              <a:t>Analítica y arquitectura</a:t>
            </a:r>
            <a:endParaRPr lang="en-US" sz="9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Panorama identifica qué sedes y meses llegan a saturación antes de que ocurran</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Vista de entrada del portal. En el statu quo, Sede Norte satura consulta externa o admisión en ocho meses de 2027.</a:t>
            </a:r>
            <a:endParaRPr lang="en-US" sz="1250" dirty="0"/>
          </a:p>
        </p:txBody>
      </p:sp>
      <p:sp>
        <p:nvSpPr>
          <p:cNvPr id="4" name="marco-132"/>
          <p:cNvSpPr/>
          <p:nvPr/>
        </p:nvSpPr>
        <p:spPr>
          <a:xfrm>
            <a:off x="448056" y="1691640"/>
            <a:ext cx="6914874" cy="4517136"/>
          </a:xfrm>
          <a:prstGeom prst="rect">
            <a:avLst/>
          </a:prstGeom>
          <a:solidFill>
            <a:srgbClr val="FFFFFF"/>
          </a:solidFill>
          <a:ln w="9525">
            <a:solidFill>
              <a:srgbClr val="D5DCE5"/>
            </a:solidFill>
            <a:prstDash val="solid"/>
          </a:ln>
          <a:effectLst>
            <a:outerShdw sx="100000" sy="100000" kx="0" ky="0" algn="bl" rotWithShape="0" blurRad="76200" dist="25400" dir="5400000">
              <a:srgbClr val="000000">
                <a:alpha val="12000"/>
              </a:srgbClr>
            </a:outerShdw>
          </a:effectLst>
        </p:spPr>
      </p:sp>
      <p:pic>
        <p:nvPicPr>
          <p:cNvPr id="5" name="captura-133" descr="/home/claude/sura/phm-gemelos/deck/capturas/r-panorama.png">    </p:cNvPr>
          <p:cNvPicPr>
            <a:picLocks noChangeAspect="1"/>
          </p:cNvPicPr>
          <p:nvPr/>
        </p:nvPicPr>
        <p:blipFill>
          <a:blip r:embed="rId1"/>
          <a:stretch>
            <a:fillRect/>
          </a:stretch>
        </p:blipFill>
        <p:spPr>
          <a:xfrm>
            <a:off x="457200" y="1700784"/>
            <a:ext cx="6896586" cy="4498848"/>
          </a:xfrm>
          <a:prstGeom prst="rect">
            <a:avLst/>
          </a:prstGeom>
        </p:spPr>
      </p:pic>
      <p:sp>
        <p:nvSpPr>
          <p:cNvPr id="6" name="etiqueta-134"/>
          <p:cNvSpPr txBox="1"/>
          <p:nvPr/>
        </p:nvSpPr>
        <p:spPr>
          <a:xfrm>
            <a:off x="7719546" y="1673352"/>
            <a:ext cx="4014950" cy="201168"/>
          </a:xfrm>
          <a:prstGeom prst="rect">
            <a:avLst/>
          </a:prstGeom>
          <a:noFill/>
          <a:ln/>
        </p:spPr>
        <p:txBody>
          <a:bodyPr wrap="square" lIns="0" tIns="0" rIns="0" bIns="0" rtlCol="0" anchor="t"/>
          <a:lstStyle/>
          <a:p>
            <a:pPr indent="0" marL="0">
              <a:buNone/>
            </a:pPr>
            <a:r>
              <a:rPr lang="en-US" sz="850" b="1" spc="50" kern="0" dirty="0">
                <a:solidFill>
                  <a:schemeClr val="accent1"/>
                </a:solidFill>
              </a:rPr>
              <a:t>PROPÓSITO</a:t>
            </a:r>
            <a:endParaRPr lang="en-US" sz="850" dirty="0"/>
          </a:p>
        </p:txBody>
      </p:sp>
      <p:sp>
        <p:nvSpPr>
          <p:cNvPr id="7" name="cuerpo-135"/>
          <p:cNvSpPr txBox="1"/>
          <p:nvPr/>
        </p:nvSpPr>
        <p:spPr>
          <a:xfrm>
            <a:off x="7719546" y="1892808"/>
            <a:ext cx="4014950" cy="56692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Dar a la dirección de red una lectura anual del estado de cada sede y priorizar dónde intervenir primero.</a:t>
            </a:r>
            <a:endParaRPr lang="en-US" sz="1000" dirty="0"/>
          </a:p>
        </p:txBody>
      </p:sp>
      <p:sp>
        <p:nvSpPr>
          <p:cNvPr id="8" name="etiqueta-136"/>
          <p:cNvSpPr txBox="1"/>
          <p:nvPr/>
        </p:nvSpPr>
        <p:spPr>
          <a:xfrm>
            <a:off x="7719546" y="2587752"/>
            <a:ext cx="4014950" cy="201168"/>
          </a:xfrm>
          <a:prstGeom prst="rect">
            <a:avLst/>
          </a:prstGeom>
          <a:noFill/>
          <a:ln/>
        </p:spPr>
        <p:txBody>
          <a:bodyPr wrap="square" lIns="0" tIns="0" rIns="0" bIns="0" rtlCol="0" anchor="t"/>
          <a:lstStyle/>
          <a:p>
            <a:pPr indent="0" marL="0">
              <a:buNone/>
            </a:pPr>
            <a:r>
              <a:rPr lang="en-US" sz="850" b="1" spc="50" kern="0" dirty="0">
                <a:solidFill>
                  <a:schemeClr val="accent1"/>
                </a:solidFill>
              </a:rPr>
              <a:t>INFORMACIÓN</a:t>
            </a:r>
            <a:endParaRPr lang="en-US" sz="850" dirty="0"/>
          </a:p>
        </p:txBody>
      </p:sp>
      <p:sp>
        <p:nvSpPr>
          <p:cNvPr id="9" name="cuerpo-137"/>
          <p:cNvSpPr txBox="1"/>
          <p:nvPr/>
        </p:nvSpPr>
        <p:spPr>
          <a:xfrm>
            <a:off x="7719546" y="2807208"/>
            <a:ext cx="4014950" cy="987552"/>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Estado de la peor zona por sede y mes, oportunidad de cita P90, utilización de consulta externa y resumen de las cohortes crónicas: personas, multimorbilidad, hospitalizaciones, urgencias y costo.</a:t>
            </a:r>
            <a:endParaRPr lang="en-US" sz="1000" dirty="0"/>
          </a:p>
        </p:txBody>
      </p:sp>
      <p:sp>
        <p:nvSpPr>
          <p:cNvPr id="10" name="etiqueta-138"/>
          <p:cNvSpPr txBox="1"/>
          <p:nvPr/>
        </p:nvSpPr>
        <p:spPr>
          <a:xfrm>
            <a:off x="7719546" y="3922776"/>
            <a:ext cx="4014950" cy="201168"/>
          </a:xfrm>
          <a:prstGeom prst="rect">
            <a:avLst/>
          </a:prstGeom>
          <a:noFill/>
          <a:ln/>
        </p:spPr>
        <p:txBody>
          <a:bodyPr wrap="square" lIns="0" tIns="0" rIns="0" bIns="0" rtlCol="0" anchor="t"/>
          <a:lstStyle/>
          <a:p>
            <a:pPr indent="0" marL="0">
              <a:buNone/>
            </a:pPr>
            <a:r>
              <a:rPr lang="en-US" sz="850" b="1" spc="50" kern="0" dirty="0">
                <a:solidFill>
                  <a:schemeClr val="accent1"/>
                </a:solidFill>
              </a:rPr>
              <a:t>CÓMO SE LEE</a:t>
            </a:r>
            <a:endParaRPr lang="en-US" sz="850" dirty="0"/>
          </a:p>
        </p:txBody>
      </p:sp>
      <p:sp>
        <p:nvSpPr>
          <p:cNvPr id="11" name="cuerpo-139"/>
          <p:cNvSpPr txBox="1"/>
          <p:nvPr/>
        </p:nvSpPr>
        <p:spPr>
          <a:xfrm>
            <a:off x="7719546" y="4142232"/>
            <a:ext cx="4014950" cy="77724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Verde, ámbar y rojo indican utilización holgada, tensionada o saturada según el indicador de cada zona. El número en la celda cuenta las zonas saturadas.</a:t>
            </a:r>
            <a:endParaRPr lang="en-US" sz="1000" dirty="0"/>
          </a:p>
        </p:txBody>
      </p:sp>
      <p:sp>
        <p:nvSpPr>
          <p:cNvPr id="12" name="etiqueta-140"/>
          <p:cNvSpPr txBox="1"/>
          <p:nvPr/>
        </p:nvSpPr>
        <p:spPr>
          <a:xfrm>
            <a:off x="7719546" y="5047488"/>
            <a:ext cx="4014950" cy="201168"/>
          </a:xfrm>
          <a:prstGeom prst="rect">
            <a:avLst/>
          </a:prstGeom>
          <a:noFill/>
          <a:ln/>
        </p:spPr>
        <p:txBody>
          <a:bodyPr wrap="square" lIns="0" tIns="0" rIns="0" bIns="0" rtlCol="0" anchor="t"/>
          <a:lstStyle/>
          <a:p>
            <a:pPr indent="0" marL="0">
              <a:buNone/>
            </a:pPr>
            <a:r>
              <a:rPr lang="en-US" sz="850" b="1" spc="50" kern="0" dirty="0">
                <a:solidFill>
                  <a:schemeClr val="accent5"/>
                </a:solidFill>
              </a:rPr>
              <a:t>DECISIÓN QUE HABILITA</a:t>
            </a:r>
            <a:endParaRPr lang="en-US" sz="850" dirty="0"/>
          </a:p>
        </p:txBody>
      </p:sp>
      <p:sp>
        <p:nvSpPr>
          <p:cNvPr id="13" name="cuerpo-141"/>
          <p:cNvSpPr txBox="1"/>
          <p:nvPr/>
        </p:nvSpPr>
        <p:spPr>
          <a:xfrm>
            <a:off x="7719546" y="5266944"/>
            <a:ext cx="4014950" cy="56692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Qué sedes y meses requieren capacidad adicional, redistribución de agenda o desvío a canales alternos.</a:t>
            </a:r>
            <a:endParaRPr lang="en-US" sz="10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Cohortes proyecta cómo cambian los estratos clínicos con la cobertura y cuántas atenciones genera ese cambio</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Hipertensión arterial en la red completa: 15.050 personas; cobertura vigente 45 % frente a 70 % en la gestión ampliada.</a:t>
            </a:r>
            <a:endParaRPr lang="en-US" sz="1250" dirty="0"/>
          </a:p>
        </p:txBody>
      </p:sp>
      <p:sp>
        <p:nvSpPr>
          <p:cNvPr id="4" name="marco-142"/>
          <p:cNvSpPr/>
          <p:nvPr/>
        </p:nvSpPr>
        <p:spPr>
          <a:xfrm>
            <a:off x="448056" y="1691640"/>
            <a:ext cx="6007608" cy="2371876"/>
          </a:xfrm>
          <a:prstGeom prst="rect">
            <a:avLst/>
          </a:prstGeom>
          <a:solidFill>
            <a:srgbClr val="FFFFFF"/>
          </a:solidFill>
          <a:ln w="9525">
            <a:solidFill>
              <a:srgbClr val="D5DCE5"/>
            </a:solidFill>
            <a:prstDash val="solid"/>
          </a:ln>
          <a:effectLst>
            <a:outerShdw sx="100000" sy="100000" kx="0" ky="0" algn="bl" rotWithShape="0" blurRad="76200" dist="25400" dir="5400000">
              <a:srgbClr val="000000">
                <a:alpha val="12000"/>
              </a:srgbClr>
            </a:outerShdw>
          </a:effectLst>
        </p:spPr>
      </p:sp>
      <p:pic>
        <p:nvPicPr>
          <p:cNvPr id="5" name="captura-143" descr="/home/claude/sura/phm-gemelos/deck/capturas/cohortes-composicion.png">    </p:cNvPr>
          <p:cNvPicPr>
            <a:picLocks noChangeAspect="1"/>
          </p:cNvPicPr>
          <p:nvPr/>
        </p:nvPicPr>
        <p:blipFill>
          <a:blip r:embed="rId1"/>
          <a:stretch>
            <a:fillRect/>
          </a:stretch>
        </p:blipFill>
        <p:spPr>
          <a:xfrm>
            <a:off x="457200" y="1700784"/>
            <a:ext cx="5989320" cy="2353588"/>
          </a:xfrm>
          <a:prstGeom prst="rect">
            <a:avLst/>
          </a:prstGeom>
        </p:spPr>
      </p:pic>
      <p:sp>
        <p:nvSpPr>
          <p:cNvPr id="6" name="marco-144"/>
          <p:cNvSpPr/>
          <p:nvPr/>
        </p:nvSpPr>
        <p:spPr>
          <a:xfrm>
            <a:off x="448056" y="4182388"/>
            <a:ext cx="6007608" cy="2022200"/>
          </a:xfrm>
          <a:prstGeom prst="rect">
            <a:avLst/>
          </a:prstGeom>
          <a:solidFill>
            <a:srgbClr val="FFFFFF"/>
          </a:solidFill>
          <a:ln w="9525">
            <a:solidFill>
              <a:srgbClr val="D5DCE5"/>
            </a:solidFill>
            <a:prstDash val="solid"/>
          </a:ln>
          <a:effectLst>
            <a:outerShdw sx="100000" sy="100000" kx="0" ky="0" algn="bl" rotWithShape="0" blurRad="76200" dist="25400" dir="5400000">
              <a:srgbClr val="000000">
                <a:alpha val="12000"/>
              </a:srgbClr>
            </a:outerShdw>
          </a:effectLst>
        </p:spPr>
      </p:sp>
      <p:pic>
        <p:nvPicPr>
          <p:cNvPr id="7" name="captura-145" descr="/home/claude/sura/phm-gemelos/deck/capturas/cohortes-proyeccion.png">    </p:cNvPr>
          <p:cNvPicPr>
            <a:picLocks noChangeAspect="1"/>
          </p:cNvPicPr>
          <p:nvPr/>
        </p:nvPicPr>
        <p:blipFill>
          <a:blip r:embed="rId2"/>
          <a:stretch>
            <a:fillRect/>
          </a:stretch>
        </p:blipFill>
        <p:spPr>
          <a:xfrm>
            <a:off x="457200" y="4191532"/>
            <a:ext cx="5989320" cy="2003912"/>
          </a:xfrm>
          <a:prstGeom prst="rect">
            <a:avLst/>
          </a:prstGeom>
        </p:spPr>
      </p:pic>
      <p:sp>
        <p:nvSpPr>
          <p:cNvPr id="8" name="etiqueta-146"/>
          <p:cNvSpPr txBox="1"/>
          <p:nvPr/>
        </p:nvSpPr>
        <p:spPr>
          <a:xfrm>
            <a:off x="6812280" y="1673352"/>
            <a:ext cx="4922215" cy="201168"/>
          </a:xfrm>
          <a:prstGeom prst="rect">
            <a:avLst/>
          </a:prstGeom>
          <a:noFill/>
          <a:ln/>
        </p:spPr>
        <p:txBody>
          <a:bodyPr wrap="square" lIns="0" tIns="0" rIns="0" bIns="0" rtlCol="0" anchor="t"/>
          <a:lstStyle/>
          <a:p>
            <a:pPr indent="0" marL="0">
              <a:buNone/>
            </a:pPr>
            <a:r>
              <a:rPr lang="en-US" sz="850" b="1" spc="50" kern="0" dirty="0">
                <a:solidFill>
                  <a:schemeClr val="accent4"/>
                </a:solidFill>
              </a:rPr>
              <a:t>PROPÓSITO</a:t>
            </a:r>
            <a:endParaRPr lang="en-US" sz="850" dirty="0"/>
          </a:p>
        </p:txBody>
      </p:sp>
      <p:sp>
        <p:nvSpPr>
          <p:cNvPr id="9" name="cuerpo-147"/>
          <p:cNvSpPr txBox="1"/>
          <p:nvPr/>
        </p:nvSpPr>
        <p:spPr>
          <a:xfrm>
            <a:off x="6812280" y="1892808"/>
            <a:ext cx="4922215" cy="56692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Conectar la gestión del riesgo con la demanda: cuántas personas cambian de estrato y qué atenciones generan.</a:t>
            </a:r>
            <a:endParaRPr lang="en-US" sz="1000" dirty="0"/>
          </a:p>
        </p:txBody>
      </p:sp>
      <p:sp>
        <p:nvSpPr>
          <p:cNvPr id="10" name="etiqueta-148"/>
          <p:cNvSpPr txBox="1"/>
          <p:nvPr/>
        </p:nvSpPr>
        <p:spPr>
          <a:xfrm>
            <a:off x="6812280" y="2587752"/>
            <a:ext cx="4922215" cy="201168"/>
          </a:xfrm>
          <a:prstGeom prst="rect">
            <a:avLst/>
          </a:prstGeom>
          <a:noFill/>
          <a:ln/>
        </p:spPr>
        <p:txBody>
          <a:bodyPr wrap="square" lIns="0" tIns="0" rIns="0" bIns="0" rtlCol="0" anchor="t"/>
          <a:lstStyle/>
          <a:p>
            <a:pPr indent="0" marL="0">
              <a:buNone/>
            </a:pPr>
            <a:r>
              <a:rPr lang="en-US" sz="850" b="1" spc="50" kern="0" dirty="0">
                <a:solidFill>
                  <a:schemeClr val="accent4"/>
                </a:solidFill>
              </a:rPr>
              <a:t>REPRESENTACIONES</a:t>
            </a:r>
            <a:endParaRPr lang="en-US" sz="850" dirty="0"/>
          </a:p>
        </p:txBody>
      </p:sp>
      <p:sp>
        <p:nvSpPr>
          <p:cNvPr id="11" name="cuerpo-149"/>
          <p:cNvSpPr txBox="1"/>
          <p:nvPr/>
        </p:nvSpPr>
        <p:spPr>
          <a:xfrm>
            <a:off x="6812280" y="2807208"/>
            <a:ext cx="4922215" cy="96012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Matriz de unidades para la composición; diagrama de flujo para las transiciones entre enero y diciembre; proyección mensual con banda P10–P90; diagrama UpSet para la multimorbilidad.</a:t>
            </a:r>
            <a:endParaRPr lang="en-US" sz="1000" dirty="0"/>
          </a:p>
        </p:txBody>
      </p:sp>
      <p:sp>
        <p:nvSpPr>
          <p:cNvPr id="12" name="etiqueta-150"/>
          <p:cNvSpPr txBox="1"/>
          <p:nvPr/>
        </p:nvSpPr>
        <p:spPr>
          <a:xfrm>
            <a:off x="6812280" y="3895344"/>
            <a:ext cx="4922215" cy="201168"/>
          </a:xfrm>
          <a:prstGeom prst="rect">
            <a:avLst/>
          </a:prstGeom>
          <a:noFill/>
          <a:ln/>
        </p:spPr>
        <p:txBody>
          <a:bodyPr wrap="square" lIns="0" tIns="0" rIns="0" bIns="0" rtlCol="0" anchor="t"/>
          <a:lstStyle/>
          <a:p>
            <a:pPr indent="0" marL="0">
              <a:buNone/>
            </a:pPr>
            <a:r>
              <a:rPr lang="en-US" sz="850" b="1" spc="50" kern="0" dirty="0">
                <a:solidFill>
                  <a:schemeClr val="accent2"/>
                </a:solidFill>
              </a:rPr>
              <a:t>RESULTADO 2027 CON GESTIÓN AMPLIADA (P50)</a:t>
            </a:r>
            <a:endParaRPr lang="en-US" sz="850" dirty="0"/>
          </a:p>
        </p:txBody>
      </p:sp>
      <p:graphicFrame>
        <p:nvGraphicFramePr>
          <p:cNvPr id="7" name="tabla-cohortes"/>
          <p:cNvGraphicFramePr>
            <a:graphicFrameLocks noGrp="1"/>
          </p:cNvGraphicFramePr>
          <p:nvPr>
            <p:extLst>
              <p:ext uri="{D42A27DB-BD31-4B8C-83A1-F6EECF244321}">
                <p14:modId xmlns:p14="http://schemas.microsoft.com/office/powerpoint/2010/main" val="1579011935"/>
              </p:ext>
            </p:extLst>
          </p:nvPr>
        </p:nvGraphicFramePr>
        <p:xfrm>
          <a:off x="6812280" y="4133088"/>
          <a:ext cx="4922215" cy="914400"/>
        </p:xfrm>
        <a:graphic>
          <a:graphicData uri="http://schemas.openxmlformats.org/drawingml/2006/table">
            <a:tbl>
              <a:tblPr/>
              <a:tblGrid>
                <a:gridCol w="960120"/>
                <a:gridCol w="1051560"/>
                <a:gridCol w="2910535"/>
              </a:tblGrid>
              <a:tr h="219456">
                <a:tc>
                  <a:txBody>
                    <a:bodyPr/>
                    <a:lstStyle/>
                    <a:p>
                      <a:pPr indent="0" marL="0">
                        <a:buNone/>
                      </a:pPr>
                      <a:r>
                        <a:rPr lang="en-US" sz="850" b="1" dirty="0">
                          <a:solidFill>
                            <a:schemeClr val="tx2"/>
                          </a:solidFill>
                          <a:latin typeface="Arial" pitchFamily="34" charset="0"/>
                          <a:ea typeface="Arial" pitchFamily="34" charset="-122"/>
                          <a:cs typeface="Arial" pitchFamily="34" charset="-120"/>
                        </a:rPr>
                        <a:t>Cohorte</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b="1" dirty="0">
                          <a:solidFill>
                            <a:schemeClr val="tx2"/>
                          </a:solidFill>
                          <a:latin typeface="Arial" pitchFamily="34" charset="0"/>
                          <a:ea typeface="Arial" pitchFamily="34" charset="-122"/>
                          <a:cs typeface="Arial" pitchFamily="34" charset="-120"/>
                        </a:rPr>
                        <a:t>Controlada dic.</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b="1" dirty="0">
                          <a:solidFill>
                            <a:schemeClr val="tx2"/>
                          </a:solidFill>
                          <a:latin typeface="Arial" pitchFamily="34" charset="0"/>
                          <a:ea typeface="Arial" pitchFamily="34" charset="-122"/>
                          <a:cs typeface="Arial" pitchFamily="34" charset="-120"/>
                        </a:rPr>
                        <a:t>Hosp. CSCA evitadas</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219456">
                <a:tc>
                  <a:txBody>
                    <a:bodyPr/>
                    <a:lstStyle/>
                    <a:p>
                      <a:pPr indent="0" marL="0">
                        <a:buNone/>
                      </a:pPr>
                      <a:r>
                        <a:rPr lang="en-US" sz="850" dirty="0">
                          <a:solidFill>
                            <a:schemeClr val="tx1"/>
                          </a:solidFill>
                          <a:latin typeface="Arial" pitchFamily="34" charset="0"/>
                          <a:ea typeface="Arial" pitchFamily="34" charset="-122"/>
                          <a:cs typeface="Arial" pitchFamily="34" charset="-120"/>
                        </a:rPr>
                        <a:t>HTA</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53 % → 54 %</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2,3 (1,8–3,1)</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219456">
                <a:tc>
                  <a:txBody>
                    <a:bodyPr/>
                    <a:lstStyle/>
                    <a:p>
                      <a:pPr indent="0" marL="0">
                        <a:buNone/>
                      </a:pPr>
                      <a:r>
                        <a:rPr lang="en-US" sz="850" dirty="0">
                          <a:solidFill>
                            <a:schemeClr val="tx1"/>
                          </a:solidFill>
                          <a:latin typeface="Arial" pitchFamily="34" charset="0"/>
                          <a:ea typeface="Arial" pitchFamily="34" charset="-122"/>
                          <a:cs typeface="Arial" pitchFamily="34" charset="-120"/>
                        </a:rPr>
                        <a:t>DM2</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42 % → 44 %</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1,9 (1,5–2,6)</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219456">
                <a:tc>
                  <a:txBody>
                    <a:bodyPr/>
                    <a:lstStyle/>
                    <a:p>
                      <a:pPr indent="0" marL="0">
                        <a:buNone/>
                      </a:pPr>
                      <a:r>
                        <a:rPr lang="en-US" sz="850" dirty="0">
                          <a:solidFill>
                            <a:schemeClr val="tx1"/>
                          </a:solidFill>
                          <a:latin typeface="Arial" pitchFamily="34" charset="0"/>
                          <a:ea typeface="Arial" pitchFamily="34" charset="-122"/>
                          <a:cs typeface="Arial" pitchFamily="34" charset="-120"/>
                        </a:rPr>
                        <a:t>ERC G3a–G4</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37 % → 38 %</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0,5 (0,4–0,7)</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219456">
                <a:tc>
                  <a:txBody>
                    <a:bodyPr/>
                    <a:lstStyle/>
                    <a:p>
                      <a:pPr indent="0" marL="0">
                        <a:buNone/>
                      </a:pPr>
                      <a:r>
                        <a:rPr lang="en-US" sz="850" dirty="0">
                          <a:solidFill>
                            <a:schemeClr val="tx1"/>
                          </a:solidFill>
                          <a:latin typeface="Arial" pitchFamily="34" charset="0"/>
                          <a:ea typeface="Arial" pitchFamily="34" charset="-122"/>
                          <a:cs typeface="Arial" pitchFamily="34" charset="-120"/>
                        </a:rPr>
                        <a:t>EPOC</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27 % → 28 %</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2,8 (2,2–3,7)</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219456">
                <a:tc>
                  <a:txBody>
                    <a:bodyPr/>
                    <a:lstStyle/>
                    <a:p>
                      <a:pPr indent="0" marL="0">
                        <a:buNone/>
                      </a:pPr>
                      <a:r>
                        <a:rPr lang="en-US" sz="850" dirty="0">
                          <a:solidFill>
                            <a:schemeClr val="tx1"/>
                          </a:solidFill>
                          <a:latin typeface="Arial" pitchFamily="34" charset="0"/>
                          <a:ea typeface="Arial" pitchFamily="34" charset="-122"/>
                          <a:cs typeface="Arial" pitchFamily="34" charset="-120"/>
                        </a:rPr>
                        <a:t>IC</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38 % → 39 %</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850" dirty="0">
                          <a:solidFill>
                            <a:schemeClr val="tx1"/>
                          </a:solidFill>
                          <a:latin typeface="Arial" pitchFamily="34" charset="0"/>
                          <a:ea typeface="Arial" pitchFamily="34" charset="-122"/>
                          <a:cs typeface="Arial" pitchFamily="34" charset="-120"/>
                        </a:rPr>
                        <a:t>2,9 (2,0–3,8)</a:t>
                      </a:r>
                      <a:endParaRPr lang="en-US" sz="850" dirty="0">
                        <a:latin typeface="Arial" charset="0"/>
                        <a:ea typeface="Arial" charset="0"/>
                        <a:cs typeface="Arial" charset="0"/>
                      </a:endParaRPr>
                    </a:p>
                  </a:txBody>
                  <a:tcPr marL="50800" marR="508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bl>
          </a:graphicData>
        </a:graphic>
      </p:graphicFrame>
      <p:sp>
        <p:nvSpPr>
          <p:cNvPr id="14" name="nota-cohortes-151"/>
          <p:cNvSpPr txBox="1"/>
          <p:nvPr/>
        </p:nvSpPr>
        <p:spPr>
          <a:xfrm>
            <a:off x="6812280" y="5559552"/>
            <a:ext cx="4922215" cy="566928"/>
          </a:xfrm>
          <a:prstGeom prst="rect">
            <a:avLst/>
          </a:prstGeom>
          <a:noFill/>
          <a:ln/>
        </p:spPr>
        <p:txBody>
          <a:bodyPr wrap="square" lIns="0" tIns="0" rIns="0" bIns="0" rtlCol="0" anchor="t"/>
          <a:lstStyle/>
          <a:p>
            <a:pPr indent="0" marL="0">
              <a:buNone/>
            </a:pPr>
            <a:r>
              <a:rPr lang="en-US" sz="850" dirty="0">
                <a:solidFill>
                  <a:schemeClr val="tx2"/>
                </a:solidFill>
              </a:rPr>
              <a:t>Statu quo frente a gestión ampliada en diciembre. Los efectos son moderados en 12 meses porque el control mejora de forma gradual y solo la fracción CSCA responde.</a:t>
            </a:r>
            <a:endParaRPr lang="en-US" sz="8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Territorio ubica la carga crónica y las barreras de acceso para decidir dónde llevar atención domiciliaria</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Prevalencia de hipertensión por celda. Sede Sur tiene 15 % de su población en la cohorte a más de 30 minutos de la sede.</a:t>
            </a:r>
            <a:endParaRPr lang="en-US" sz="1250" dirty="0"/>
          </a:p>
        </p:txBody>
      </p:sp>
      <p:sp>
        <p:nvSpPr>
          <p:cNvPr id="4" name="marco-152"/>
          <p:cNvSpPr/>
          <p:nvPr/>
        </p:nvSpPr>
        <p:spPr>
          <a:xfrm>
            <a:off x="448056" y="1691640"/>
            <a:ext cx="6601968" cy="3674793"/>
          </a:xfrm>
          <a:prstGeom prst="rect">
            <a:avLst/>
          </a:prstGeom>
          <a:solidFill>
            <a:srgbClr val="FFFFFF"/>
          </a:solidFill>
          <a:ln w="9525">
            <a:solidFill>
              <a:srgbClr val="D5DCE5"/>
            </a:solidFill>
            <a:prstDash val="solid"/>
          </a:ln>
          <a:effectLst>
            <a:outerShdw sx="100000" sy="100000" kx="0" ky="0" algn="bl" rotWithShape="0" blurRad="76200" dist="25400" dir="5400000">
              <a:srgbClr val="000000">
                <a:alpha val="12000"/>
              </a:srgbClr>
            </a:outerShdw>
          </a:effectLst>
        </p:spPr>
      </p:sp>
      <p:pic>
        <p:nvPicPr>
          <p:cNvPr id="5" name="captura-153" descr="/home/claude/sura/phm-gemelos/deck/capturas/territorio-mapa.png">    </p:cNvPr>
          <p:cNvPicPr>
            <a:picLocks noChangeAspect="1"/>
          </p:cNvPicPr>
          <p:nvPr/>
        </p:nvPicPr>
        <p:blipFill>
          <a:blip r:embed="rId1"/>
          <a:stretch>
            <a:fillRect/>
          </a:stretch>
        </p:blipFill>
        <p:spPr>
          <a:xfrm>
            <a:off x="457200" y="1700784"/>
            <a:ext cx="6583680" cy="3656505"/>
          </a:xfrm>
          <a:prstGeom prst="rect">
            <a:avLst/>
          </a:prstGeom>
        </p:spPr>
      </p:pic>
      <p:sp>
        <p:nvSpPr>
          <p:cNvPr id="6" name="etiqueta-154"/>
          <p:cNvSpPr txBox="1"/>
          <p:nvPr/>
        </p:nvSpPr>
        <p:spPr>
          <a:xfrm>
            <a:off x="7406640" y="1673352"/>
            <a:ext cx="4327855" cy="201168"/>
          </a:xfrm>
          <a:prstGeom prst="rect">
            <a:avLst/>
          </a:prstGeom>
          <a:noFill/>
          <a:ln/>
        </p:spPr>
        <p:txBody>
          <a:bodyPr wrap="square" lIns="0" tIns="0" rIns="0" bIns="0" rtlCol="0" anchor="t"/>
          <a:lstStyle/>
          <a:p>
            <a:pPr indent="0" marL="0">
              <a:buNone/>
            </a:pPr>
            <a:r>
              <a:rPr lang="en-US" sz="850" b="1" spc="50" kern="0" dirty="0">
                <a:solidFill>
                  <a:schemeClr val="accent2"/>
                </a:solidFill>
              </a:rPr>
              <a:t>PROPÓSITO</a:t>
            </a:r>
            <a:endParaRPr lang="en-US" sz="850" dirty="0"/>
          </a:p>
        </p:txBody>
      </p:sp>
      <p:sp>
        <p:nvSpPr>
          <p:cNvPr id="7" name="cuerpo-155"/>
          <p:cNvSpPr txBox="1"/>
          <p:nvPr/>
        </p:nvSpPr>
        <p:spPr>
          <a:xfrm>
            <a:off x="7406640" y="1892808"/>
            <a:ext cx="4327855" cy="56692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Llevar la demanda de las cohortes a una unidad territorial estable y comparable entre sedes.</a:t>
            </a:r>
            <a:endParaRPr lang="en-US" sz="1000" dirty="0"/>
          </a:p>
        </p:txBody>
      </p:sp>
      <p:sp>
        <p:nvSpPr>
          <p:cNvPr id="8" name="etiqueta-156"/>
          <p:cNvSpPr txBox="1"/>
          <p:nvPr/>
        </p:nvSpPr>
        <p:spPr>
          <a:xfrm>
            <a:off x="7406640" y="2587752"/>
            <a:ext cx="4327855" cy="201168"/>
          </a:xfrm>
          <a:prstGeom prst="rect">
            <a:avLst/>
          </a:prstGeom>
          <a:noFill/>
          <a:ln/>
        </p:spPr>
        <p:txBody>
          <a:bodyPr wrap="square" lIns="0" tIns="0" rIns="0" bIns="0" rtlCol="0" anchor="t"/>
          <a:lstStyle/>
          <a:p>
            <a:pPr indent="0" marL="0">
              <a:buNone/>
            </a:pPr>
            <a:r>
              <a:rPr lang="en-US" sz="850" b="1" spc="50" kern="0" dirty="0">
                <a:solidFill>
                  <a:schemeClr val="accent2"/>
                </a:solidFill>
              </a:rPr>
              <a:t>INFORMACIÓN</a:t>
            </a:r>
            <a:endParaRPr lang="en-US" sz="850" dirty="0"/>
          </a:p>
        </p:txBody>
      </p:sp>
      <p:sp>
        <p:nvSpPr>
          <p:cNvPr id="9" name="cuerpo-157"/>
          <p:cNvSpPr txBox="1"/>
          <p:nvPr/>
        </p:nvSpPr>
        <p:spPr>
          <a:xfrm>
            <a:off x="7406640" y="2807208"/>
            <a:ext cx="4327855" cy="96012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Malla hexagonal de 111 celdas asignadas a la sede más cercana. Métricas seleccionables: prevalencia, personas en la cohorte, alto riesgo, demanda proyectada, tiempo a la sede y adultos.</a:t>
            </a:r>
            <a:endParaRPr lang="en-US" sz="1000" dirty="0"/>
          </a:p>
        </p:txBody>
      </p:sp>
      <p:sp>
        <p:nvSpPr>
          <p:cNvPr id="10" name="etiqueta-158"/>
          <p:cNvSpPr txBox="1"/>
          <p:nvPr/>
        </p:nvSpPr>
        <p:spPr>
          <a:xfrm>
            <a:off x="7406640" y="3895344"/>
            <a:ext cx="4327855" cy="201168"/>
          </a:xfrm>
          <a:prstGeom prst="rect">
            <a:avLst/>
          </a:prstGeom>
          <a:noFill/>
          <a:ln/>
        </p:spPr>
        <p:txBody>
          <a:bodyPr wrap="square" lIns="0" tIns="0" rIns="0" bIns="0" rtlCol="0" anchor="t"/>
          <a:lstStyle/>
          <a:p>
            <a:pPr indent="0" marL="0">
              <a:buNone/>
            </a:pPr>
            <a:r>
              <a:rPr lang="en-US" sz="850" b="1" spc="50" kern="0" dirty="0">
                <a:solidFill>
                  <a:schemeClr val="accent2"/>
                </a:solidFill>
              </a:rPr>
              <a:t>POR QUÉ HEXÁGONOS</a:t>
            </a:r>
            <a:endParaRPr lang="en-US" sz="850" dirty="0"/>
          </a:p>
        </p:txBody>
      </p:sp>
      <p:sp>
        <p:nvSpPr>
          <p:cNvPr id="11" name="cuerpo-159"/>
          <p:cNvSpPr txBox="1"/>
          <p:nvPr/>
        </p:nvSpPr>
        <p:spPr>
          <a:xfrm>
            <a:off x="7406640" y="4114800"/>
            <a:ext cx="4327855" cy="77724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Cada celda tiene la misma área y seis vecinas equidistantes, lo que evita el sesgo visual de los límites administrativos y permite agregar sin exponer personas.</a:t>
            </a:r>
            <a:endParaRPr lang="en-US" sz="1000" dirty="0"/>
          </a:p>
        </p:txBody>
      </p:sp>
      <p:sp>
        <p:nvSpPr>
          <p:cNvPr id="12" name="etiqueta-160"/>
          <p:cNvSpPr txBox="1"/>
          <p:nvPr/>
        </p:nvSpPr>
        <p:spPr>
          <a:xfrm>
            <a:off x="7406640" y="5020056"/>
            <a:ext cx="4327855" cy="201168"/>
          </a:xfrm>
          <a:prstGeom prst="rect">
            <a:avLst/>
          </a:prstGeom>
          <a:noFill/>
          <a:ln/>
        </p:spPr>
        <p:txBody>
          <a:bodyPr wrap="square" lIns="0" tIns="0" rIns="0" bIns="0" rtlCol="0" anchor="t"/>
          <a:lstStyle/>
          <a:p>
            <a:pPr indent="0" marL="0">
              <a:buNone/>
            </a:pPr>
            <a:r>
              <a:rPr lang="en-US" sz="850" b="1" spc="50" kern="0" dirty="0">
                <a:solidFill>
                  <a:schemeClr val="accent5"/>
                </a:solidFill>
              </a:rPr>
              <a:t>DECISIÓN QUE HABILITA</a:t>
            </a:r>
            <a:endParaRPr lang="en-US" sz="850" dirty="0"/>
          </a:p>
        </p:txBody>
      </p:sp>
      <p:sp>
        <p:nvSpPr>
          <p:cNvPr id="13" name="cuerpo-161"/>
          <p:cNvSpPr txBox="1"/>
          <p:nvPr/>
        </p:nvSpPr>
        <p:spPr>
          <a:xfrm>
            <a:off x="7406640" y="5239512"/>
            <a:ext cx="4327855" cy="566928"/>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Qué celdas priorizar para equipos domiciliarios y dónde reforzar la atención virtual por distancia.</a:t>
            </a:r>
            <a:endParaRPr lang="en-US" sz="10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Sede muestra en qué zona y en qué mes se satura la capacidad, con el indicador de servicio propio de cada zona</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Sede Norte en septiembre, statu quo: consulta externa al 100 % y oportunidad de cita P90 de 2,9 días.</a:t>
            </a:r>
            <a:endParaRPr lang="en-US" sz="1250" dirty="0"/>
          </a:p>
        </p:txBody>
      </p:sp>
      <p:sp>
        <p:nvSpPr>
          <p:cNvPr id="4" name="marco-162"/>
          <p:cNvSpPr/>
          <p:nvPr/>
        </p:nvSpPr>
        <p:spPr>
          <a:xfrm>
            <a:off x="448056" y="1691640"/>
            <a:ext cx="7333488" cy="3024310"/>
          </a:xfrm>
          <a:prstGeom prst="rect">
            <a:avLst/>
          </a:prstGeom>
          <a:solidFill>
            <a:srgbClr val="FFFFFF"/>
          </a:solidFill>
          <a:ln w="9525">
            <a:solidFill>
              <a:srgbClr val="D5DCE5"/>
            </a:solidFill>
            <a:prstDash val="solid"/>
          </a:ln>
          <a:effectLst>
            <a:outerShdw sx="100000" sy="100000" kx="0" ky="0" algn="bl" rotWithShape="0" blurRad="76200" dist="25400" dir="5400000">
              <a:srgbClr val="000000">
                <a:alpha val="12000"/>
              </a:srgbClr>
            </a:outerShdw>
          </a:effectLst>
        </p:spPr>
      </p:sp>
      <p:pic>
        <p:nvPicPr>
          <p:cNvPr id="5" name="captura-163" descr="/home/claude/sura/phm-gemelos/deck/capturas/sede-3d.png">    </p:cNvPr>
          <p:cNvPicPr>
            <a:picLocks noChangeAspect="1"/>
          </p:cNvPicPr>
          <p:nvPr/>
        </p:nvPicPr>
        <p:blipFill>
          <a:blip r:embed="rId1"/>
          <a:stretch>
            <a:fillRect/>
          </a:stretch>
        </p:blipFill>
        <p:spPr>
          <a:xfrm>
            <a:off x="457200" y="1700784"/>
            <a:ext cx="7315200" cy="3006022"/>
          </a:xfrm>
          <a:prstGeom prst="rect">
            <a:avLst/>
          </a:prstGeom>
        </p:spPr>
      </p:pic>
      <p:sp>
        <p:nvSpPr>
          <p:cNvPr id="6" name="lectura-sede-164"/>
          <p:cNvSpPr/>
          <p:nvPr/>
        </p:nvSpPr>
        <p:spPr>
          <a:xfrm>
            <a:off x="457200" y="4935406"/>
            <a:ext cx="7315200" cy="1328234"/>
          </a:xfrm>
          <a:prstGeom prst="roundRect">
            <a:avLst>
              <a:gd name="adj" fmla="val 4819"/>
            </a:avLst>
          </a:prstGeom>
          <a:solidFill>
            <a:schemeClr val="accent3">
              <a:alpha val="10000"/>
            </a:schemeClr>
          </a:solidFill>
          <a:ln/>
        </p:spPr>
      </p:sp>
      <p:sp>
        <p:nvSpPr>
          <p:cNvPr id="7" name="etiqueta-165"/>
          <p:cNvSpPr txBox="1"/>
          <p:nvPr/>
        </p:nvSpPr>
        <p:spPr>
          <a:xfrm>
            <a:off x="658368" y="5072566"/>
            <a:ext cx="2743200" cy="182880"/>
          </a:xfrm>
          <a:prstGeom prst="rect">
            <a:avLst/>
          </a:prstGeom>
          <a:noFill/>
          <a:ln/>
        </p:spPr>
        <p:txBody>
          <a:bodyPr wrap="square" lIns="0" tIns="0" rIns="0" bIns="0" rtlCol="0" anchor="t"/>
          <a:lstStyle/>
          <a:p>
            <a:pPr indent="0" marL="0">
              <a:buNone/>
            </a:pPr>
            <a:r>
              <a:rPr lang="en-US" sz="850" b="1" spc="50" kern="0" dirty="0">
                <a:solidFill>
                  <a:schemeClr val="accent3"/>
                </a:solidFill>
              </a:rPr>
              <a:t>LECTURA DEL EJEMPLO</a:t>
            </a:r>
            <a:endParaRPr lang="en-US" sz="850" dirty="0"/>
          </a:p>
        </p:txBody>
      </p:sp>
      <p:sp>
        <p:nvSpPr>
          <p:cNvPr id="8" name="lectura-sede-texto-166"/>
          <p:cNvSpPr txBox="1"/>
          <p:nvPr/>
        </p:nvSpPr>
        <p:spPr>
          <a:xfrm>
            <a:off x="658368" y="5301166"/>
            <a:ext cx="6912864" cy="871034"/>
          </a:xfrm>
          <a:prstGeom prst="rect">
            <a:avLst/>
          </a:prstGeom>
          <a:noFill/>
          <a:ln/>
        </p:spPr>
        <p:txBody>
          <a:bodyPr wrap="square" lIns="0" tIns="0" rIns="0" bIns="0" rtlCol="0" anchor="t"/>
          <a:lstStyle/>
          <a:p>
            <a:pPr indent="0" marL="0">
              <a:buNone/>
            </a:pPr>
            <a:r>
              <a:rPr lang="en-US" sz="1000" dirty="0">
                <a:solidFill>
                  <a:schemeClr val="tx1"/>
                </a:solidFill>
              </a:rPr>
              <a:t>Consulta externa recibe 371 atenciones por día frente a una capacidad de 370; 84 provienen de las cohortes crónicas. Admisión opera al 99 % y laboratorio al 94 %. La presión se concentra en consulta externa y admisión; procedimientos y atención domiciliaria conservan holgura.</a:t>
            </a:r>
            <a:endParaRPr lang="en-US" sz="1000" dirty="0"/>
          </a:p>
        </p:txBody>
      </p:sp>
      <p:sp>
        <p:nvSpPr>
          <p:cNvPr id="9" name="tarjeta-sede-167"/>
          <p:cNvSpPr/>
          <p:nvPr/>
        </p:nvSpPr>
        <p:spPr>
          <a:xfrm>
            <a:off x="8092440" y="1700784"/>
            <a:ext cx="3642055" cy="1044702"/>
          </a:xfrm>
          <a:prstGeom prst="roundRect">
            <a:avLst>
              <a:gd name="adj" fmla="val 6127"/>
            </a:avLst>
          </a:prstGeom>
          <a:solidFill>
            <a:schemeClr val="bg2"/>
          </a:solidFill>
          <a:ln w="9525">
            <a:solidFill>
              <a:srgbClr val="D5DCE5"/>
            </a:solidFill>
            <a:prstDash val="solid"/>
          </a:ln>
        </p:spPr>
      </p:sp>
      <p:sp>
        <p:nvSpPr>
          <p:cNvPr id="10" name="tarjeta-sede-titulo-168"/>
          <p:cNvSpPr txBox="1"/>
          <p:nvPr/>
        </p:nvSpPr>
        <p:spPr>
          <a:xfrm>
            <a:off x="8257032" y="1810512"/>
            <a:ext cx="3312871" cy="237744"/>
          </a:xfrm>
          <a:prstGeom prst="rect">
            <a:avLst/>
          </a:prstGeom>
          <a:noFill/>
          <a:ln/>
        </p:spPr>
        <p:txBody>
          <a:bodyPr wrap="square" lIns="0" tIns="0" rIns="0" bIns="0" rtlCol="0" anchor="t"/>
          <a:lstStyle/>
          <a:p>
            <a:pPr indent="0" marL="0">
              <a:buNone/>
            </a:pPr>
            <a:r>
              <a:rPr lang="en-US" sz="1100" b="1" dirty="0">
                <a:solidFill>
                  <a:schemeClr val="accent3"/>
                </a:solidFill>
              </a:rPr>
              <a:t>Zonas con cita</a:t>
            </a:r>
            <a:endParaRPr lang="en-US" sz="1100" dirty="0"/>
          </a:p>
        </p:txBody>
      </p:sp>
      <p:sp>
        <p:nvSpPr>
          <p:cNvPr id="11" name="tarjeta-sede-texto-169"/>
          <p:cNvSpPr txBox="1"/>
          <p:nvPr/>
        </p:nvSpPr>
        <p:spPr>
          <a:xfrm>
            <a:off x="8257032" y="2066544"/>
            <a:ext cx="3312871" cy="605790"/>
          </a:xfrm>
          <a:prstGeom prst="rect">
            <a:avLst/>
          </a:prstGeom>
          <a:noFill/>
          <a:ln/>
        </p:spPr>
        <p:txBody>
          <a:bodyPr wrap="square" lIns="0" tIns="0" rIns="0" bIns="0" rtlCol="0" anchor="t"/>
          <a:lstStyle/>
          <a:p>
            <a:pPr indent="0" marL="0">
              <a:buNone/>
            </a:pPr>
            <a:r>
              <a:rPr lang="en-US" sz="950" dirty="0">
                <a:solidFill>
                  <a:schemeClr val="tx1"/>
                </a:solidFill>
              </a:rPr>
              <a:t>Consulta externa y procedimientos. Recursión diaria de backlog con llegadas sobredispersas, inasistencia y sobreagenda; indicador: oportunidad de cita P50 y P90.</a:t>
            </a:r>
            <a:endParaRPr lang="en-US" sz="950" dirty="0"/>
          </a:p>
        </p:txBody>
      </p:sp>
      <p:sp>
        <p:nvSpPr>
          <p:cNvPr id="12" name="tarjeta-sede-170"/>
          <p:cNvSpPr/>
          <p:nvPr/>
        </p:nvSpPr>
        <p:spPr>
          <a:xfrm>
            <a:off x="8092440" y="2882646"/>
            <a:ext cx="3642055" cy="1044702"/>
          </a:xfrm>
          <a:prstGeom prst="roundRect">
            <a:avLst>
              <a:gd name="adj" fmla="val 6127"/>
            </a:avLst>
          </a:prstGeom>
          <a:solidFill>
            <a:schemeClr val="bg2"/>
          </a:solidFill>
          <a:ln w="9525">
            <a:solidFill>
              <a:srgbClr val="D5DCE5"/>
            </a:solidFill>
            <a:prstDash val="solid"/>
          </a:ln>
        </p:spPr>
      </p:sp>
      <p:sp>
        <p:nvSpPr>
          <p:cNvPr id="13" name="tarjeta-sede-titulo-171"/>
          <p:cNvSpPr txBox="1"/>
          <p:nvPr/>
        </p:nvSpPr>
        <p:spPr>
          <a:xfrm>
            <a:off x="8257032" y="2992374"/>
            <a:ext cx="3312871" cy="237744"/>
          </a:xfrm>
          <a:prstGeom prst="rect">
            <a:avLst/>
          </a:prstGeom>
          <a:noFill/>
          <a:ln/>
        </p:spPr>
        <p:txBody>
          <a:bodyPr wrap="square" lIns="0" tIns="0" rIns="0" bIns="0" rtlCol="0" anchor="t"/>
          <a:lstStyle/>
          <a:p>
            <a:pPr indent="0" marL="0">
              <a:buNone/>
            </a:pPr>
            <a:r>
              <a:rPr lang="en-US" sz="1100" b="1" dirty="0">
                <a:solidFill>
                  <a:schemeClr val="accent3"/>
                </a:solidFill>
              </a:rPr>
              <a:t>Zonas sin cita</a:t>
            </a:r>
            <a:endParaRPr lang="en-US" sz="1100" dirty="0"/>
          </a:p>
        </p:txBody>
      </p:sp>
      <p:sp>
        <p:nvSpPr>
          <p:cNvPr id="14" name="tarjeta-sede-texto-172"/>
          <p:cNvSpPr txBox="1"/>
          <p:nvPr/>
        </p:nvSpPr>
        <p:spPr>
          <a:xfrm>
            <a:off x="8257032" y="3248406"/>
            <a:ext cx="3312871" cy="605790"/>
          </a:xfrm>
          <a:prstGeom prst="rect">
            <a:avLst/>
          </a:prstGeom>
          <a:noFill/>
          <a:ln/>
        </p:spPr>
        <p:txBody>
          <a:bodyPr wrap="square" lIns="0" tIns="0" rIns="0" bIns="0" rtlCol="0" anchor="t"/>
          <a:lstStyle/>
          <a:p>
            <a:pPr indent="0" marL="0">
              <a:buNone/>
            </a:pPr>
            <a:r>
              <a:rPr lang="en-US" sz="950" dirty="0">
                <a:solidFill>
                  <a:schemeClr val="tx1"/>
                </a:solidFill>
              </a:rPr>
              <a:t>Admisión, prioritaria y laboratorio. Colas G/G/c por hora con Erlang C y ajuste de Allen-Cunneen; indicador: probabilidad de esperar más que la meta.</a:t>
            </a:r>
            <a:endParaRPr lang="en-US" sz="950" dirty="0"/>
          </a:p>
        </p:txBody>
      </p:sp>
      <p:sp>
        <p:nvSpPr>
          <p:cNvPr id="15" name="tarjeta-sede-173"/>
          <p:cNvSpPr/>
          <p:nvPr/>
        </p:nvSpPr>
        <p:spPr>
          <a:xfrm>
            <a:off x="8092440" y="4064508"/>
            <a:ext cx="3642055" cy="1044702"/>
          </a:xfrm>
          <a:prstGeom prst="roundRect">
            <a:avLst>
              <a:gd name="adj" fmla="val 6127"/>
            </a:avLst>
          </a:prstGeom>
          <a:solidFill>
            <a:schemeClr val="bg2"/>
          </a:solidFill>
          <a:ln w="9525">
            <a:solidFill>
              <a:srgbClr val="D5DCE5"/>
            </a:solidFill>
            <a:prstDash val="solid"/>
          </a:ln>
        </p:spPr>
      </p:sp>
      <p:sp>
        <p:nvSpPr>
          <p:cNvPr id="16" name="tarjeta-sede-titulo-174"/>
          <p:cNvSpPr txBox="1"/>
          <p:nvPr/>
        </p:nvSpPr>
        <p:spPr>
          <a:xfrm>
            <a:off x="8257032" y="4174236"/>
            <a:ext cx="3312871" cy="237744"/>
          </a:xfrm>
          <a:prstGeom prst="rect">
            <a:avLst/>
          </a:prstGeom>
          <a:noFill/>
          <a:ln/>
        </p:spPr>
        <p:txBody>
          <a:bodyPr wrap="square" lIns="0" tIns="0" rIns="0" bIns="0" rtlCol="0" anchor="t"/>
          <a:lstStyle/>
          <a:p>
            <a:pPr indent="0" marL="0">
              <a:buNone/>
            </a:pPr>
            <a:r>
              <a:rPr lang="en-US" sz="1100" b="1" dirty="0">
                <a:solidFill>
                  <a:schemeClr val="accent3"/>
                </a:solidFill>
              </a:rPr>
              <a:t>Canales fuera de la sede</a:t>
            </a:r>
            <a:endParaRPr lang="en-US" sz="1100" dirty="0"/>
          </a:p>
        </p:txBody>
      </p:sp>
      <p:sp>
        <p:nvSpPr>
          <p:cNvPr id="17" name="tarjeta-sede-texto-175"/>
          <p:cNvSpPr txBox="1"/>
          <p:nvPr/>
        </p:nvSpPr>
        <p:spPr>
          <a:xfrm>
            <a:off x="8257032" y="4430268"/>
            <a:ext cx="3312871" cy="605790"/>
          </a:xfrm>
          <a:prstGeom prst="rect">
            <a:avLst/>
          </a:prstGeom>
          <a:noFill/>
          <a:ln/>
        </p:spPr>
        <p:txBody>
          <a:bodyPr wrap="square" lIns="0" tIns="0" rIns="0" bIns="0" rtlCol="0" anchor="t"/>
          <a:lstStyle/>
          <a:p>
            <a:pPr indent="0" marL="0">
              <a:buNone/>
            </a:pPr>
            <a:r>
              <a:rPr lang="en-US" sz="950" dirty="0">
                <a:solidFill>
                  <a:schemeClr val="tx1"/>
                </a:solidFill>
              </a:rPr>
              <a:t>Equipos domiciliarios y médicos virtuales con umbrales de 80 % y 95 % de utilización; el render ubica la base domiciliaria y el nodo virtual.</a:t>
            </a:r>
            <a:endParaRPr lang="en-US" sz="950" dirty="0"/>
          </a:p>
        </p:txBody>
      </p:sp>
      <p:sp>
        <p:nvSpPr>
          <p:cNvPr id="18" name="tarjeta-sede-176"/>
          <p:cNvSpPr/>
          <p:nvPr/>
        </p:nvSpPr>
        <p:spPr>
          <a:xfrm>
            <a:off x="8092440" y="5246370"/>
            <a:ext cx="3642055" cy="1044702"/>
          </a:xfrm>
          <a:prstGeom prst="roundRect">
            <a:avLst>
              <a:gd name="adj" fmla="val 6127"/>
            </a:avLst>
          </a:prstGeom>
          <a:solidFill>
            <a:schemeClr val="bg2"/>
          </a:solidFill>
          <a:ln w="9525">
            <a:solidFill>
              <a:srgbClr val="D5DCE5"/>
            </a:solidFill>
            <a:prstDash val="solid"/>
          </a:ln>
        </p:spPr>
      </p:sp>
      <p:sp>
        <p:nvSpPr>
          <p:cNvPr id="19" name="tarjeta-sede-titulo-177"/>
          <p:cNvSpPr txBox="1"/>
          <p:nvPr/>
        </p:nvSpPr>
        <p:spPr>
          <a:xfrm>
            <a:off x="8257032" y="5356098"/>
            <a:ext cx="3312871" cy="237744"/>
          </a:xfrm>
          <a:prstGeom prst="rect">
            <a:avLst/>
          </a:prstGeom>
          <a:noFill/>
          <a:ln/>
        </p:spPr>
        <p:txBody>
          <a:bodyPr wrap="square" lIns="0" tIns="0" rIns="0" bIns="0" rtlCol="0" anchor="t"/>
          <a:lstStyle/>
          <a:p>
            <a:pPr indent="0" marL="0">
              <a:buNone/>
            </a:pPr>
            <a:r>
              <a:rPr lang="en-US" sz="1100" b="1" dirty="0">
                <a:solidFill>
                  <a:schemeClr val="accent5"/>
                </a:solidFill>
              </a:rPr>
              <a:t>Interacción</a:t>
            </a:r>
            <a:endParaRPr lang="en-US" sz="1100" dirty="0"/>
          </a:p>
        </p:txBody>
      </p:sp>
      <p:sp>
        <p:nvSpPr>
          <p:cNvPr id="20" name="tarjeta-sede-texto-178"/>
          <p:cNvSpPr txBox="1"/>
          <p:nvPr/>
        </p:nvSpPr>
        <p:spPr>
          <a:xfrm>
            <a:off x="8257032" y="5612130"/>
            <a:ext cx="3312871" cy="605790"/>
          </a:xfrm>
          <a:prstGeom prst="rect">
            <a:avLst/>
          </a:prstGeom>
          <a:noFill/>
          <a:ln/>
        </p:spPr>
        <p:txBody>
          <a:bodyPr wrap="square" lIns="0" tIns="0" rIns="0" bIns="0" rtlCol="0" anchor="t"/>
          <a:lstStyle/>
          <a:p>
            <a:pPr indent="0" marL="0">
              <a:buNone/>
            </a:pPr>
            <a:r>
              <a:rPr lang="en-US" sz="950" dirty="0">
                <a:solidFill>
                  <a:schemeClr val="tx1"/>
                </a:solidFill>
              </a:rPr>
              <a:t>El flujo de pacientes y el recorrido del año se activan solo a solicitud. Cada punto equivale a cuatro atenciones por día; la telemetría de equipos es simulada.</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La cobertura ampliada mejora el acceso cuando se acompaña de canales domiciliario y virtual, y ese efecto tiene un costo visible</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Escenarios crea variantes de cobertura y canales y las compara contra el statu quo en toda la red.</a:t>
            </a:r>
            <a:endParaRPr lang="en-US" sz="1250" dirty="0"/>
          </a:p>
        </p:txBody>
      </p:sp>
      <p:sp>
        <p:nvSpPr>
          <p:cNvPr id="4" name="grafico-titulo-179"/>
          <p:cNvSpPr txBox="1"/>
          <p:nvPr/>
        </p:nvSpPr>
        <p:spPr>
          <a:xfrm>
            <a:off x="457200" y="1673352"/>
            <a:ext cx="5486400" cy="256032"/>
          </a:xfrm>
          <a:prstGeom prst="rect">
            <a:avLst/>
          </a:prstGeom>
          <a:noFill/>
          <a:ln/>
        </p:spPr>
        <p:txBody>
          <a:bodyPr wrap="square" lIns="0" tIns="0" rIns="0" bIns="0" rtlCol="0" anchor="t"/>
          <a:lstStyle/>
          <a:p>
            <a:pPr indent="0" marL="0">
              <a:buNone/>
            </a:pPr>
            <a:r>
              <a:rPr lang="en-US" sz="1100" b="1" dirty="0">
                <a:solidFill>
                  <a:schemeClr val="tx1"/>
                </a:solidFill>
              </a:rPr>
              <a:t>Utilización de consulta externa en Sede Norte, 2027</a:t>
            </a:r>
            <a:endParaRPr lang="en-US" sz="1100" dirty="0"/>
          </a:p>
        </p:txBody>
      </p:sp>
      <p:graphicFrame>
        <p:nvGraphicFramePr>
          <p:cNvPr id="5" name="grafico-utilizacion-norte" descr=""/>
          <p:cNvGraphicFramePr/>
          <p:nvPr/>
        </p:nvGraphicFramePr>
        <p:xfrm>
          <a:off x="457200" y="1947672"/>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6" name="grafico-nota-180"/>
          <p:cNvSpPr txBox="1"/>
          <p:nvPr/>
        </p:nvSpPr>
        <p:spPr>
          <a:xfrm>
            <a:off x="457200" y="5696712"/>
            <a:ext cx="5486400" cy="457200"/>
          </a:xfrm>
          <a:prstGeom prst="rect">
            <a:avLst/>
          </a:prstGeom>
          <a:noFill/>
          <a:ln/>
        </p:spPr>
        <p:txBody>
          <a:bodyPr wrap="square" lIns="0" tIns="0" rIns="0" bIns="0" rtlCol="0" anchor="t"/>
          <a:lstStyle/>
          <a:p>
            <a:pPr indent="0" marL="0">
              <a:buNone/>
            </a:pPr>
            <a:r>
              <a:rPr lang="en-US" sz="900" dirty="0">
                <a:solidFill>
                  <a:schemeClr val="tx2"/>
                </a:solidFill>
              </a:rPr>
              <a:t>Statu quo, gestión ampliada y caída de la gestión se superponen cerca del 100 %; con canales la utilización baja entre 10 y 12 puntos.</a:t>
            </a:r>
            <a:endParaRPr lang="en-US" sz="900" dirty="0"/>
          </a:p>
        </p:txBody>
      </p:sp>
      <p:sp>
        <p:nvSpPr>
          <p:cNvPr id="7" name="etiqueta-181"/>
          <p:cNvSpPr txBox="1"/>
          <p:nvPr/>
        </p:nvSpPr>
        <p:spPr>
          <a:xfrm>
            <a:off x="6309360" y="1673352"/>
            <a:ext cx="5425135" cy="201168"/>
          </a:xfrm>
          <a:prstGeom prst="rect">
            <a:avLst/>
          </a:prstGeom>
          <a:noFill/>
          <a:ln/>
        </p:spPr>
        <p:txBody>
          <a:bodyPr wrap="square" lIns="0" tIns="0" rIns="0" bIns="0" rtlCol="0" anchor="t"/>
          <a:lstStyle/>
          <a:p>
            <a:pPr indent="0" marL="0">
              <a:buNone/>
            </a:pPr>
            <a:r>
              <a:rPr lang="en-US" sz="850" b="1" spc="50" kern="0" dirty="0">
                <a:solidFill>
                  <a:schemeClr val="accent1"/>
                </a:solidFill>
              </a:rPr>
              <a:t>COMPARACIÓN EN LA RED, 2027</a:t>
            </a:r>
            <a:endParaRPr lang="en-US" sz="850" dirty="0"/>
          </a:p>
        </p:txBody>
      </p:sp>
      <p:graphicFrame>
        <p:nvGraphicFramePr>
          <p:cNvPr id="10" name="tabla-escenarios"/>
          <p:cNvGraphicFramePr>
            <a:graphicFrameLocks noGrp="1"/>
          </p:cNvGraphicFramePr>
          <p:nvPr>
            <p:extLst>
              <p:ext uri="{D42A27DB-BD31-4B8C-83A1-F6EECF244321}">
                <p14:modId xmlns:p14="http://schemas.microsoft.com/office/powerpoint/2010/main" val="1579011935"/>
              </p:ext>
            </p:extLst>
          </p:nvPr>
        </p:nvGraphicFramePr>
        <p:xfrm>
          <a:off x="6309360" y="1920240"/>
          <a:ext cx="5425135" cy="914400"/>
        </p:xfrm>
        <a:graphic>
          <a:graphicData uri="http://schemas.openxmlformats.org/drawingml/2006/table">
            <a:tbl>
              <a:tblPr/>
              <a:tblGrid>
                <a:gridCol w="1874520"/>
                <a:gridCol w="850392"/>
                <a:gridCol w="896112"/>
                <a:gridCol w="969264"/>
                <a:gridCol w="834847"/>
              </a:tblGrid>
              <a:tr h="420624">
                <a:tc>
                  <a:txBody>
                    <a:bodyPr/>
                    <a:lstStyle/>
                    <a:p>
                      <a:pPr indent="0" marL="0">
                        <a:buNone/>
                      </a:pPr>
                      <a:r>
                        <a:rPr lang="en-US" sz="900" b="1" dirty="0">
                          <a:solidFill>
                            <a:schemeClr val="tx2"/>
                          </a:solidFill>
                          <a:latin typeface="Arial" pitchFamily="34" charset="0"/>
                          <a:ea typeface="Arial" pitchFamily="34" charset="-122"/>
                          <a:cs typeface="Arial" pitchFamily="34" charset="-120"/>
                        </a:rPr>
                        <a:t>Indicador</a:t>
                      </a:r>
                      <a:endParaRPr lang="en-US" sz="900" dirty="0">
                        <a:latin typeface="Arial" charset="0"/>
                        <a:ea typeface="Arial" charset="0"/>
                        <a:cs typeface="Arial" charset="0"/>
                      </a:endParaRPr>
                    </a:p>
                  </a:txBody>
                  <a:tcPr marL="63500" marR="63500" marT="25400" marB="25400" anchor="b">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tx2"/>
                          </a:solidFill>
                          <a:latin typeface="Arial" pitchFamily="34" charset="0"/>
                          <a:ea typeface="Arial" pitchFamily="34" charset="-122"/>
                          <a:cs typeface="Arial" pitchFamily="34" charset="-120"/>
                        </a:rPr>
                        <a:t>Statu quo</a:t>
                      </a:r>
                      <a:endParaRPr lang="en-US" sz="900" dirty="0">
                        <a:latin typeface="Arial" charset="0"/>
                        <a:ea typeface="Arial" charset="0"/>
                        <a:cs typeface="Arial" charset="0"/>
                      </a:endParaRPr>
                    </a:p>
                  </a:txBody>
                  <a:tcPr marL="63500" marR="63500" marT="25400" marB="25400" anchor="b">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tx2"/>
                          </a:solidFill>
                          <a:latin typeface="Arial" pitchFamily="34" charset="0"/>
                          <a:ea typeface="Arial" pitchFamily="34" charset="-122"/>
                          <a:cs typeface="Arial" pitchFamily="34" charset="-120"/>
                        </a:rPr>
                        <a:t>Gestión ampliada</a:t>
                      </a:r>
                      <a:endParaRPr lang="en-US" sz="900" dirty="0">
                        <a:latin typeface="Arial" charset="0"/>
                        <a:ea typeface="Arial" charset="0"/>
                        <a:cs typeface="Arial" charset="0"/>
                      </a:endParaRPr>
                    </a:p>
                  </a:txBody>
                  <a:tcPr marL="63500" marR="63500" marT="25400" marB="25400" anchor="b">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tx2"/>
                          </a:solidFill>
                          <a:latin typeface="Arial" pitchFamily="34" charset="0"/>
                          <a:ea typeface="Arial" pitchFamily="34" charset="-122"/>
                          <a:cs typeface="Arial" pitchFamily="34" charset="-120"/>
                        </a:rPr>
                        <a:t>Ampliada con canales</a:t>
                      </a:r>
                      <a:endParaRPr lang="en-US" sz="900" dirty="0">
                        <a:latin typeface="Arial" charset="0"/>
                        <a:ea typeface="Arial" charset="0"/>
                        <a:cs typeface="Arial" charset="0"/>
                      </a:endParaRPr>
                    </a:p>
                  </a:txBody>
                  <a:tcPr marL="63500" marR="63500" marT="25400" marB="25400" anchor="b">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tx2"/>
                          </a:solidFill>
                          <a:latin typeface="Arial" pitchFamily="34" charset="0"/>
                          <a:ea typeface="Arial" pitchFamily="34" charset="-122"/>
                          <a:cs typeface="Arial" pitchFamily="34" charset="-120"/>
                        </a:rPr>
                        <a:t>Caída de la gestión</a:t>
                      </a:r>
                      <a:endParaRPr lang="en-US" sz="900" dirty="0">
                        <a:latin typeface="Arial" charset="0"/>
                        <a:ea typeface="Arial" charset="0"/>
                        <a:cs typeface="Arial" charset="0"/>
                      </a:endParaRPr>
                    </a:p>
                  </a:txBody>
                  <a:tcPr marL="63500" marR="63500" marT="25400" marB="25400" anchor="b">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Hospitalizaciones CSCA evitadas</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Urgencias evitadas</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+58</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+58</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−47</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Costo frente al statu quo (M COP)</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+53</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+912</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−42</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Meses-sede con saturación</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8 de 48</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8 de 48</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0 de 48</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7 de 48</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Oportunidad P90 máxima</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3,6 d</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4,1 d</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2,2 d</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3,4 d</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Visitas domiciliarias</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14.952</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Atenciones virtuales</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25.227</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01752">
                <a:tc>
                  <a:txBody>
                    <a:bodyPr/>
                    <a:lstStyle/>
                    <a:p>
                      <a:pPr indent="0" marL="0">
                        <a:buNone/>
                      </a:pPr>
                      <a:r>
                        <a:rPr lang="en-US" sz="900" dirty="0">
                          <a:solidFill>
                            <a:schemeClr val="tx1"/>
                          </a:solidFill>
                          <a:latin typeface="Arial" pitchFamily="34" charset="0"/>
                          <a:ea typeface="Arial" pitchFamily="34" charset="-122"/>
                          <a:cs typeface="Arial" pitchFamily="34" charset="-120"/>
                        </a:rPr>
                        <a:t>Equipos domiciliarios adicionales</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b="1" dirty="0">
                          <a:solidFill>
                            <a:schemeClr val="accent2"/>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algn="r" indent="0" marL="0">
                        <a:buNone/>
                      </a:pPr>
                      <a:r>
                        <a:rPr lang="en-US" sz="900" dirty="0">
                          <a:solidFill>
                            <a:schemeClr val="tx1"/>
                          </a:solidFill>
                          <a:latin typeface="Arial" pitchFamily="34" charset="0"/>
                          <a:ea typeface="Arial" pitchFamily="34" charset="-122"/>
                          <a:cs typeface="Arial" pitchFamily="34" charset="-120"/>
                        </a:rPr>
                        <a:t>0</a:t>
                      </a:r>
                      <a:endParaRPr lang="en-US" sz="900" dirty="0">
                        <a:latin typeface="Arial" charset="0"/>
                        <a:ea typeface="Arial" charset="0"/>
                        <a:cs typeface="Arial" charset="0"/>
                      </a:endParaRPr>
                    </a:p>
                  </a:txBody>
                  <a:tcPr marL="63500" marR="63500" marT="25400" marB="254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bl>
          </a:graphicData>
        </a:graphic>
      </p:graphicFrame>
      <p:sp>
        <p:nvSpPr>
          <p:cNvPr id="9" name="lectura-escenarios-182"/>
          <p:cNvSpPr/>
          <p:nvPr/>
        </p:nvSpPr>
        <p:spPr>
          <a:xfrm>
            <a:off x="6309360" y="4983480"/>
            <a:ext cx="5425135" cy="1280160"/>
          </a:xfrm>
          <a:prstGeom prst="roundRect">
            <a:avLst>
              <a:gd name="adj" fmla="val 5000"/>
            </a:avLst>
          </a:prstGeom>
          <a:solidFill>
            <a:schemeClr val="accent2">
              <a:alpha val="10000"/>
            </a:schemeClr>
          </a:solidFill>
          <a:ln/>
        </p:spPr>
      </p:sp>
      <p:sp>
        <p:nvSpPr>
          <p:cNvPr id="10" name="lectura-texto-183"/>
          <p:cNvSpPr txBox="1"/>
          <p:nvPr/>
        </p:nvSpPr>
        <p:spPr>
          <a:xfrm>
            <a:off x="6492240" y="5111496"/>
            <a:ext cx="5059375" cy="1060704"/>
          </a:xfrm>
          <a:prstGeom prst="rect">
            <a:avLst/>
          </a:prstGeom>
          <a:noFill/>
          <a:ln/>
        </p:spPr>
        <p:txBody>
          <a:bodyPr wrap="square" lIns="0" tIns="0" rIns="0" bIns="0" rtlCol="0" anchor="ctr"/>
          <a:lstStyle/>
          <a:p>
            <a:pPr indent="0" marL="0">
              <a:buNone/>
            </a:pPr>
            <a:r>
              <a:rPr lang="en-US" sz="1000" b="1" dirty="0">
                <a:solidFill>
                  <a:schemeClr val="tx1"/>
                </a:solidFill>
              </a:rPr>
              <a:t>Lectura. </a:t>
            </a:r>
            <a:pPr indent="0" marL="0">
              <a:buNone/>
            </a:pPr>
            <a:r>
              <a:rPr lang="en-US" sz="1000" dirty="0">
                <a:solidFill>
                  <a:schemeClr val="tx1"/>
                </a:solidFill>
              </a:rPr>
              <a:t>La ampliación de 25 puntos de cobertura sin canales eleva la oportunidad P90 de 3,6 a 4,1 días. Con atención domiciliaria, virtual y recordatorios no quedan meses-sede saturados, a cambio de 6 equipos domiciliarios y de un mayor costo de atención que debe compararse con el valor del acceso oportuno.</a:t>
            </a:r>
            <a:endParaRPr lang="en-US" sz="10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Configuración hace explícitos los parámetros, el contrato de datos y el nivel de madurez del modelo</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El catálogo de cohortes y zonas es editable; las fuentes y los indicadores de salud del modelo definen cuándo avanzar de nivel.</a:t>
            </a:r>
            <a:endParaRPr lang="en-US" sz="1250" dirty="0"/>
          </a:p>
        </p:txBody>
      </p:sp>
      <p:sp>
        <p:nvSpPr>
          <p:cNvPr id="4" name="marco-184"/>
          <p:cNvSpPr/>
          <p:nvPr/>
        </p:nvSpPr>
        <p:spPr>
          <a:xfrm>
            <a:off x="448056" y="1691640"/>
            <a:ext cx="6327648" cy="2007108"/>
          </a:xfrm>
          <a:prstGeom prst="rect">
            <a:avLst/>
          </a:prstGeom>
          <a:solidFill>
            <a:srgbClr val="FFFFFF"/>
          </a:solidFill>
          <a:ln w="9525">
            <a:solidFill>
              <a:srgbClr val="D5DCE5"/>
            </a:solidFill>
            <a:prstDash val="solid"/>
          </a:ln>
          <a:effectLst>
            <a:outerShdw sx="100000" sy="100000" kx="0" ky="0" algn="bl" rotWithShape="0" blurRad="76200" dist="25400" dir="5400000">
              <a:srgbClr val="000000">
                <a:alpha val="12000"/>
              </a:srgbClr>
            </a:outerShdw>
          </a:effectLst>
        </p:spPr>
      </p:sp>
      <p:pic>
        <p:nvPicPr>
          <p:cNvPr id="5" name="captura-185" descr="/home/claude/sura/phm-gemelos/deck/capturas/r-fuentes.png">    </p:cNvPr>
          <p:cNvPicPr>
            <a:picLocks noChangeAspect="1"/>
          </p:cNvPicPr>
          <p:nvPr/>
        </p:nvPicPr>
        <p:blipFill>
          <a:blip r:embed="rId1"/>
          <a:stretch>
            <a:fillRect/>
          </a:stretch>
        </p:blipFill>
        <p:spPr>
          <a:xfrm>
            <a:off x="457200" y="1700784"/>
            <a:ext cx="6309360" cy="1988820"/>
          </a:xfrm>
          <a:prstGeom prst="rect">
            <a:avLst/>
          </a:prstGeom>
        </p:spPr>
      </p:pic>
      <p:sp>
        <p:nvSpPr>
          <p:cNvPr id="6" name="etiqueta-186"/>
          <p:cNvSpPr txBox="1"/>
          <p:nvPr/>
        </p:nvSpPr>
        <p:spPr>
          <a:xfrm>
            <a:off x="457200" y="3963924"/>
            <a:ext cx="6309360" cy="201168"/>
          </a:xfrm>
          <a:prstGeom prst="rect">
            <a:avLst/>
          </a:prstGeom>
          <a:noFill/>
          <a:ln/>
        </p:spPr>
        <p:txBody>
          <a:bodyPr wrap="square" lIns="0" tIns="0" rIns="0" bIns="0" rtlCol="0" anchor="t"/>
          <a:lstStyle/>
          <a:p>
            <a:pPr indent="0" marL="0">
              <a:buNone/>
            </a:pPr>
            <a:r>
              <a:rPr lang="en-US" sz="850" b="1" spc="50" kern="0" dirty="0">
                <a:solidFill>
                  <a:schemeClr val="accent3"/>
                </a:solidFill>
              </a:rPr>
              <a:t>CATÁLOGO</a:t>
            </a:r>
            <a:endParaRPr lang="en-US" sz="850" dirty="0"/>
          </a:p>
        </p:txBody>
      </p:sp>
      <p:sp>
        <p:nvSpPr>
          <p:cNvPr id="7" name="cuerpo-187"/>
          <p:cNvSpPr txBox="1"/>
          <p:nvPr/>
        </p:nvSpPr>
        <p:spPr>
          <a:xfrm>
            <a:off x="457200" y="4183380"/>
            <a:ext cx="6309360" cy="77724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Cohortes con estratos, matrices de transición, tasas por estrato, estacionalidad y fracción CSCA; sedes con zonas, servidores, horarios, tiempos de servicio y metas. Agregar una cohorte la incorpora a todos los selectores y escenarios.</a:t>
            </a:r>
            <a:endParaRPr lang="en-US" sz="1000" dirty="0"/>
          </a:p>
        </p:txBody>
      </p:sp>
      <p:sp>
        <p:nvSpPr>
          <p:cNvPr id="8" name="etiqueta-188"/>
          <p:cNvSpPr txBox="1"/>
          <p:nvPr/>
        </p:nvSpPr>
        <p:spPr>
          <a:xfrm>
            <a:off x="457200" y="5088636"/>
            <a:ext cx="6309360" cy="201168"/>
          </a:xfrm>
          <a:prstGeom prst="rect">
            <a:avLst/>
          </a:prstGeom>
          <a:noFill/>
          <a:ln/>
        </p:spPr>
        <p:txBody>
          <a:bodyPr wrap="square" lIns="0" tIns="0" rIns="0" bIns="0" rtlCol="0" anchor="t"/>
          <a:lstStyle/>
          <a:p>
            <a:pPr indent="0" marL="0">
              <a:buNone/>
            </a:pPr>
            <a:r>
              <a:rPr lang="en-US" sz="850" b="1" spc="50" kern="0" dirty="0">
                <a:solidFill>
                  <a:schemeClr val="accent5"/>
                </a:solidFill>
              </a:rPr>
              <a:t>POR QUÉ IMPORTA</a:t>
            </a:r>
            <a:endParaRPr lang="en-US" sz="850" dirty="0"/>
          </a:p>
        </p:txBody>
      </p:sp>
      <p:sp>
        <p:nvSpPr>
          <p:cNvPr id="9" name="cuerpo-189"/>
          <p:cNvSpPr txBox="1"/>
          <p:nvPr/>
        </p:nvSpPr>
        <p:spPr>
          <a:xfrm>
            <a:off x="457200" y="5308092"/>
            <a:ext cx="6309360" cy="548640"/>
          </a:xfrm>
          <a:prstGeom prst="rect">
            <a:avLst/>
          </a:prstGeom>
          <a:noFill/>
          <a:ln/>
        </p:spPr>
        <p:txBody>
          <a:bodyPr wrap="square" lIns="0" tIns="0" rIns="0" bIns="0" rtlCol="0" anchor="t"/>
          <a:lstStyle/>
          <a:p>
            <a:pPr indent="0" marL="0">
              <a:spcAft>
                <a:spcPts val="200"/>
              </a:spcAft>
              <a:buNone/>
            </a:pPr>
            <a:r>
              <a:rPr lang="en-US" sz="1000" dirty="0">
                <a:solidFill>
                  <a:schemeClr val="tx1"/>
                </a:solidFill>
              </a:rPr>
              <a:t>Los supuestos dejan de estar ocultos en el modelo: cada parámetro tiene responsable, fuente y versión, lo que permite auditar y recalibrar.</a:t>
            </a:r>
            <a:endParaRPr lang="en-US" sz="1000" dirty="0"/>
          </a:p>
        </p:txBody>
      </p:sp>
      <p:sp>
        <p:nvSpPr>
          <p:cNvPr id="10" name="etiqueta-190"/>
          <p:cNvSpPr txBox="1"/>
          <p:nvPr/>
        </p:nvSpPr>
        <p:spPr>
          <a:xfrm>
            <a:off x="7132320" y="1673352"/>
            <a:ext cx="4602175" cy="201168"/>
          </a:xfrm>
          <a:prstGeom prst="rect">
            <a:avLst/>
          </a:prstGeom>
          <a:noFill/>
          <a:ln/>
        </p:spPr>
        <p:txBody>
          <a:bodyPr wrap="square" lIns="0" tIns="0" rIns="0" bIns="0" rtlCol="0" anchor="t"/>
          <a:lstStyle/>
          <a:p>
            <a:pPr indent="0" marL="0">
              <a:buNone/>
            </a:pPr>
            <a:r>
              <a:rPr lang="en-US" sz="850" b="1" spc="50" kern="0" dirty="0">
                <a:solidFill>
                  <a:schemeClr val="accent4"/>
                </a:solidFill>
              </a:rPr>
              <a:t>INDICADORES DE SALUD DEL MODELO</a:t>
            </a:r>
            <a:endParaRPr lang="en-US" sz="850" dirty="0"/>
          </a:p>
        </p:txBody>
      </p:sp>
      <p:graphicFrame>
        <p:nvGraphicFramePr>
          <p:cNvPr id="11" name="tabla-salud"/>
          <p:cNvGraphicFramePr>
            <a:graphicFrameLocks noGrp="1"/>
          </p:cNvGraphicFramePr>
          <p:nvPr>
            <p:extLst>
              <p:ext uri="{D42A27DB-BD31-4B8C-83A1-F6EECF244321}">
                <p14:modId xmlns:p14="http://schemas.microsoft.com/office/powerpoint/2010/main" val="1579011935"/>
              </p:ext>
            </p:extLst>
          </p:nvPr>
        </p:nvGraphicFramePr>
        <p:xfrm>
          <a:off x="7132320" y="1920240"/>
          <a:ext cx="4602175" cy="914400"/>
        </p:xfrm>
        <a:graphic>
          <a:graphicData uri="http://schemas.openxmlformats.org/drawingml/2006/table">
            <a:tbl>
              <a:tblPr/>
              <a:tblGrid>
                <a:gridCol w="2377440"/>
                <a:gridCol w="2224735"/>
              </a:tblGrid>
              <a:tr h="329184">
                <a:tc>
                  <a:txBody>
                    <a:bodyPr/>
                    <a:lstStyle/>
                    <a:p>
                      <a:pPr indent="0" marL="0">
                        <a:buNone/>
                      </a:pPr>
                      <a:r>
                        <a:rPr lang="en-US" sz="900" b="1" dirty="0">
                          <a:solidFill>
                            <a:schemeClr val="tx2"/>
                          </a:solidFill>
                          <a:latin typeface="Arial" pitchFamily="34" charset="0"/>
                          <a:ea typeface="Arial" pitchFamily="34" charset="-122"/>
                          <a:cs typeface="Arial" pitchFamily="34" charset="-120"/>
                        </a:rPr>
                        <a:t>Indicador</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b="1" dirty="0">
                          <a:solidFill>
                            <a:schemeClr val="tx2"/>
                          </a:solidFill>
                          <a:latin typeface="Arial" pitchFamily="34" charset="0"/>
                          <a:ea typeface="Arial" pitchFamily="34" charset="-122"/>
                          <a:cs typeface="Arial" pitchFamily="34" charset="-120"/>
                        </a:rPr>
                        <a:t>Meta</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Fuentes dentro del SLA</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 95 %</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Cobertura de sensores</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 90 % de equipos inventariados</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Error de calibración (WAPE mensual por zona)</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 10–15 % en backtest de 12 meses</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Cobertura de intervalos P10–P90</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75–85 % de observados dentro de la banda</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Deriva de entradas (PSI)</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&lt; 0,2</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Latencia de extremo a extremo</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Estado &lt; 5 s; agenda &lt; 15 min</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29184">
                <a:tc>
                  <a:txBody>
                    <a:bodyPr/>
                    <a:lstStyle/>
                    <a:p>
                      <a:pPr indent="0" marL="0">
                        <a:buNone/>
                      </a:pPr>
                      <a:r>
                        <a:rPr lang="en-US" sz="900" dirty="0">
                          <a:solidFill>
                            <a:schemeClr val="tx1"/>
                          </a:solidFill>
                          <a:latin typeface="Arial" pitchFamily="34" charset="0"/>
                          <a:ea typeface="Arial" pitchFamily="34" charset="-122"/>
                          <a:cs typeface="Arial" pitchFamily="34" charset="-120"/>
                        </a:rPr>
                        <a:t>Cierre de ciclo</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Recomendaciones aceptadas, ejecutadas y con efecto observado</a:t>
                      </a:r>
                      <a:endParaRPr lang="en-US" sz="900" dirty="0">
                        <a:latin typeface="Arial" charset="0"/>
                        <a:ea typeface="Arial" charset="0"/>
                        <a:cs typeface="Arial" charset="0"/>
                      </a:endParaRPr>
                    </a:p>
                  </a:txBody>
                  <a:tcPr marL="63500" marR="63500" marT="25400" marB="25400">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bl>
          </a:graphicData>
        </a:graphic>
      </p:graphicFrame>
      <p:sp>
        <p:nvSpPr>
          <p:cNvPr id="12" name="etiqueta-191"/>
          <p:cNvSpPr txBox="1"/>
          <p:nvPr/>
        </p:nvSpPr>
        <p:spPr>
          <a:xfrm>
            <a:off x="7132320" y="4782312"/>
            <a:ext cx="4602175" cy="201168"/>
          </a:xfrm>
          <a:prstGeom prst="rect">
            <a:avLst/>
          </a:prstGeom>
          <a:noFill/>
          <a:ln/>
        </p:spPr>
        <p:txBody>
          <a:bodyPr wrap="square" lIns="0" tIns="0" rIns="0" bIns="0" rtlCol="0" anchor="t"/>
          <a:lstStyle/>
          <a:p>
            <a:pPr indent="0" marL="0">
              <a:buNone/>
            </a:pPr>
            <a:r>
              <a:rPr lang="en-US" sz="850" b="1" spc="50" kern="0" dirty="0">
                <a:solidFill>
                  <a:schemeClr val="accent4"/>
                </a:solidFill>
              </a:rPr>
              <a:t>CRITERIO DE AVANCE ENTRE NIVELES</a:t>
            </a:r>
            <a:endParaRPr lang="en-US" sz="850" dirty="0"/>
          </a:p>
        </p:txBody>
      </p:sp>
      <p:sp>
        <p:nvSpPr>
          <p:cNvPr id="13" name="criterio-avance-192"/>
          <p:cNvSpPr txBox="1"/>
          <p:nvPr/>
        </p:nvSpPr>
        <p:spPr>
          <a:xfrm>
            <a:off x="7132320" y="5020056"/>
            <a:ext cx="4602175" cy="1243584"/>
          </a:xfrm>
          <a:prstGeom prst="rect">
            <a:avLst/>
          </a:prstGeom>
          <a:noFill/>
          <a:ln/>
        </p:spPr>
        <p:txBody>
          <a:bodyPr wrap="square" lIns="0" tIns="0" rIns="0" bIns="0" rtlCol="0" anchor="t"/>
          <a:lstStyle/>
          <a:p>
            <a:pPr indent="0" marL="0">
              <a:spcAft>
                <a:spcPts val="400"/>
              </a:spcAft>
              <a:buNone/>
            </a:pPr>
            <a:r>
              <a:rPr lang="en-US" sz="950" b="1" dirty="0">
                <a:solidFill>
                  <a:schemeClr val="tx1"/>
                </a:solidFill>
              </a:rPr>
              <a:t>Modelo → sombra: </a:t>
            </a:r>
            <a:pPr indent="0" marL="0">
              <a:spcAft>
                <a:spcPts val="400"/>
              </a:spcAft>
              <a:buNone/>
            </a:pPr>
            <a:r>
              <a:rPr lang="en-US" sz="950" dirty="0">
                <a:solidFill>
                  <a:schemeClr val="tx1"/>
                </a:solidFill>
              </a:rPr>
              <a:t>ingesta automática de agenda y estado de zonas dentro del SLA.</a:t>
            </a:r>
            <a:endParaRPr lang="en-US" sz="950" dirty="0"/>
          </a:p>
          <a:p>
            <a:pPr indent="0" marL="0">
              <a:spcAft>
                <a:spcPts val="400"/>
              </a:spcAft>
              <a:buNone/>
            </a:pPr>
            <a:r>
              <a:rPr lang="en-US" sz="950" b="1" dirty="0">
                <a:solidFill>
                  <a:schemeClr val="tx1"/>
                </a:solidFill>
              </a:rPr>
              <a:t>Sombra → gemelo: </a:t>
            </a:r>
            <a:pPr indent="0" marL="0">
              <a:spcAft>
                <a:spcPts val="400"/>
              </a:spcAft>
              <a:buNone/>
            </a:pPr>
            <a:r>
              <a:rPr lang="en-US" sz="950" dirty="0">
                <a:solidFill>
                  <a:schemeClr val="tx1"/>
                </a:solidFill>
              </a:rPr>
              <a:t>WAPE y cobertura de intervalos en meta durante tres meses, y recomendaciones con registro de aceptación y efecto.</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La arquitectura separa los datos clínicos federados de la telemetría operativa y respeta la frontera de AlejandrIA</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Los datos de pacientes permanecen en cada Data Partner; el portal consume agregados y estados operativos sin información personal.</a:t>
            </a:r>
            <a:endParaRPr lang="en-US" sz="1250" dirty="0"/>
          </a:p>
        </p:txBody>
      </p:sp>
      <p:sp>
        <p:nvSpPr>
          <p:cNvPr id="4" name="capa-193"/>
          <p:cNvSpPr/>
          <p:nvPr/>
        </p:nvSpPr>
        <p:spPr>
          <a:xfrm>
            <a:off x="457200" y="1673352"/>
            <a:ext cx="7086600" cy="658368"/>
          </a:xfrm>
          <a:prstGeom prst="roundRect">
            <a:avLst>
              <a:gd name="adj" fmla="val 9722"/>
            </a:avLst>
          </a:prstGeom>
          <a:solidFill>
            <a:schemeClr val="accent1">
              <a:alpha val="12000"/>
            </a:schemeClr>
          </a:solidFill>
          <a:ln/>
        </p:spPr>
      </p:sp>
      <p:sp>
        <p:nvSpPr>
          <p:cNvPr id="5" name="capa-nombre-194"/>
          <p:cNvSpPr txBox="1"/>
          <p:nvPr/>
        </p:nvSpPr>
        <p:spPr>
          <a:xfrm>
            <a:off x="640080" y="1673352"/>
            <a:ext cx="1691640" cy="658368"/>
          </a:xfrm>
          <a:prstGeom prst="rect">
            <a:avLst/>
          </a:prstGeom>
          <a:noFill/>
          <a:ln/>
        </p:spPr>
        <p:txBody>
          <a:bodyPr wrap="square" lIns="0" tIns="0" rIns="0" bIns="0" rtlCol="0" anchor="ctr"/>
          <a:lstStyle/>
          <a:p>
            <a:pPr indent="0" marL="0">
              <a:buNone/>
            </a:pPr>
            <a:r>
              <a:rPr lang="en-US" sz="1050" b="1" dirty="0">
                <a:solidFill>
                  <a:schemeClr val="accent1"/>
                </a:solidFill>
              </a:rPr>
              <a:t>Experiencia</a:t>
            </a:r>
            <a:endParaRPr lang="en-US" sz="1050" dirty="0"/>
          </a:p>
        </p:txBody>
      </p:sp>
      <p:sp>
        <p:nvSpPr>
          <p:cNvPr id="6" name="capa-texto-195"/>
          <p:cNvSpPr txBox="1"/>
          <p:nvPr/>
        </p:nvSpPr>
        <p:spPr>
          <a:xfrm>
            <a:off x="2377440" y="1673352"/>
            <a:ext cx="4983480" cy="658368"/>
          </a:xfrm>
          <a:prstGeom prst="rect">
            <a:avLst/>
          </a:prstGeom>
          <a:noFill/>
          <a:ln/>
        </p:spPr>
        <p:txBody>
          <a:bodyPr wrap="square" lIns="0" tIns="0" rIns="0" bIns="0" rtlCol="0" anchor="ctr"/>
          <a:lstStyle/>
          <a:p>
            <a:pPr indent="0" marL="0">
              <a:buNone/>
            </a:pPr>
            <a:r>
              <a:rPr lang="en-US" sz="950" dirty="0">
                <a:solidFill>
                  <a:schemeClr val="tx1"/>
                </a:solidFill>
              </a:rPr>
              <a:t>Portal de planeación por cohortes: seis módulos, escenarios versionados y control de acceso por rol.</a:t>
            </a:r>
            <a:endParaRPr lang="en-US" sz="950" dirty="0"/>
          </a:p>
        </p:txBody>
      </p:sp>
      <p:sp>
        <p:nvSpPr>
          <p:cNvPr id="7" name="capa-196"/>
          <p:cNvSpPr/>
          <p:nvPr/>
        </p:nvSpPr>
        <p:spPr>
          <a:xfrm>
            <a:off x="457200" y="2404872"/>
            <a:ext cx="7086600" cy="658368"/>
          </a:xfrm>
          <a:prstGeom prst="roundRect">
            <a:avLst>
              <a:gd name="adj" fmla="val 9722"/>
            </a:avLst>
          </a:prstGeom>
          <a:solidFill>
            <a:schemeClr val="accent5">
              <a:alpha val="12000"/>
            </a:schemeClr>
          </a:solidFill>
          <a:ln/>
        </p:spPr>
      </p:sp>
      <p:sp>
        <p:nvSpPr>
          <p:cNvPr id="8" name="capa-nombre-197"/>
          <p:cNvSpPr txBox="1"/>
          <p:nvPr/>
        </p:nvSpPr>
        <p:spPr>
          <a:xfrm>
            <a:off x="640080" y="2404872"/>
            <a:ext cx="1691640" cy="658368"/>
          </a:xfrm>
          <a:prstGeom prst="rect">
            <a:avLst/>
          </a:prstGeom>
          <a:noFill/>
          <a:ln/>
        </p:spPr>
        <p:txBody>
          <a:bodyPr wrap="square" lIns="0" tIns="0" rIns="0" bIns="0" rtlCol="0" anchor="ctr"/>
          <a:lstStyle/>
          <a:p>
            <a:pPr indent="0" marL="0">
              <a:buNone/>
            </a:pPr>
            <a:r>
              <a:rPr lang="en-US" sz="1050" b="1" dirty="0">
                <a:solidFill>
                  <a:schemeClr val="accent5"/>
                </a:solidFill>
              </a:rPr>
              <a:t>Cierre de ciclo</a:t>
            </a:r>
            <a:endParaRPr lang="en-US" sz="1050" dirty="0"/>
          </a:p>
        </p:txBody>
      </p:sp>
      <p:sp>
        <p:nvSpPr>
          <p:cNvPr id="9" name="capa-texto-198"/>
          <p:cNvSpPr txBox="1"/>
          <p:nvPr/>
        </p:nvSpPr>
        <p:spPr>
          <a:xfrm>
            <a:off x="2377440" y="2404872"/>
            <a:ext cx="4983480" cy="658368"/>
          </a:xfrm>
          <a:prstGeom prst="rect">
            <a:avLst/>
          </a:prstGeom>
          <a:noFill/>
          <a:ln/>
        </p:spPr>
        <p:txBody>
          <a:bodyPr wrap="square" lIns="0" tIns="0" rIns="0" bIns="0" rtlCol="0" anchor="ctr"/>
          <a:lstStyle/>
          <a:p>
            <a:pPr indent="0" marL="0">
              <a:buNone/>
            </a:pPr>
            <a:r>
              <a:rPr lang="en-US" sz="950" dirty="0">
                <a:solidFill>
                  <a:schemeClr val="tx1"/>
                </a:solidFill>
              </a:rPr>
              <a:t>Recomendaciones con responsable, registro de aceptación, ejecución y efecto observado; alimenta la calibración.</a:t>
            </a:r>
            <a:endParaRPr lang="en-US" sz="950" dirty="0"/>
          </a:p>
        </p:txBody>
      </p:sp>
      <p:sp>
        <p:nvSpPr>
          <p:cNvPr id="10" name="capa-199"/>
          <p:cNvSpPr/>
          <p:nvPr/>
        </p:nvSpPr>
        <p:spPr>
          <a:xfrm>
            <a:off x="457200" y="3136392"/>
            <a:ext cx="7086600" cy="658368"/>
          </a:xfrm>
          <a:prstGeom prst="roundRect">
            <a:avLst>
              <a:gd name="adj" fmla="val 9722"/>
            </a:avLst>
          </a:prstGeom>
          <a:solidFill>
            <a:schemeClr val="accent4">
              <a:alpha val="12000"/>
            </a:schemeClr>
          </a:solidFill>
          <a:ln/>
        </p:spPr>
      </p:sp>
      <p:sp>
        <p:nvSpPr>
          <p:cNvPr id="11" name="capa-nombre-200"/>
          <p:cNvSpPr txBox="1"/>
          <p:nvPr/>
        </p:nvSpPr>
        <p:spPr>
          <a:xfrm>
            <a:off x="640080" y="3136392"/>
            <a:ext cx="1691640" cy="658368"/>
          </a:xfrm>
          <a:prstGeom prst="rect">
            <a:avLst/>
          </a:prstGeom>
          <a:noFill/>
          <a:ln/>
        </p:spPr>
        <p:txBody>
          <a:bodyPr wrap="square" lIns="0" tIns="0" rIns="0" bIns="0" rtlCol="0" anchor="ctr"/>
          <a:lstStyle/>
          <a:p>
            <a:pPr indent="0" marL="0">
              <a:buNone/>
            </a:pPr>
            <a:r>
              <a:rPr lang="en-US" sz="1050" b="1" dirty="0">
                <a:solidFill>
                  <a:schemeClr val="accent4"/>
                </a:solidFill>
              </a:rPr>
              <a:t>Modelos</a:t>
            </a:r>
            <a:endParaRPr lang="en-US" sz="1050" dirty="0"/>
          </a:p>
        </p:txBody>
      </p:sp>
      <p:sp>
        <p:nvSpPr>
          <p:cNvPr id="12" name="capa-texto-201"/>
          <p:cNvSpPr txBox="1"/>
          <p:nvPr/>
        </p:nvSpPr>
        <p:spPr>
          <a:xfrm>
            <a:off x="2377440" y="3136392"/>
            <a:ext cx="4983480" cy="658368"/>
          </a:xfrm>
          <a:prstGeom prst="rect">
            <a:avLst/>
          </a:prstGeom>
          <a:noFill/>
          <a:ln/>
        </p:spPr>
        <p:txBody>
          <a:bodyPr wrap="square" lIns="0" tIns="0" rIns="0" bIns="0" rtlCol="0" anchor="ctr"/>
          <a:lstStyle/>
          <a:p>
            <a:pPr indent="0" marL="0">
              <a:buNone/>
            </a:pPr>
            <a:r>
              <a:rPr lang="en-US" sz="950" dirty="0">
                <a:solidFill>
                  <a:schemeClr val="tx1"/>
                </a:solidFill>
              </a:rPr>
              <a:t>Modelo poblacional (Markov mensual y Monte Carlo) y modelo de capacidad (colas y backlog), con versión de parámetros e indicadores de salud.</a:t>
            </a:r>
            <a:endParaRPr lang="en-US" sz="950" dirty="0"/>
          </a:p>
        </p:txBody>
      </p:sp>
      <p:sp>
        <p:nvSpPr>
          <p:cNvPr id="13" name="capa-202"/>
          <p:cNvSpPr/>
          <p:nvPr/>
        </p:nvSpPr>
        <p:spPr>
          <a:xfrm>
            <a:off x="457200" y="3867912"/>
            <a:ext cx="7086600" cy="658368"/>
          </a:xfrm>
          <a:prstGeom prst="roundRect">
            <a:avLst>
              <a:gd name="adj" fmla="val 9722"/>
            </a:avLst>
          </a:prstGeom>
          <a:solidFill>
            <a:schemeClr val="accent3">
              <a:alpha val="12000"/>
            </a:schemeClr>
          </a:solidFill>
          <a:ln/>
        </p:spPr>
      </p:sp>
      <p:sp>
        <p:nvSpPr>
          <p:cNvPr id="14" name="capa-nombre-203"/>
          <p:cNvSpPr txBox="1"/>
          <p:nvPr/>
        </p:nvSpPr>
        <p:spPr>
          <a:xfrm>
            <a:off x="640080" y="3867912"/>
            <a:ext cx="1691640" cy="658368"/>
          </a:xfrm>
          <a:prstGeom prst="rect">
            <a:avLst/>
          </a:prstGeom>
          <a:noFill/>
          <a:ln/>
        </p:spPr>
        <p:txBody>
          <a:bodyPr wrap="square" lIns="0" tIns="0" rIns="0" bIns="0" rtlCol="0" anchor="ctr"/>
          <a:lstStyle/>
          <a:p>
            <a:pPr indent="0" marL="0">
              <a:buNone/>
            </a:pPr>
            <a:r>
              <a:rPr lang="en-US" sz="1050" b="1" dirty="0">
                <a:solidFill>
                  <a:schemeClr val="accent3"/>
                </a:solidFill>
              </a:rPr>
              <a:t>Datos y contratos</a:t>
            </a:r>
            <a:endParaRPr lang="en-US" sz="1050" dirty="0"/>
          </a:p>
        </p:txBody>
      </p:sp>
      <p:sp>
        <p:nvSpPr>
          <p:cNvPr id="15" name="capa-texto-204"/>
          <p:cNvSpPr txBox="1"/>
          <p:nvPr/>
        </p:nvSpPr>
        <p:spPr>
          <a:xfrm>
            <a:off x="2377440" y="3867912"/>
            <a:ext cx="4983480" cy="658368"/>
          </a:xfrm>
          <a:prstGeom prst="rect">
            <a:avLst/>
          </a:prstGeom>
          <a:noFill/>
          <a:ln/>
        </p:spPr>
        <p:txBody>
          <a:bodyPr wrap="square" lIns="0" tIns="0" rIns="0" bIns="0" rtlCol="0" anchor="ctr"/>
          <a:lstStyle/>
          <a:p>
            <a:pPr indent="0" marL="0">
              <a:buNone/>
            </a:pPr>
            <a:r>
              <a:rPr lang="en-US" sz="950" dirty="0">
                <a:solidFill>
                  <a:schemeClr val="tx1"/>
                </a:solidFill>
              </a:rPr>
              <a:t>Agregados federados con supresión de celdas menores a 11, contratos de datos por fuente, catálogo de cohortes y zonas.</a:t>
            </a:r>
            <a:endParaRPr lang="en-US" sz="950" dirty="0"/>
          </a:p>
        </p:txBody>
      </p:sp>
      <p:sp>
        <p:nvSpPr>
          <p:cNvPr id="16" name="capa-205"/>
          <p:cNvSpPr/>
          <p:nvPr/>
        </p:nvSpPr>
        <p:spPr>
          <a:xfrm>
            <a:off x="457200" y="4873752"/>
            <a:ext cx="7086600" cy="658368"/>
          </a:xfrm>
          <a:prstGeom prst="roundRect">
            <a:avLst>
              <a:gd name="adj" fmla="val 9722"/>
            </a:avLst>
          </a:prstGeom>
          <a:solidFill>
            <a:schemeClr val="accent3">
              <a:alpha val="12000"/>
            </a:schemeClr>
          </a:solidFill>
          <a:ln/>
        </p:spPr>
      </p:sp>
      <p:sp>
        <p:nvSpPr>
          <p:cNvPr id="17" name="capa-nombre-206"/>
          <p:cNvSpPr txBox="1"/>
          <p:nvPr/>
        </p:nvSpPr>
        <p:spPr>
          <a:xfrm>
            <a:off x="640080" y="4873752"/>
            <a:ext cx="1691640" cy="658368"/>
          </a:xfrm>
          <a:prstGeom prst="rect">
            <a:avLst/>
          </a:prstGeom>
          <a:noFill/>
          <a:ln/>
        </p:spPr>
        <p:txBody>
          <a:bodyPr wrap="square" lIns="0" tIns="0" rIns="0" bIns="0" rtlCol="0" anchor="ctr"/>
          <a:lstStyle/>
          <a:p>
            <a:pPr indent="0" marL="0">
              <a:buNone/>
            </a:pPr>
            <a:r>
              <a:rPr lang="en-US" sz="1050" b="1" dirty="0">
                <a:solidFill>
                  <a:schemeClr val="accent3"/>
                </a:solidFill>
              </a:rPr>
              <a:t>Integración</a:t>
            </a:r>
            <a:endParaRPr lang="en-US" sz="1050" dirty="0"/>
          </a:p>
        </p:txBody>
      </p:sp>
      <p:sp>
        <p:nvSpPr>
          <p:cNvPr id="18" name="capa-texto-207"/>
          <p:cNvSpPr txBox="1"/>
          <p:nvPr/>
        </p:nvSpPr>
        <p:spPr>
          <a:xfrm>
            <a:off x="2377440" y="4873752"/>
            <a:ext cx="4983480" cy="658368"/>
          </a:xfrm>
          <a:prstGeom prst="rect">
            <a:avLst/>
          </a:prstGeom>
          <a:noFill/>
          <a:ln/>
        </p:spPr>
        <p:txBody>
          <a:bodyPr wrap="square" lIns="0" tIns="0" rIns="0" bIns="0" rtlCol="0" anchor="ctr"/>
          <a:lstStyle/>
          <a:p>
            <a:pPr indent="0" marL="0">
              <a:buNone/>
            </a:pPr>
            <a:r>
              <a:rPr lang="en-US" sz="950" dirty="0">
                <a:solidFill>
                  <a:schemeClr val="tx1"/>
                </a:solidFill>
              </a:rPr>
              <a:t>Consulta federada sobre OMOP CDM; eventos de agenda por FHIR R4 Subscriptions; estado de zonas y equipos en un espacio de nombres unificado sobre MQTT, sin datos de pacientes.</a:t>
            </a:r>
            <a:endParaRPr lang="en-US" sz="950" dirty="0"/>
          </a:p>
        </p:txBody>
      </p:sp>
      <p:sp>
        <p:nvSpPr>
          <p:cNvPr id="19" name="capa-208"/>
          <p:cNvSpPr/>
          <p:nvPr/>
        </p:nvSpPr>
        <p:spPr>
          <a:xfrm>
            <a:off x="457200" y="5605272"/>
            <a:ext cx="7086600" cy="658368"/>
          </a:xfrm>
          <a:prstGeom prst="roundRect">
            <a:avLst>
              <a:gd name="adj" fmla="val 9722"/>
            </a:avLst>
          </a:prstGeom>
          <a:solidFill>
            <a:schemeClr val="tx1">
              <a:alpha val="8000"/>
            </a:schemeClr>
          </a:solidFill>
          <a:ln/>
        </p:spPr>
      </p:sp>
      <p:sp>
        <p:nvSpPr>
          <p:cNvPr id="20" name="capa-nombre-209"/>
          <p:cNvSpPr txBox="1"/>
          <p:nvPr/>
        </p:nvSpPr>
        <p:spPr>
          <a:xfrm>
            <a:off x="640080" y="5605272"/>
            <a:ext cx="1691640" cy="658368"/>
          </a:xfrm>
          <a:prstGeom prst="rect">
            <a:avLst/>
          </a:prstGeom>
          <a:noFill/>
          <a:ln/>
        </p:spPr>
        <p:txBody>
          <a:bodyPr wrap="square" lIns="0" tIns="0" rIns="0" bIns="0" rtlCol="0" anchor="ctr"/>
          <a:lstStyle/>
          <a:p>
            <a:pPr indent="0" marL="0">
              <a:buNone/>
            </a:pPr>
            <a:r>
              <a:rPr lang="en-US" sz="1050" b="1" dirty="0">
                <a:solidFill>
                  <a:schemeClr val="tx1"/>
                </a:solidFill>
              </a:rPr>
              <a:t>Fuentes en cada Data Partner</a:t>
            </a:r>
            <a:endParaRPr lang="en-US" sz="1050" dirty="0"/>
          </a:p>
        </p:txBody>
      </p:sp>
      <p:sp>
        <p:nvSpPr>
          <p:cNvPr id="21" name="capa-texto-210"/>
          <p:cNvSpPr txBox="1"/>
          <p:nvPr/>
        </p:nvSpPr>
        <p:spPr>
          <a:xfrm>
            <a:off x="2377440" y="5605272"/>
            <a:ext cx="4983480" cy="658368"/>
          </a:xfrm>
          <a:prstGeom prst="rect">
            <a:avLst/>
          </a:prstGeom>
          <a:noFill/>
          <a:ln/>
        </p:spPr>
        <p:txBody>
          <a:bodyPr wrap="square" lIns="0" tIns="0" rIns="0" bIns="0" rtlCol="0" anchor="ctr"/>
          <a:lstStyle/>
          <a:p>
            <a:pPr indent="0" marL="0">
              <a:buNone/>
            </a:pPr>
            <a:r>
              <a:rPr lang="en-US" sz="950" dirty="0">
                <a:solidFill>
                  <a:schemeClr val="tx1"/>
                </a:solidFill>
              </a:rPr>
              <a:t>Historia clínica, agenda y citas, admisión, laboratorio, despacho domiciliario, telemedicina y equipos biomédicos. Cada Data Partner es responsable de su ingesta y de la transformación FHIR → OMOP.</a:t>
            </a:r>
            <a:endParaRPr lang="en-US" sz="950" dirty="0"/>
          </a:p>
        </p:txBody>
      </p:sp>
      <p:sp>
        <p:nvSpPr>
          <p:cNvPr id="22" name="frontera-federada"/>
          <p:cNvSpPr/>
          <p:nvPr/>
        </p:nvSpPr>
        <p:spPr>
          <a:xfrm>
            <a:off x="457200" y="4700016"/>
            <a:ext cx="7086600" cy="0"/>
          </a:xfrm>
          <a:prstGeom prst="line">
            <a:avLst/>
          </a:prstGeom>
          <a:noFill/>
          <a:ln w="15875">
            <a:solidFill>
              <a:srgbClr val="C7354A"/>
            </a:solidFill>
            <a:prstDash val="dash"/>
          </a:ln>
        </p:spPr>
      </p:sp>
      <p:sp>
        <p:nvSpPr>
          <p:cNvPr id="23" name="frontera-fondo"/>
          <p:cNvSpPr/>
          <p:nvPr/>
        </p:nvSpPr>
        <p:spPr>
          <a:xfrm>
            <a:off x="1920240" y="4590288"/>
            <a:ext cx="4160520" cy="219456"/>
          </a:xfrm>
          <a:prstGeom prst="rect">
            <a:avLst/>
          </a:prstGeom>
          <a:solidFill>
            <a:srgbClr val="FFFFFF"/>
          </a:solidFill>
          <a:ln/>
        </p:spPr>
      </p:sp>
      <p:sp>
        <p:nvSpPr>
          <p:cNvPr id="24" name="frontera-texto-211"/>
          <p:cNvSpPr txBox="1"/>
          <p:nvPr/>
        </p:nvSpPr>
        <p:spPr>
          <a:xfrm>
            <a:off x="1920240" y="4590288"/>
            <a:ext cx="4160520" cy="219456"/>
          </a:xfrm>
          <a:prstGeom prst="rect">
            <a:avLst/>
          </a:prstGeom>
          <a:noFill/>
          <a:ln/>
        </p:spPr>
        <p:txBody>
          <a:bodyPr wrap="square" lIns="0" tIns="0" rIns="0" bIns="0" rtlCol="0" anchor="ctr"/>
          <a:lstStyle/>
          <a:p>
            <a:pPr algn="ctr" indent="0" marL="0">
              <a:buNone/>
            </a:pPr>
            <a:r>
              <a:rPr lang="en-US" sz="850" b="1" dirty="0">
                <a:solidFill>
                  <a:schemeClr val="accent6"/>
                </a:solidFill>
              </a:rPr>
              <a:t>Frontera federada: hacia arriba solo circulan agregados y estados operativos</a:t>
            </a:r>
            <a:endParaRPr lang="en-US" sz="850" dirty="0"/>
          </a:p>
        </p:txBody>
      </p:sp>
      <p:sp>
        <p:nvSpPr>
          <p:cNvPr id="25" name="etiqueta-212"/>
          <p:cNvSpPr txBox="1"/>
          <p:nvPr/>
        </p:nvSpPr>
        <p:spPr>
          <a:xfrm>
            <a:off x="7909560" y="1673352"/>
            <a:ext cx="3824935" cy="201168"/>
          </a:xfrm>
          <a:prstGeom prst="rect">
            <a:avLst/>
          </a:prstGeom>
          <a:noFill/>
          <a:ln/>
        </p:spPr>
        <p:txBody>
          <a:bodyPr wrap="square" lIns="0" tIns="0" rIns="0" bIns="0" rtlCol="0" anchor="t"/>
          <a:lstStyle/>
          <a:p>
            <a:pPr indent="0" marL="0">
              <a:buNone/>
            </a:pPr>
            <a:r>
              <a:rPr lang="en-US" sz="850" b="1" spc="50" kern="0" dirty="0">
                <a:solidFill>
                  <a:schemeClr val="accent2"/>
                </a:solidFill>
              </a:rPr>
              <a:t>REFERENTES POR CAPACIDAD</a:t>
            </a:r>
            <a:endParaRPr lang="en-US" sz="850" dirty="0"/>
          </a:p>
        </p:txBody>
      </p:sp>
      <p:pic>
        <p:nvPicPr>
          <p:cNvPr id="26" name="icono-213" descr="preencoded.png">    </p:cNvPr>
          <p:cNvPicPr>
            <a:picLocks noChangeAspect="1"/>
          </p:cNvPicPr>
          <p:nvPr/>
        </p:nvPicPr>
        <p:blipFill>
          <a:blip r:embed="rId1"/>
          <a:stretch>
            <a:fillRect/>
          </a:stretch>
        </p:blipFill>
        <p:spPr>
          <a:xfrm>
            <a:off x="7961864" y="2027408"/>
            <a:ext cx="133137" cy="133137"/>
          </a:xfrm>
          <a:prstGeom prst="rect">
            <a:avLst/>
          </a:prstGeom>
        </p:spPr>
      </p:pic>
      <p:sp>
        <p:nvSpPr>
          <p:cNvPr id="27" name="referente-titulo-214"/>
          <p:cNvSpPr txBox="1"/>
          <p:nvPr/>
        </p:nvSpPr>
        <p:spPr>
          <a:xfrm>
            <a:off x="8238744" y="1956816"/>
            <a:ext cx="3495751" cy="219456"/>
          </a:xfrm>
          <a:prstGeom prst="rect">
            <a:avLst/>
          </a:prstGeom>
          <a:noFill/>
          <a:ln/>
        </p:spPr>
        <p:txBody>
          <a:bodyPr wrap="square" lIns="0" tIns="0" rIns="0" bIns="0" rtlCol="0" anchor="t"/>
          <a:lstStyle/>
          <a:p>
            <a:pPr indent="0" marL="0">
              <a:buNone/>
            </a:pPr>
            <a:r>
              <a:rPr lang="en-US" sz="1000" b="1" dirty="0">
                <a:solidFill>
                  <a:schemeClr val="tx1"/>
                </a:solidFill>
              </a:rPr>
              <a:t>Centro de comando de capacidad</a:t>
            </a:r>
            <a:endParaRPr lang="en-US" sz="1000" dirty="0"/>
          </a:p>
        </p:txBody>
      </p:sp>
      <p:sp>
        <p:nvSpPr>
          <p:cNvPr id="28" name="referente-texto-215"/>
          <p:cNvSpPr txBox="1"/>
          <p:nvPr/>
        </p:nvSpPr>
        <p:spPr>
          <a:xfrm>
            <a:off x="8238744" y="2185416"/>
            <a:ext cx="3495751" cy="566928"/>
          </a:xfrm>
          <a:prstGeom prst="rect">
            <a:avLst/>
          </a:prstGeom>
          <a:noFill/>
          <a:ln/>
        </p:spPr>
        <p:txBody>
          <a:bodyPr wrap="square" lIns="0" tIns="0" rIns="0" bIns="0" rtlCol="0" anchor="t"/>
          <a:lstStyle/>
          <a:p>
            <a:pPr indent="0" marL="0">
              <a:buNone/>
            </a:pPr>
            <a:r>
              <a:rPr lang="en-US" sz="900" dirty="0">
                <a:solidFill>
                  <a:schemeClr val="tx2"/>
                </a:solidFill>
              </a:rPr>
              <a:t>Johns Hopkins Hospital con GE HealthCare (2016): visión unificada de camas, flujo y alertas para decidir en tiempo real.</a:t>
            </a:r>
            <a:endParaRPr lang="en-US" sz="900" dirty="0"/>
          </a:p>
        </p:txBody>
      </p:sp>
      <p:pic>
        <p:nvPicPr>
          <p:cNvPr id="29" name="icono-216" descr="preencoded.png">    </p:cNvPr>
          <p:cNvPicPr>
            <a:picLocks noChangeAspect="1"/>
          </p:cNvPicPr>
          <p:nvPr/>
        </p:nvPicPr>
        <p:blipFill>
          <a:blip r:embed="rId2"/>
          <a:stretch>
            <a:fillRect/>
          </a:stretch>
        </p:blipFill>
        <p:spPr>
          <a:xfrm>
            <a:off x="7961864" y="2914376"/>
            <a:ext cx="133137" cy="133137"/>
          </a:xfrm>
          <a:prstGeom prst="rect">
            <a:avLst/>
          </a:prstGeom>
        </p:spPr>
      </p:pic>
      <p:sp>
        <p:nvSpPr>
          <p:cNvPr id="30" name="referente-titulo-217"/>
          <p:cNvSpPr txBox="1"/>
          <p:nvPr/>
        </p:nvSpPr>
        <p:spPr>
          <a:xfrm>
            <a:off x="8238744" y="2843784"/>
            <a:ext cx="3495751" cy="219456"/>
          </a:xfrm>
          <a:prstGeom prst="rect">
            <a:avLst/>
          </a:prstGeom>
          <a:noFill/>
          <a:ln/>
        </p:spPr>
        <p:txBody>
          <a:bodyPr wrap="square" lIns="0" tIns="0" rIns="0" bIns="0" rtlCol="0" anchor="t"/>
          <a:lstStyle/>
          <a:p>
            <a:pPr indent="0" marL="0">
              <a:buNone/>
            </a:pPr>
            <a:r>
              <a:rPr lang="en-US" sz="1000" b="1" dirty="0">
                <a:solidFill>
                  <a:schemeClr val="tx1"/>
                </a:solidFill>
              </a:rPr>
              <a:t>Gemelo operativo hospitalario</a:t>
            </a:r>
            <a:endParaRPr lang="en-US" sz="1000" dirty="0"/>
          </a:p>
        </p:txBody>
      </p:sp>
      <p:sp>
        <p:nvSpPr>
          <p:cNvPr id="31" name="referente-texto-218"/>
          <p:cNvSpPr txBox="1"/>
          <p:nvPr/>
        </p:nvSpPr>
        <p:spPr>
          <a:xfrm>
            <a:off x="8238744" y="3072384"/>
            <a:ext cx="3495751" cy="566928"/>
          </a:xfrm>
          <a:prstGeom prst="rect">
            <a:avLst/>
          </a:prstGeom>
          <a:noFill/>
          <a:ln/>
        </p:spPr>
        <p:txBody>
          <a:bodyPr wrap="square" lIns="0" tIns="0" rIns="0" bIns="0" rtlCol="0" anchor="t"/>
          <a:lstStyle/>
          <a:p>
            <a:pPr indent="0" marL="0">
              <a:buNone/>
            </a:pPr>
            <a:r>
              <a:rPr lang="en-US" sz="900" dirty="0">
                <a:solidFill>
                  <a:schemeClr val="tx2"/>
                </a:solidFill>
              </a:rPr>
              <a:t>Tampa General Hospital, CareComm: centro de comando que integra datos operativos y modelos predictivos de demanda.</a:t>
            </a:r>
            <a:endParaRPr lang="en-US" sz="900" dirty="0"/>
          </a:p>
        </p:txBody>
      </p:sp>
      <p:pic>
        <p:nvPicPr>
          <p:cNvPr id="32" name="icono-219" descr="preencoded.png">    </p:cNvPr>
          <p:cNvPicPr>
            <a:picLocks noChangeAspect="1"/>
          </p:cNvPicPr>
          <p:nvPr/>
        </p:nvPicPr>
        <p:blipFill>
          <a:blip r:embed="rId3"/>
          <a:stretch>
            <a:fillRect/>
          </a:stretch>
        </p:blipFill>
        <p:spPr>
          <a:xfrm>
            <a:off x="7961864" y="3801344"/>
            <a:ext cx="133137" cy="133137"/>
          </a:xfrm>
          <a:prstGeom prst="rect">
            <a:avLst/>
          </a:prstGeom>
        </p:spPr>
      </p:pic>
      <p:sp>
        <p:nvSpPr>
          <p:cNvPr id="33" name="referente-titulo-220"/>
          <p:cNvSpPr txBox="1"/>
          <p:nvPr/>
        </p:nvSpPr>
        <p:spPr>
          <a:xfrm>
            <a:off x="8238744" y="3730752"/>
            <a:ext cx="3495751" cy="219456"/>
          </a:xfrm>
          <a:prstGeom prst="rect">
            <a:avLst/>
          </a:prstGeom>
          <a:noFill/>
          <a:ln/>
        </p:spPr>
        <p:txBody>
          <a:bodyPr wrap="square" lIns="0" tIns="0" rIns="0" bIns="0" rtlCol="0" anchor="t"/>
          <a:lstStyle/>
          <a:p>
            <a:pPr indent="0" marL="0">
              <a:buNone/>
            </a:pPr>
            <a:r>
              <a:rPr lang="en-US" sz="1000" b="1" dirty="0">
                <a:solidFill>
                  <a:schemeClr val="tx1"/>
                </a:solidFill>
              </a:rPr>
              <a:t>Red federada OMOP</a:t>
            </a:r>
            <a:endParaRPr lang="en-US" sz="1000" dirty="0"/>
          </a:p>
        </p:txBody>
      </p:sp>
      <p:sp>
        <p:nvSpPr>
          <p:cNvPr id="34" name="referente-texto-221"/>
          <p:cNvSpPr txBox="1"/>
          <p:nvPr/>
        </p:nvSpPr>
        <p:spPr>
          <a:xfrm>
            <a:off x="8238744" y="3959352"/>
            <a:ext cx="3495751" cy="566928"/>
          </a:xfrm>
          <a:prstGeom prst="rect">
            <a:avLst/>
          </a:prstGeom>
          <a:noFill/>
          <a:ln/>
        </p:spPr>
        <p:txBody>
          <a:bodyPr wrap="square" lIns="0" tIns="0" rIns="0" bIns="0" rtlCol="0" anchor="t"/>
          <a:lstStyle/>
          <a:p>
            <a:pPr indent="0" marL="0">
              <a:buNone/>
            </a:pPr>
            <a:r>
              <a:rPr lang="en-US" sz="900" dirty="0">
                <a:solidFill>
                  <a:schemeClr val="tx2"/>
                </a:solidFill>
              </a:rPr>
              <a:t>EHDEN y OHDSI: 187 Data Partners en 29 países ejecutan análisis sin mover datos de pacientes.</a:t>
            </a:r>
            <a:endParaRPr lang="en-US" sz="900" dirty="0"/>
          </a:p>
        </p:txBody>
      </p:sp>
      <p:pic>
        <p:nvPicPr>
          <p:cNvPr id="35" name="icono-222" descr="preencoded.png">    </p:cNvPr>
          <p:cNvPicPr>
            <a:picLocks noChangeAspect="1"/>
          </p:cNvPicPr>
          <p:nvPr/>
        </p:nvPicPr>
        <p:blipFill>
          <a:blip r:embed="rId4"/>
          <a:stretch>
            <a:fillRect/>
          </a:stretch>
        </p:blipFill>
        <p:spPr>
          <a:xfrm>
            <a:off x="7961864" y="4688312"/>
            <a:ext cx="133137" cy="133137"/>
          </a:xfrm>
          <a:prstGeom prst="rect">
            <a:avLst/>
          </a:prstGeom>
        </p:spPr>
      </p:pic>
      <p:sp>
        <p:nvSpPr>
          <p:cNvPr id="36" name="referente-titulo-223"/>
          <p:cNvSpPr txBox="1"/>
          <p:nvPr/>
        </p:nvSpPr>
        <p:spPr>
          <a:xfrm>
            <a:off x="8238744" y="4617720"/>
            <a:ext cx="3495751" cy="219456"/>
          </a:xfrm>
          <a:prstGeom prst="rect">
            <a:avLst/>
          </a:prstGeom>
          <a:noFill/>
          <a:ln/>
        </p:spPr>
        <p:txBody>
          <a:bodyPr wrap="square" lIns="0" tIns="0" rIns="0" bIns="0" rtlCol="0" anchor="t"/>
          <a:lstStyle/>
          <a:p>
            <a:pPr indent="0" marL="0">
              <a:buNone/>
            </a:pPr>
            <a:r>
              <a:rPr lang="en-US" sz="1000" b="1" dirty="0">
                <a:solidFill>
                  <a:schemeClr val="tx1"/>
                </a:solidFill>
              </a:rPr>
              <a:t>Seguridad de equipos conectados</a:t>
            </a:r>
            <a:endParaRPr lang="en-US" sz="1000" dirty="0"/>
          </a:p>
        </p:txBody>
      </p:sp>
      <p:sp>
        <p:nvSpPr>
          <p:cNvPr id="37" name="referente-texto-224"/>
          <p:cNvSpPr txBox="1"/>
          <p:nvPr/>
        </p:nvSpPr>
        <p:spPr>
          <a:xfrm>
            <a:off x="8238744" y="4846320"/>
            <a:ext cx="3495751" cy="566928"/>
          </a:xfrm>
          <a:prstGeom prst="rect">
            <a:avLst/>
          </a:prstGeom>
          <a:noFill/>
          <a:ln/>
        </p:spPr>
        <p:txBody>
          <a:bodyPr wrap="square" lIns="0" tIns="0" rIns="0" bIns="0" rtlCol="0" anchor="t"/>
          <a:lstStyle/>
          <a:p>
            <a:pPr indent="0" marL="0">
              <a:buNone/>
            </a:pPr>
            <a:r>
              <a:rPr lang="en-US" sz="900" dirty="0">
                <a:solidFill>
                  <a:schemeClr val="tx2"/>
                </a:solidFill>
              </a:rPr>
              <a:t>Hospital Sírio-Libanês con NTT DATA y Claroty: inventario y monitoreo de dispositivos médicos y OT.</a:t>
            </a:r>
            <a:endParaRPr lang="en-US" sz="900" dirty="0"/>
          </a:p>
        </p:txBody>
      </p:sp>
      <p:pic>
        <p:nvPicPr>
          <p:cNvPr id="38" name="icono-225" descr="preencoded.png">    </p:cNvPr>
          <p:cNvPicPr>
            <a:picLocks noChangeAspect="1"/>
          </p:cNvPicPr>
          <p:nvPr/>
        </p:nvPicPr>
        <p:blipFill>
          <a:blip r:embed="rId5"/>
          <a:stretch>
            <a:fillRect/>
          </a:stretch>
        </p:blipFill>
        <p:spPr>
          <a:xfrm>
            <a:off x="7961864" y="5575280"/>
            <a:ext cx="133137" cy="133137"/>
          </a:xfrm>
          <a:prstGeom prst="rect">
            <a:avLst/>
          </a:prstGeom>
        </p:spPr>
      </p:pic>
      <p:sp>
        <p:nvSpPr>
          <p:cNvPr id="39" name="referente-titulo-226"/>
          <p:cNvSpPr txBox="1"/>
          <p:nvPr/>
        </p:nvSpPr>
        <p:spPr>
          <a:xfrm>
            <a:off x="8238744" y="5504688"/>
            <a:ext cx="3495751" cy="219456"/>
          </a:xfrm>
          <a:prstGeom prst="rect">
            <a:avLst/>
          </a:prstGeom>
          <a:noFill/>
          <a:ln/>
        </p:spPr>
        <p:txBody>
          <a:bodyPr wrap="square" lIns="0" tIns="0" rIns="0" bIns="0" rtlCol="0" anchor="t"/>
          <a:lstStyle/>
          <a:p>
            <a:pPr indent="0" marL="0">
              <a:buNone/>
            </a:pPr>
            <a:r>
              <a:rPr lang="en-US" sz="1000" b="1" dirty="0">
                <a:solidFill>
                  <a:schemeClr val="tx1"/>
                </a:solidFill>
              </a:rPr>
              <a:t>Física de la operación (fase posterior)</a:t>
            </a:r>
            <a:endParaRPr lang="en-US" sz="1000" dirty="0"/>
          </a:p>
        </p:txBody>
      </p:sp>
      <p:sp>
        <p:nvSpPr>
          <p:cNvPr id="40" name="referente-texto-227"/>
          <p:cNvSpPr txBox="1"/>
          <p:nvPr/>
        </p:nvSpPr>
        <p:spPr>
          <a:xfrm>
            <a:off x="8238744" y="5733288"/>
            <a:ext cx="3495751" cy="566928"/>
          </a:xfrm>
          <a:prstGeom prst="rect">
            <a:avLst/>
          </a:prstGeom>
          <a:noFill/>
          <a:ln/>
        </p:spPr>
        <p:txBody>
          <a:bodyPr wrap="square" lIns="0" tIns="0" rIns="0" bIns="0" rtlCol="0" anchor="t"/>
          <a:lstStyle/>
          <a:p>
            <a:pPr indent="0" marL="0">
              <a:buNone/>
            </a:pPr>
            <a:r>
              <a:rPr lang="en-US" sz="900" dirty="0">
                <a:solidFill>
                  <a:schemeClr val="tx2"/>
                </a:solidFill>
              </a:rPr>
              <a:t>Robots de logística clínica, como Moxi de Diligent Robotics, para tareas de transporte dentro de la sede.</a:t>
            </a:r>
            <a:endParaRPr lang="en-US" sz="9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Los parámetros sintéticos se apoyan en evidencia publicada y cada uno tiene una fuente de calibración definida en SURA</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La demostración usa valores plausibles; la fase de calibración los reemplaza por datos agregados de la población de SURA.</a:t>
            </a:r>
            <a:endParaRPr lang="en-US" sz="1250" dirty="0"/>
          </a:p>
        </p:txBody>
      </p:sp>
      <p:graphicFrame>
        <p:nvGraphicFramePr>
          <p:cNvPr id="13" name="tabla-supuestos"/>
          <p:cNvGraphicFramePr>
            <a:graphicFrameLocks noGrp="1"/>
          </p:cNvGraphicFramePr>
          <p:nvPr>
            <p:extLst>
              <p:ext uri="{D42A27DB-BD31-4B8C-83A1-F6EECF244321}">
                <p14:modId xmlns:p14="http://schemas.microsoft.com/office/powerpoint/2010/main" val="1579011935"/>
              </p:ext>
            </p:extLst>
          </p:nvPr>
        </p:nvGraphicFramePr>
        <p:xfrm>
          <a:off x="457200" y="1673352"/>
          <a:ext cx="11277295" cy="914400"/>
        </p:xfrm>
        <a:graphic>
          <a:graphicData uri="http://schemas.openxmlformats.org/drawingml/2006/table">
            <a:tbl>
              <a:tblPr/>
              <a:tblGrid>
                <a:gridCol w="2148840"/>
                <a:gridCol w="3520440"/>
                <a:gridCol w="2880360"/>
                <a:gridCol w="2727655"/>
              </a:tblGrid>
              <a:tr h="310896">
                <a:tc>
                  <a:txBody>
                    <a:bodyPr/>
                    <a:lstStyle/>
                    <a:p>
                      <a:pPr indent="0" marL="0">
                        <a:buNone/>
                      </a:pPr>
                      <a:r>
                        <a:rPr lang="en-US" sz="900" b="1" dirty="0">
                          <a:solidFill>
                            <a:schemeClr val="bg1"/>
                          </a:solidFill>
                          <a:latin typeface="Arial" pitchFamily="34" charset="0"/>
                          <a:ea typeface="Arial" pitchFamily="34" charset="-122"/>
                          <a:cs typeface="Arial" pitchFamily="34" charset="-120"/>
                        </a:rPr>
                        <a:t>Parámetro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900" b="1" dirty="0">
                          <a:solidFill>
                            <a:schemeClr val="bg1"/>
                          </a:solidFill>
                          <a:latin typeface="Arial" pitchFamily="34" charset="0"/>
                          <a:ea typeface="Arial" pitchFamily="34" charset="-122"/>
                          <a:cs typeface="Arial" pitchFamily="34" charset="-120"/>
                        </a:rPr>
                        <a:t>Valor en la demostración</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900" b="1" dirty="0">
                          <a:solidFill>
                            <a:schemeClr val="bg1"/>
                          </a:solidFill>
                          <a:latin typeface="Arial" pitchFamily="34" charset="0"/>
                          <a:ea typeface="Arial" pitchFamily="34" charset="-122"/>
                          <a:cs typeface="Arial" pitchFamily="34" charset="-120"/>
                        </a:rPr>
                        <a:t>Base de evidencia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chemeClr val="tx1"/>
                    </a:solidFill>
                  </a:tcPr>
                </a:tc>
                <a:tc>
                  <a:txBody>
                    <a:bodyPr/>
                    <a:lstStyle/>
                    <a:p>
                      <a:pPr indent="0" marL="0">
                        <a:buNone/>
                      </a:pPr>
                      <a:r>
                        <a:rPr lang="en-US" sz="900" b="1" dirty="0">
                          <a:solidFill>
                            <a:schemeClr val="bg1"/>
                          </a:solidFill>
                          <a:latin typeface="Arial" pitchFamily="34" charset="0"/>
                          <a:ea typeface="Arial" pitchFamily="34" charset="-122"/>
                          <a:cs typeface="Arial" pitchFamily="34" charset="-120"/>
                        </a:rPr>
                        <a:t>Calibración en SURA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solidFill>
                      <a:schemeClr val="tx1"/>
                    </a:solidFill>
                  </a:tcPr>
                </a:tc>
              </a:tr>
              <a:tr h="457200">
                <a:tc>
                  <a:txBody>
                    <a:bodyPr/>
                    <a:lstStyle/>
                    <a:p>
                      <a:pPr indent="0" marL="0">
                        <a:buNone/>
                      </a:pPr>
                      <a:r>
                        <a:rPr lang="en-US" sz="900" b="1" dirty="0">
                          <a:solidFill>
                            <a:schemeClr val="tx1"/>
                          </a:solidFill>
                          <a:latin typeface="Arial" pitchFamily="34" charset="0"/>
                          <a:ea typeface="Arial" pitchFamily="34" charset="-122"/>
                          <a:cs typeface="Arial" pitchFamily="34" charset="-120"/>
                        </a:rPr>
                        <a:t>Prevalencia por cohorte</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HTA 14,0 %, DM2 5,0 %, ERC G3a–G4 y EPOC 1,5 %, IC 1,2 % de adultos; 18 perfiles de multimorbilidad</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Cuenta de Alto Costo, Encuesta Nacional de Salud, PREPOCOL</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Cohortes y registros CAC de EPS SURA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457200">
                <a:tc>
                  <a:txBody>
                    <a:bodyPr/>
                    <a:lstStyle/>
                    <a:p>
                      <a:pPr indent="0" marL="0">
                        <a:buNone/>
                      </a:pPr>
                      <a:r>
                        <a:rPr lang="en-US" sz="900" b="1" dirty="0">
                          <a:solidFill>
                            <a:schemeClr val="tx1"/>
                          </a:solidFill>
                          <a:latin typeface="Arial" pitchFamily="34" charset="0"/>
                          <a:ea typeface="Arial" pitchFamily="34" charset="-122"/>
                          <a:cs typeface="Arial" pitchFamily="34" charset="-120"/>
                        </a:rPr>
                        <a:t>Estratos y transiciones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Cuatro estratos por cohorte con criterios KDIGO, GOLD y NYHA; matrices anuales con y sin gestión</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Historia natural publicada y juicio clínico experto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Trayectorias observadas en OMOP, 12 a 24 meses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Efecto de la gestión del riesgo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Efecto residual por estrato con distribución PERT</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Kruis 2013, Lenferink 2017, McAlister 2004, Tricco 2012</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Cohortes con y sin programa, ajustadas por riesgo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Fracción CSCA de hospitalizaciones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25 % a 55 % según cohorte</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AHRQ Prevention Quality Indicators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Egresos por diagnóstico principal</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Desvío a canal virtual y retorno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Proporción por tipo de atención con fuga a consulta presencial</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Inglis 2015, Tucker 2017, Janjua 2021</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Registros de teleconsulta y desenlace</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Colas y backlog</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Erlang C con ajuste de Allen-Cunneen; backlog diario con 120 réplicas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Teoría de colas para servicios de salud</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Agenda, admisión y tiempos de servicio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Inasistencia y sobreagenda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14 % a 18 % por sede; recordatorios restan 4 puntos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Supuesto sintético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Agenda por sede y franja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Metas de servicio</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Oportunidad de 3 días para consulta externa; esperas por zona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Resolución 1552 de 2013; metas de zona supuestas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Definición de SURA por zona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r h="384048">
                <a:tc>
                  <a:txBody>
                    <a:bodyPr/>
                    <a:lstStyle/>
                    <a:p>
                      <a:pPr indent="0" marL="0">
                        <a:buNone/>
                      </a:pPr>
                      <a:r>
                        <a:rPr lang="en-US" sz="900" b="1" dirty="0">
                          <a:solidFill>
                            <a:schemeClr val="tx1"/>
                          </a:solidFill>
                          <a:latin typeface="Arial" pitchFamily="34" charset="0"/>
                          <a:ea typeface="Arial" pitchFamily="34" charset="-122"/>
                          <a:cs typeface="Arial" pitchFamily="34" charset="-120"/>
                        </a:rPr>
                        <a:t>Calendario y costos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2027 con 18 festivos y sábado de media jornada; costos unitarios sintéticos</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accent4"/>
                          </a:solidFill>
                          <a:latin typeface="Arial" pitchFamily="34" charset="0"/>
                          <a:ea typeface="Arial" pitchFamily="34" charset="-122"/>
                          <a:cs typeface="Arial" pitchFamily="34" charset="-120"/>
                        </a:rPr>
                        <a:t>Calendario oficial de Colombia</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c>
                  <a:txBody>
                    <a:bodyPr/>
                    <a:lstStyle/>
                    <a:p>
                      <a:pPr indent="0" marL="0">
                        <a:buNone/>
                      </a:pPr>
                      <a:r>
                        <a:rPr lang="en-US" sz="900" dirty="0">
                          <a:solidFill>
                            <a:schemeClr val="tx1"/>
                          </a:solidFill>
                          <a:latin typeface="Arial" pitchFamily="34" charset="0"/>
                          <a:ea typeface="Arial" pitchFamily="34" charset="-122"/>
                          <a:cs typeface="Arial" pitchFamily="34" charset="-120"/>
                        </a:rPr>
                        <a:t>Tarifas, UPC y costos por canal</a:t>
                      </a:r>
                      <a:endParaRPr lang="en-US" sz="900" dirty="0">
                        <a:latin typeface="Arial" charset="0"/>
                        <a:ea typeface="Arial" charset="0"/>
                        <a:cs typeface="Arial" charset="0"/>
                      </a:endParaRPr>
                    </a:p>
                  </a:txBody>
                  <a:tcPr marL="76200" marR="76200" marT="38100" marB="38100" anchor="ctr">
                    <a:lnL w="6350" cap="flat" cmpd="sng" algn="ctr">
                      <a:solidFill>
                        <a:srgbClr val="D5DCE5"/>
                      </a:solidFill>
                      <a:prstDash val="solid"/>
                      <a:round/>
                      <a:headEnd type="none" w="med" len="med"/>
                      <a:tailEnd type="none" w="med" len="med"/>
                    </a:lnL>
                    <a:lnR w="6350" cap="flat" cmpd="sng" algn="ctr">
                      <a:solidFill>
                        <a:srgbClr val="D5DCE5"/>
                      </a:solidFill>
                      <a:prstDash val="solid"/>
                      <a:round/>
                      <a:headEnd type="none" w="med" len="med"/>
                      <a:tailEnd type="none" w="med" len="med"/>
                    </a:lnR>
                    <a:lnT w="6350" cap="flat" cmpd="sng" algn="ctr">
                      <a:solidFill>
                        <a:srgbClr val="D5DCE5"/>
                      </a:solidFill>
                      <a:prstDash val="solid"/>
                      <a:round/>
                      <a:headEnd type="none" w="med" len="med"/>
                      <a:tailEnd type="none" w="med" len="med"/>
                    </a:lnT>
                    <a:lnB w="6350" cap="flat" cmpd="sng" algn="ctr">
                      <a:solidFill>
                        <a:srgbClr val="D5DCE5"/>
                      </a:solidFill>
                      <a:prstDash val="solid"/>
                      <a:round/>
                      <a:headEnd type="none" w="med" len="med"/>
                      <a:tailEnd type="none" w="med" len="med"/>
                    </a:lnB>
                  </a:tcPr>
                </a:tc>
              </a:tr>
            </a:tbl>
          </a:graphicData>
        </a:graphic>
      </p:graphicFrame>
      <p:sp>
        <p:nvSpPr>
          <p:cNvPr id="5" name="referencias-228"/>
          <p:cNvSpPr txBox="1"/>
          <p:nvPr/>
        </p:nvSpPr>
        <p:spPr>
          <a:xfrm>
            <a:off x="457200" y="5870448"/>
            <a:ext cx="11277295" cy="384048"/>
          </a:xfrm>
          <a:prstGeom prst="rect">
            <a:avLst/>
          </a:prstGeom>
          <a:noFill/>
          <a:ln/>
        </p:spPr>
        <p:txBody>
          <a:bodyPr wrap="square" lIns="0" tIns="0" rIns="0" bIns="0" rtlCol="0" anchor="t"/>
          <a:lstStyle/>
          <a:p>
            <a:pPr indent="0" marL="0">
              <a:buNone/>
            </a:pPr>
            <a:r>
              <a:rPr lang="en-US" sz="800" dirty="0">
                <a:solidFill>
                  <a:schemeClr val="tx2"/>
                </a:solidFill>
              </a:rPr>
              <a:t>Kruis et al., Cochrane 2013 (EPOC); Lenferink et al., Cochrane 2017 (autogestión en EPOC); McAlister et al., JACC 2004 (IC); Tricco et al., Lancet 2012 (DM2); Inglis et al., Cochrane 2015 (telemonitoreo en IC); Tucker et al., PLoS Med 2017 (automonitoreo de presión arterial); Janjua et al., Cochrane 2021 (telemonitoreo en EPOC).</a:t>
            </a:r>
            <a:endParaRPr lang="en-US" sz="8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841248"/>
          </a:xfrm>
          <a:prstGeom prst="rect">
            <a:avLst/>
          </a:prstGeom>
          <a:noFill/>
          <a:ln/>
        </p:spPr>
        <p:txBody>
          <a:bodyPr wrap="square" lIns="0" tIns="0" rIns="0" bIns="0" rtlCol="0" anchor="t"/>
          <a:lstStyle/>
          <a:p>
            <a:pPr algn="l" indent="0" marL="0">
              <a:lnSpc>
                <a:spcPct val="95000"/>
              </a:lnSpc>
              <a:buNone/>
            </a:pPr>
            <a:r>
              <a:rPr lang="en-US" sz="2300" b="1" dirty="0">
                <a:solidFill>
                  <a:schemeClr val="tx1"/>
                </a:solidFill>
              </a:rPr>
              <a:t>La hoja de ruta lleva el modelo a sombra digital en dos sedes y a gemelo con cierre de ciclo en el Release 1.0</a:t>
            </a:r>
            <a:endParaRPr lang="en-US" sz="2300" dirty="0"/>
          </a:p>
        </p:txBody>
      </p:sp>
      <p:sp>
        <p:nvSpPr>
          <p:cNvPr id="3" name="Text 0"/>
          <p:cNvSpPr/>
          <p:nvPr>
            <p:ph idx="101" type="body" hasCustomPrompt="1"/>
          </p:nvPr>
        </p:nvSpPr>
        <p:spPr>
          <a:xfrm>
            <a:off x="457200" y="1133856"/>
            <a:ext cx="11277295" cy="384048"/>
          </a:xfrm>
          <a:prstGeom prst="rect">
            <a:avLst/>
          </a:prstGeom>
          <a:noFill/>
          <a:ln/>
        </p:spPr>
        <p:txBody>
          <a:bodyPr wrap="square" lIns="0" tIns="0" rIns="0" bIns="0" rtlCol="0" anchor="t"/>
          <a:lstStyle/>
          <a:p>
            <a:pPr algn="l" indent="0" marL="0">
              <a:buNone/>
            </a:pPr>
            <a:r>
              <a:rPr lang="en-US" sz="1250" dirty="0">
                <a:solidFill>
                  <a:schemeClr val="tx2"/>
                </a:solidFill>
              </a:rPr>
              <a:t>Cada fase termina con un criterio de avance medible; las duraciones son estimadas y se ajustan con el acceso a datos.</a:t>
            </a:r>
            <a:endParaRPr lang="en-US" sz="1250" dirty="0"/>
          </a:p>
        </p:txBody>
      </p:sp>
      <p:sp>
        <p:nvSpPr>
          <p:cNvPr id="4" name="linea-tiempo"/>
          <p:cNvSpPr/>
          <p:nvPr/>
        </p:nvSpPr>
        <p:spPr>
          <a:xfrm>
            <a:off x="640080" y="1901952"/>
            <a:ext cx="10911535" cy="0"/>
          </a:xfrm>
          <a:prstGeom prst="line">
            <a:avLst/>
          </a:prstGeom>
          <a:noFill/>
          <a:ln w="19050">
            <a:solidFill>
              <a:srgbClr val="D5DCE5"/>
            </a:solidFill>
            <a:prstDash val="solid"/>
          </a:ln>
        </p:spPr>
      </p:sp>
      <p:sp>
        <p:nvSpPr>
          <p:cNvPr id="5" name="insignia-229"/>
          <p:cNvSpPr/>
          <p:nvPr/>
        </p:nvSpPr>
        <p:spPr>
          <a:xfrm>
            <a:off x="502920" y="1746504"/>
            <a:ext cx="329184" cy="329184"/>
          </a:xfrm>
          <a:prstGeom prst="ellipse">
            <a:avLst/>
          </a:prstGeom>
          <a:solidFill>
            <a:schemeClr val="accent1"/>
          </a:solidFill>
          <a:ln/>
        </p:spPr>
      </p:sp>
      <p:sp>
        <p:nvSpPr>
          <p:cNvPr id="6" name="insignia-texto-230"/>
          <p:cNvSpPr txBox="1"/>
          <p:nvPr/>
        </p:nvSpPr>
        <p:spPr>
          <a:xfrm>
            <a:off x="502920" y="174650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0</a:t>
            </a:r>
            <a:endParaRPr lang="en-US" sz="1100" dirty="0"/>
          </a:p>
        </p:txBody>
      </p:sp>
      <p:sp>
        <p:nvSpPr>
          <p:cNvPr id="7" name="duracion-231"/>
          <p:cNvSpPr txBox="1"/>
          <p:nvPr/>
        </p:nvSpPr>
        <p:spPr>
          <a:xfrm>
            <a:off x="914400" y="1792224"/>
            <a:ext cx="2190674" cy="228600"/>
          </a:xfrm>
          <a:prstGeom prst="rect">
            <a:avLst/>
          </a:prstGeom>
          <a:noFill/>
          <a:ln/>
        </p:spPr>
        <p:txBody>
          <a:bodyPr wrap="square" lIns="0" tIns="0" rIns="0" bIns="0" rtlCol="0" anchor="t"/>
          <a:lstStyle/>
          <a:p>
            <a:pPr indent="0" marL="0">
              <a:buNone/>
            </a:pPr>
            <a:r>
              <a:rPr lang="en-US" sz="900" dirty="0">
                <a:solidFill>
                  <a:schemeClr val="tx2"/>
                </a:solidFill>
              </a:rPr>
              <a:t>6 a 8 semanas</a:t>
            </a:r>
            <a:endParaRPr lang="en-US" sz="900" dirty="0"/>
          </a:p>
        </p:txBody>
      </p:sp>
      <p:sp>
        <p:nvSpPr>
          <p:cNvPr id="8" name="fase-232"/>
          <p:cNvSpPr/>
          <p:nvPr/>
        </p:nvSpPr>
        <p:spPr>
          <a:xfrm>
            <a:off x="457200" y="2221992"/>
            <a:ext cx="2647874" cy="3246120"/>
          </a:xfrm>
          <a:prstGeom prst="roundRect">
            <a:avLst>
              <a:gd name="adj" fmla="val 2417"/>
            </a:avLst>
          </a:prstGeom>
          <a:solidFill>
            <a:srgbClr val="FFFFFF"/>
          </a:solidFill>
          <a:ln w="9525">
            <a:solidFill>
              <a:srgbClr val="D5DCE5"/>
            </a:solidFill>
            <a:prstDash val="solid"/>
          </a:ln>
        </p:spPr>
      </p:sp>
      <p:sp>
        <p:nvSpPr>
          <p:cNvPr id="9" name="fase-etiqueta-233"/>
          <p:cNvSpPr txBox="1"/>
          <p:nvPr/>
        </p:nvSpPr>
        <p:spPr>
          <a:xfrm>
            <a:off x="640080" y="2377440"/>
            <a:ext cx="2282114" cy="201168"/>
          </a:xfrm>
          <a:prstGeom prst="rect">
            <a:avLst/>
          </a:prstGeom>
          <a:noFill/>
          <a:ln/>
        </p:spPr>
        <p:txBody>
          <a:bodyPr wrap="square" lIns="0" tIns="0" rIns="0" bIns="0" rtlCol="0" anchor="t"/>
          <a:lstStyle/>
          <a:p>
            <a:pPr indent="0" marL="0">
              <a:buNone/>
            </a:pPr>
            <a:r>
              <a:rPr lang="en-US" sz="850" b="1" spc="50" kern="0" dirty="0">
                <a:solidFill>
                  <a:schemeClr val="accent1"/>
                </a:solidFill>
              </a:rPr>
              <a:t>FASE 0</a:t>
            </a:r>
            <a:endParaRPr lang="en-US" sz="850" dirty="0"/>
          </a:p>
        </p:txBody>
      </p:sp>
      <p:sp>
        <p:nvSpPr>
          <p:cNvPr id="10" name="fase-titulo-234"/>
          <p:cNvSpPr txBox="1"/>
          <p:nvPr/>
        </p:nvSpPr>
        <p:spPr>
          <a:xfrm>
            <a:off x="640080" y="2587752"/>
            <a:ext cx="2282114" cy="292608"/>
          </a:xfrm>
          <a:prstGeom prst="rect">
            <a:avLst/>
          </a:prstGeom>
          <a:noFill/>
          <a:ln/>
        </p:spPr>
        <p:txBody>
          <a:bodyPr wrap="square" lIns="0" tIns="0" rIns="0" bIns="0" rtlCol="0" anchor="t"/>
          <a:lstStyle/>
          <a:p>
            <a:pPr indent="0" marL="0">
              <a:buNone/>
            </a:pPr>
            <a:r>
              <a:rPr lang="en-US" sz="1300" b="1" dirty="0">
                <a:solidFill>
                  <a:schemeClr val="tx1"/>
                </a:solidFill>
              </a:rPr>
              <a:t>Calibración</a:t>
            </a:r>
            <a:endParaRPr lang="en-US" sz="1300" dirty="0"/>
          </a:p>
        </p:txBody>
      </p:sp>
      <p:sp>
        <p:nvSpPr>
          <p:cNvPr id="11" name="fase-entregables-235"/>
          <p:cNvSpPr txBox="1"/>
          <p:nvPr/>
        </p:nvSpPr>
        <p:spPr>
          <a:xfrm>
            <a:off x="640080" y="2980944"/>
            <a:ext cx="2282114" cy="128016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chemeClr val="tx1"/>
                </a:solidFill>
              </a:rPr>
              <a:t>Dos sedes y cinco cohortes priorizadas</a:t>
            </a:r>
            <a:endParaRPr lang="en-US" sz="950" dirty="0"/>
          </a:p>
          <a:p>
            <a:pPr marL="152400" indent="-152400">
              <a:spcAft>
                <a:spcPts val="500"/>
              </a:spcAft>
              <a:buSzPct val="100000"/>
              <a:buChar char="•"/>
            </a:pPr>
            <a:r>
              <a:rPr lang="en-US" sz="950" dirty="0">
                <a:solidFill>
                  <a:schemeClr val="tx1"/>
                </a:solidFill>
              </a:rPr>
              <a:t>Agregados federados por celda y mes</a:t>
            </a:r>
            <a:endParaRPr lang="en-US" sz="950" dirty="0"/>
          </a:p>
          <a:p>
            <a:pPr marL="152400" indent="-152400">
              <a:spcAft>
                <a:spcPts val="500"/>
              </a:spcAft>
              <a:buSzPct val="100000"/>
              <a:buChar char="•"/>
            </a:pPr>
            <a:r>
              <a:rPr lang="en-US" sz="950" dirty="0">
                <a:solidFill>
                  <a:schemeClr val="tx1"/>
                </a:solidFill>
              </a:rPr>
              <a:t>Parámetros de transición, tasas y zonas</a:t>
            </a:r>
            <a:endParaRPr lang="en-US" sz="950" dirty="0"/>
          </a:p>
          <a:p>
            <a:pPr marL="152400" indent="-152400">
              <a:spcAft>
                <a:spcPts val="500"/>
              </a:spcAft>
              <a:buSzPct val="100000"/>
              <a:buChar char="•"/>
            </a:pPr>
            <a:r>
              <a:rPr lang="en-US" sz="950" dirty="0">
                <a:solidFill>
                  <a:schemeClr val="tx1"/>
                </a:solidFill>
              </a:rPr>
              <a:t>Backtest de 12 meses por zona</a:t>
            </a:r>
            <a:endParaRPr lang="en-US" sz="950" dirty="0"/>
          </a:p>
        </p:txBody>
      </p:sp>
      <p:sp>
        <p:nvSpPr>
          <p:cNvPr id="12" name="criterio-236"/>
          <p:cNvSpPr/>
          <p:nvPr/>
        </p:nvSpPr>
        <p:spPr>
          <a:xfrm>
            <a:off x="594360" y="4389120"/>
            <a:ext cx="2373554" cy="941832"/>
          </a:xfrm>
          <a:prstGeom prst="roundRect">
            <a:avLst>
              <a:gd name="adj" fmla="val 6796"/>
            </a:avLst>
          </a:prstGeom>
          <a:solidFill>
            <a:schemeClr val="accent1">
              <a:alpha val="12000"/>
            </a:schemeClr>
          </a:solidFill>
          <a:ln/>
        </p:spPr>
      </p:sp>
      <p:sp>
        <p:nvSpPr>
          <p:cNvPr id="13" name="criterio-etiqueta-237"/>
          <p:cNvSpPr txBox="1"/>
          <p:nvPr/>
        </p:nvSpPr>
        <p:spPr>
          <a:xfrm>
            <a:off x="731520" y="4498848"/>
            <a:ext cx="2099234" cy="182880"/>
          </a:xfrm>
          <a:prstGeom prst="rect">
            <a:avLst/>
          </a:prstGeom>
          <a:noFill/>
          <a:ln/>
        </p:spPr>
        <p:txBody>
          <a:bodyPr wrap="square" lIns="0" tIns="0" rIns="0" bIns="0" rtlCol="0" anchor="t"/>
          <a:lstStyle/>
          <a:p>
            <a:pPr indent="0" marL="0">
              <a:buNone/>
            </a:pPr>
            <a:r>
              <a:rPr lang="en-US" sz="750" b="1" dirty="0">
                <a:solidFill>
                  <a:schemeClr val="accent1"/>
                </a:solidFill>
              </a:rPr>
              <a:t>CRITERIO DE AVANCE</a:t>
            </a:r>
            <a:endParaRPr lang="en-US" sz="750" dirty="0"/>
          </a:p>
        </p:txBody>
      </p:sp>
      <p:sp>
        <p:nvSpPr>
          <p:cNvPr id="14" name="criterio-texto-238"/>
          <p:cNvSpPr txBox="1"/>
          <p:nvPr/>
        </p:nvSpPr>
        <p:spPr>
          <a:xfrm>
            <a:off x="731520" y="4709160"/>
            <a:ext cx="2099234" cy="548640"/>
          </a:xfrm>
          <a:prstGeom prst="rect">
            <a:avLst/>
          </a:prstGeom>
          <a:noFill/>
          <a:ln/>
        </p:spPr>
        <p:txBody>
          <a:bodyPr wrap="square" lIns="0" tIns="0" rIns="0" bIns="0" rtlCol="0" anchor="t"/>
          <a:lstStyle/>
          <a:p>
            <a:pPr indent="0" marL="0">
              <a:buNone/>
            </a:pPr>
            <a:r>
              <a:rPr lang="en-US" sz="1000" b="1" dirty="0">
                <a:solidFill>
                  <a:schemeClr val="tx1"/>
                </a:solidFill>
              </a:rPr>
              <a:t>WAPE mensual por zona ≤ 15 %</a:t>
            </a:r>
            <a:endParaRPr lang="en-US" sz="1000" dirty="0"/>
          </a:p>
        </p:txBody>
      </p:sp>
      <p:sp>
        <p:nvSpPr>
          <p:cNvPr id="15" name="insignia-239"/>
          <p:cNvSpPr/>
          <p:nvPr/>
        </p:nvSpPr>
        <p:spPr>
          <a:xfrm>
            <a:off x="3379394" y="1746504"/>
            <a:ext cx="329184" cy="329184"/>
          </a:xfrm>
          <a:prstGeom prst="ellipse">
            <a:avLst/>
          </a:prstGeom>
          <a:solidFill>
            <a:schemeClr val="accent3"/>
          </a:solidFill>
          <a:ln/>
        </p:spPr>
      </p:sp>
      <p:sp>
        <p:nvSpPr>
          <p:cNvPr id="16" name="insignia-texto-240"/>
          <p:cNvSpPr txBox="1"/>
          <p:nvPr/>
        </p:nvSpPr>
        <p:spPr>
          <a:xfrm>
            <a:off x="3379394" y="174650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7" name="duracion-241"/>
          <p:cNvSpPr txBox="1"/>
          <p:nvPr/>
        </p:nvSpPr>
        <p:spPr>
          <a:xfrm>
            <a:off x="3790874" y="1792224"/>
            <a:ext cx="2190674" cy="228600"/>
          </a:xfrm>
          <a:prstGeom prst="rect">
            <a:avLst/>
          </a:prstGeom>
          <a:noFill/>
          <a:ln/>
        </p:spPr>
        <p:txBody>
          <a:bodyPr wrap="square" lIns="0" tIns="0" rIns="0" bIns="0" rtlCol="0" anchor="t"/>
          <a:lstStyle/>
          <a:p>
            <a:pPr indent="0" marL="0">
              <a:buNone/>
            </a:pPr>
            <a:r>
              <a:rPr lang="en-US" sz="900" dirty="0">
                <a:solidFill>
                  <a:schemeClr val="tx2"/>
                </a:solidFill>
              </a:rPr>
              <a:t>3 meses</a:t>
            </a:r>
            <a:endParaRPr lang="en-US" sz="900" dirty="0"/>
          </a:p>
        </p:txBody>
      </p:sp>
      <p:sp>
        <p:nvSpPr>
          <p:cNvPr id="18" name="fase-242"/>
          <p:cNvSpPr/>
          <p:nvPr/>
        </p:nvSpPr>
        <p:spPr>
          <a:xfrm>
            <a:off x="3333674" y="2221992"/>
            <a:ext cx="2647874" cy="3246120"/>
          </a:xfrm>
          <a:prstGeom prst="roundRect">
            <a:avLst>
              <a:gd name="adj" fmla="val 2417"/>
            </a:avLst>
          </a:prstGeom>
          <a:solidFill>
            <a:srgbClr val="FFFFFF"/>
          </a:solidFill>
          <a:ln w="9525">
            <a:solidFill>
              <a:srgbClr val="D5DCE5"/>
            </a:solidFill>
            <a:prstDash val="solid"/>
          </a:ln>
        </p:spPr>
      </p:sp>
      <p:sp>
        <p:nvSpPr>
          <p:cNvPr id="19" name="fase-etiqueta-243"/>
          <p:cNvSpPr txBox="1"/>
          <p:nvPr/>
        </p:nvSpPr>
        <p:spPr>
          <a:xfrm>
            <a:off x="3516554" y="2377440"/>
            <a:ext cx="2282114" cy="201168"/>
          </a:xfrm>
          <a:prstGeom prst="rect">
            <a:avLst/>
          </a:prstGeom>
          <a:noFill/>
          <a:ln/>
        </p:spPr>
        <p:txBody>
          <a:bodyPr wrap="square" lIns="0" tIns="0" rIns="0" bIns="0" rtlCol="0" anchor="t"/>
          <a:lstStyle/>
          <a:p>
            <a:pPr indent="0" marL="0">
              <a:buNone/>
            </a:pPr>
            <a:r>
              <a:rPr lang="en-US" sz="850" b="1" spc="50" kern="0" dirty="0">
                <a:solidFill>
                  <a:schemeClr val="accent3"/>
                </a:solidFill>
              </a:rPr>
              <a:t>FASE 1</a:t>
            </a:r>
            <a:endParaRPr lang="en-US" sz="850" dirty="0"/>
          </a:p>
        </p:txBody>
      </p:sp>
      <p:sp>
        <p:nvSpPr>
          <p:cNvPr id="20" name="fase-titulo-244"/>
          <p:cNvSpPr txBox="1"/>
          <p:nvPr/>
        </p:nvSpPr>
        <p:spPr>
          <a:xfrm>
            <a:off x="3516554" y="2587752"/>
            <a:ext cx="2282114" cy="292608"/>
          </a:xfrm>
          <a:prstGeom prst="rect">
            <a:avLst/>
          </a:prstGeom>
          <a:noFill/>
          <a:ln/>
        </p:spPr>
        <p:txBody>
          <a:bodyPr wrap="square" lIns="0" tIns="0" rIns="0" bIns="0" rtlCol="0" anchor="t"/>
          <a:lstStyle/>
          <a:p>
            <a:pPr indent="0" marL="0">
              <a:buNone/>
            </a:pPr>
            <a:r>
              <a:rPr lang="en-US" sz="1300" b="1" dirty="0">
                <a:solidFill>
                  <a:schemeClr val="tx1"/>
                </a:solidFill>
              </a:rPr>
              <a:t>Sombra digital</a:t>
            </a:r>
            <a:endParaRPr lang="en-US" sz="1300" dirty="0"/>
          </a:p>
        </p:txBody>
      </p:sp>
      <p:sp>
        <p:nvSpPr>
          <p:cNvPr id="21" name="fase-entregables-245"/>
          <p:cNvSpPr txBox="1"/>
          <p:nvPr/>
        </p:nvSpPr>
        <p:spPr>
          <a:xfrm>
            <a:off x="3516554" y="2980944"/>
            <a:ext cx="2282114" cy="128016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chemeClr val="tx1"/>
                </a:solidFill>
              </a:rPr>
              <a:t>Eventos de agenda por FHIR Subscriptions</a:t>
            </a:r>
            <a:endParaRPr lang="en-US" sz="950" dirty="0"/>
          </a:p>
          <a:p>
            <a:pPr marL="152400" indent="-152400">
              <a:spcAft>
                <a:spcPts val="500"/>
              </a:spcAft>
              <a:buSzPct val="100000"/>
              <a:buChar char="•"/>
            </a:pPr>
            <a:r>
              <a:rPr lang="en-US" sz="950" dirty="0">
                <a:solidFill>
                  <a:schemeClr val="tx1"/>
                </a:solidFill>
              </a:rPr>
              <a:t>Estado de zonas en el espacio de nombres unificado</a:t>
            </a:r>
            <a:endParaRPr lang="en-US" sz="950" dirty="0"/>
          </a:p>
          <a:p>
            <a:pPr marL="152400" indent="-152400">
              <a:spcAft>
                <a:spcPts val="500"/>
              </a:spcAft>
              <a:buSzPct val="100000"/>
              <a:buChar char="•"/>
            </a:pPr>
            <a:r>
              <a:rPr lang="en-US" sz="950" dirty="0">
                <a:solidFill>
                  <a:schemeClr val="tx1"/>
                </a:solidFill>
              </a:rPr>
              <a:t>Actualización diaria del portal</a:t>
            </a:r>
            <a:endParaRPr lang="en-US" sz="950" dirty="0"/>
          </a:p>
          <a:p>
            <a:pPr marL="152400" indent="-152400">
              <a:spcAft>
                <a:spcPts val="500"/>
              </a:spcAft>
              <a:buSzPct val="100000"/>
              <a:buChar char="•"/>
            </a:pPr>
            <a:r>
              <a:rPr lang="en-US" sz="950" dirty="0">
                <a:solidFill>
                  <a:schemeClr val="tx1"/>
                </a:solidFill>
              </a:rPr>
              <a:t>Indicadores de salud del modelo</a:t>
            </a:r>
            <a:endParaRPr lang="en-US" sz="950" dirty="0"/>
          </a:p>
        </p:txBody>
      </p:sp>
      <p:sp>
        <p:nvSpPr>
          <p:cNvPr id="22" name="criterio-246"/>
          <p:cNvSpPr/>
          <p:nvPr/>
        </p:nvSpPr>
        <p:spPr>
          <a:xfrm>
            <a:off x="3470834" y="4389120"/>
            <a:ext cx="2373554" cy="941832"/>
          </a:xfrm>
          <a:prstGeom prst="roundRect">
            <a:avLst>
              <a:gd name="adj" fmla="val 6796"/>
            </a:avLst>
          </a:prstGeom>
          <a:solidFill>
            <a:schemeClr val="accent3">
              <a:alpha val="12000"/>
            </a:schemeClr>
          </a:solidFill>
          <a:ln/>
        </p:spPr>
      </p:sp>
      <p:sp>
        <p:nvSpPr>
          <p:cNvPr id="23" name="criterio-etiqueta-247"/>
          <p:cNvSpPr txBox="1"/>
          <p:nvPr/>
        </p:nvSpPr>
        <p:spPr>
          <a:xfrm>
            <a:off x="3607994" y="4498848"/>
            <a:ext cx="2099234" cy="182880"/>
          </a:xfrm>
          <a:prstGeom prst="rect">
            <a:avLst/>
          </a:prstGeom>
          <a:noFill/>
          <a:ln/>
        </p:spPr>
        <p:txBody>
          <a:bodyPr wrap="square" lIns="0" tIns="0" rIns="0" bIns="0" rtlCol="0" anchor="t"/>
          <a:lstStyle/>
          <a:p>
            <a:pPr indent="0" marL="0">
              <a:buNone/>
            </a:pPr>
            <a:r>
              <a:rPr lang="en-US" sz="750" b="1" dirty="0">
                <a:solidFill>
                  <a:schemeClr val="accent3"/>
                </a:solidFill>
              </a:rPr>
              <a:t>CRITERIO DE AVANCE</a:t>
            </a:r>
            <a:endParaRPr lang="en-US" sz="750" dirty="0"/>
          </a:p>
        </p:txBody>
      </p:sp>
      <p:sp>
        <p:nvSpPr>
          <p:cNvPr id="24" name="criterio-texto-248"/>
          <p:cNvSpPr txBox="1"/>
          <p:nvPr/>
        </p:nvSpPr>
        <p:spPr>
          <a:xfrm>
            <a:off x="3607994" y="4709160"/>
            <a:ext cx="2099234" cy="548640"/>
          </a:xfrm>
          <a:prstGeom prst="rect">
            <a:avLst/>
          </a:prstGeom>
          <a:noFill/>
          <a:ln/>
        </p:spPr>
        <p:txBody>
          <a:bodyPr wrap="square" lIns="0" tIns="0" rIns="0" bIns="0" rtlCol="0" anchor="t"/>
          <a:lstStyle/>
          <a:p>
            <a:pPr indent="0" marL="0">
              <a:buNone/>
            </a:pPr>
            <a:r>
              <a:rPr lang="en-US" sz="1000" b="1" dirty="0">
                <a:solidFill>
                  <a:schemeClr val="tx1"/>
                </a:solidFill>
              </a:rPr>
              <a:t>Fuentes dentro del SLA ≥ 95 %</a:t>
            </a:r>
            <a:endParaRPr lang="en-US" sz="1000" dirty="0"/>
          </a:p>
        </p:txBody>
      </p:sp>
      <p:sp>
        <p:nvSpPr>
          <p:cNvPr id="25" name="insignia-249"/>
          <p:cNvSpPr/>
          <p:nvPr/>
        </p:nvSpPr>
        <p:spPr>
          <a:xfrm>
            <a:off x="6255868" y="1746504"/>
            <a:ext cx="329184" cy="329184"/>
          </a:xfrm>
          <a:prstGeom prst="ellipse">
            <a:avLst/>
          </a:prstGeom>
          <a:solidFill>
            <a:schemeClr val="accent2"/>
          </a:solidFill>
          <a:ln/>
        </p:spPr>
      </p:sp>
      <p:sp>
        <p:nvSpPr>
          <p:cNvPr id="26" name="insignia-texto-250"/>
          <p:cNvSpPr txBox="1"/>
          <p:nvPr/>
        </p:nvSpPr>
        <p:spPr>
          <a:xfrm>
            <a:off x="6255868" y="174650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7" name="duracion-251"/>
          <p:cNvSpPr txBox="1"/>
          <p:nvPr/>
        </p:nvSpPr>
        <p:spPr>
          <a:xfrm>
            <a:off x="6667348" y="1792224"/>
            <a:ext cx="2190674" cy="228600"/>
          </a:xfrm>
          <a:prstGeom prst="rect">
            <a:avLst/>
          </a:prstGeom>
          <a:noFill/>
          <a:ln/>
        </p:spPr>
        <p:txBody>
          <a:bodyPr wrap="square" lIns="0" tIns="0" rIns="0" bIns="0" rtlCol="0" anchor="t"/>
          <a:lstStyle/>
          <a:p>
            <a:pPr indent="0" marL="0">
              <a:buNone/>
            </a:pPr>
            <a:r>
              <a:rPr lang="en-US" sz="900" dirty="0">
                <a:solidFill>
                  <a:schemeClr val="tx2"/>
                </a:solidFill>
              </a:rPr>
              <a:t>3 a 4 meses</a:t>
            </a:r>
            <a:endParaRPr lang="en-US" sz="900" dirty="0"/>
          </a:p>
        </p:txBody>
      </p:sp>
      <p:sp>
        <p:nvSpPr>
          <p:cNvPr id="28" name="fase-252"/>
          <p:cNvSpPr/>
          <p:nvPr/>
        </p:nvSpPr>
        <p:spPr>
          <a:xfrm>
            <a:off x="6210148" y="2221992"/>
            <a:ext cx="2647874" cy="3246120"/>
          </a:xfrm>
          <a:prstGeom prst="roundRect">
            <a:avLst>
              <a:gd name="adj" fmla="val 2417"/>
            </a:avLst>
          </a:prstGeom>
          <a:solidFill>
            <a:srgbClr val="FFFFFF"/>
          </a:solidFill>
          <a:ln w="9525">
            <a:solidFill>
              <a:srgbClr val="D5DCE5"/>
            </a:solidFill>
            <a:prstDash val="solid"/>
          </a:ln>
        </p:spPr>
      </p:sp>
      <p:sp>
        <p:nvSpPr>
          <p:cNvPr id="29" name="fase-etiqueta-253"/>
          <p:cNvSpPr txBox="1"/>
          <p:nvPr/>
        </p:nvSpPr>
        <p:spPr>
          <a:xfrm>
            <a:off x="6393028" y="2377440"/>
            <a:ext cx="2282114" cy="201168"/>
          </a:xfrm>
          <a:prstGeom prst="rect">
            <a:avLst/>
          </a:prstGeom>
          <a:noFill/>
          <a:ln/>
        </p:spPr>
        <p:txBody>
          <a:bodyPr wrap="square" lIns="0" tIns="0" rIns="0" bIns="0" rtlCol="0" anchor="t"/>
          <a:lstStyle/>
          <a:p>
            <a:pPr indent="0" marL="0">
              <a:buNone/>
            </a:pPr>
            <a:r>
              <a:rPr lang="en-US" sz="850" b="1" spc="50" kern="0" dirty="0">
                <a:solidFill>
                  <a:schemeClr val="accent2"/>
                </a:solidFill>
              </a:rPr>
              <a:t>FASE 2 · RELEASE 1.0</a:t>
            </a:r>
            <a:endParaRPr lang="en-US" sz="850" dirty="0"/>
          </a:p>
        </p:txBody>
      </p:sp>
      <p:sp>
        <p:nvSpPr>
          <p:cNvPr id="30" name="fase-titulo-254"/>
          <p:cNvSpPr txBox="1"/>
          <p:nvPr/>
        </p:nvSpPr>
        <p:spPr>
          <a:xfrm>
            <a:off x="6393028" y="2587752"/>
            <a:ext cx="2282114" cy="292608"/>
          </a:xfrm>
          <a:prstGeom prst="rect">
            <a:avLst/>
          </a:prstGeom>
          <a:noFill/>
          <a:ln/>
        </p:spPr>
        <p:txBody>
          <a:bodyPr wrap="square" lIns="0" tIns="0" rIns="0" bIns="0" rtlCol="0" anchor="t"/>
          <a:lstStyle/>
          <a:p>
            <a:pPr indent="0" marL="0">
              <a:buNone/>
            </a:pPr>
            <a:r>
              <a:rPr lang="en-US" sz="1300" b="1" dirty="0">
                <a:solidFill>
                  <a:schemeClr val="tx1"/>
                </a:solidFill>
              </a:rPr>
              <a:t>Gemelo de capacidad</a:t>
            </a:r>
            <a:endParaRPr lang="en-US" sz="1300" dirty="0"/>
          </a:p>
        </p:txBody>
      </p:sp>
      <p:sp>
        <p:nvSpPr>
          <p:cNvPr id="31" name="fase-entregables-255"/>
          <p:cNvSpPr txBox="1"/>
          <p:nvPr/>
        </p:nvSpPr>
        <p:spPr>
          <a:xfrm>
            <a:off x="6393028" y="2980944"/>
            <a:ext cx="2282114" cy="128016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chemeClr val="tx1"/>
                </a:solidFill>
              </a:rPr>
              <a:t>Recomendaciones de equipos, agenda y canal</a:t>
            </a:r>
            <a:endParaRPr lang="en-US" sz="950" dirty="0"/>
          </a:p>
          <a:p>
            <a:pPr marL="152400" indent="-152400">
              <a:spcAft>
                <a:spcPts val="500"/>
              </a:spcAft>
              <a:buSzPct val="100000"/>
              <a:buChar char="•"/>
            </a:pPr>
            <a:r>
              <a:rPr lang="en-US" sz="950" dirty="0">
                <a:solidFill>
                  <a:schemeClr val="tx1"/>
                </a:solidFill>
              </a:rPr>
              <a:t>Registro de aceptación, ejecución y efecto</a:t>
            </a:r>
            <a:endParaRPr lang="en-US" sz="950" dirty="0"/>
          </a:p>
          <a:p>
            <a:pPr marL="152400" indent="-152400">
              <a:spcAft>
                <a:spcPts val="500"/>
              </a:spcAft>
              <a:buSzPct val="100000"/>
              <a:buChar char="•"/>
            </a:pPr>
            <a:r>
              <a:rPr lang="en-US" sz="950" dirty="0">
                <a:solidFill>
                  <a:schemeClr val="tx1"/>
                </a:solidFill>
              </a:rPr>
              <a:t>Cuatro sedes y escenarios versionados</a:t>
            </a:r>
            <a:endParaRPr lang="en-US" sz="950" dirty="0"/>
          </a:p>
          <a:p>
            <a:pPr marL="152400" indent="-152400">
              <a:spcAft>
                <a:spcPts val="500"/>
              </a:spcAft>
              <a:buSzPct val="100000"/>
              <a:buChar char="•"/>
            </a:pPr>
            <a:r>
              <a:rPr lang="en-US" sz="950" dirty="0">
                <a:solidFill>
                  <a:schemeClr val="tx1"/>
                </a:solidFill>
              </a:rPr>
              <a:t>Gobierno de parámetros por rol</a:t>
            </a:r>
            <a:endParaRPr lang="en-US" sz="950" dirty="0"/>
          </a:p>
        </p:txBody>
      </p:sp>
      <p:sp>
        <p:nvSpPr>
          <p:cNvPr id="32" name="criterio-256"/>
          <p:cNvSpPr/>
          <p:nvPr/>
        </p:nvSpPr>
        <p:spPr>
          <a:xfrm>
            <a:off x="6347308" y="4389120"/>
            <a:ext cx="2373554" cy="941832"/>
          </a:xfrm>
          <a:prstGeom prst="roundRect">
            <a:avLst>
              <a:gd name="adj" fmla="val 6796"/>
            </a:avLst>
          </a:prstGeom>
          <a:solidFill>
            <a:schemeClr val="accent2">
              <a:alpha val="12000"/>
            </a:schemeClr>
          </a:solidFill>
          <a:ln/>
        </p:spPr>
      </p:sp>
      <p:sp>
        <p:nvSpPr>
          <p:cNvPr id="33" name="criterio-etiqueta-257"/>
          <p:cNvSpPr txBox="1"/>
          <p:nvPr/>
        </p:nvSpPr>
        <p:spPr>
          <a:xfrm>
            <a:off x="6484468" y="4498848"/>
            <a:ext cx="2099234" cy="182880"/>
          </a:xfrm>
          <a:prstGeom prst="rect">
            <a:avLst/>
          </a:prstGeom>
          <a:noFill/>
          <a:ln/>
        </p:spPr>
        <p:txBody>
          <a:bodyPr wrap="square" lIns="0" tIns="0" rIns="0" bIns="0" rtlCol="0" anchor="t"/>
          <a:lstStyle/>
          <a:p>
            <a:pPr indent="0" marL="0">
              <a:buNone/>
            </a:pPr>
            <a:r>
              <a:rPr lang="en-US" sz="750" b="1" dirty="0">
                <a:solidFill>
                  <a:schemeClr val="accent2"/>
                </a:solidFill>
              </a:rPr>
              <a:t>CRITERIO DE AVANCE</a:t>
            </a:r>
            <a:endParaRPr lang="en-US" sz="750" dirty="0"/>
          </a:p>
        </p:txBody>
      </p:sp>
      <p:sp>
        <p:nvSpPr>
          <p:cNvPr id="34" name="criterio-texto-258"/>
          <p:cNvSpPr txBox="1"/>
          <p:nvPr/>
        </p:nvSpPr>
        <p:spPr>
          <a:xfrm>
            <a:off x="6484468" y="4709160"/>
            <a:ext cx="2099234" cy="548640"/>
          </a:xfrm>
          <a:prstGeom prst="rect">
            <a:avLst/>
          </a:prstGeom>
          <a:noFill/>
          <a:ln/>
        </p:spPr>
        <p:txBody>
          <a:bodyPr wrap="square" lIns="0" tIns="0" rIns="0" bIns="0" rtlCol="0" anchor="t"/>
          <a:lstStyle/>
          <a:p>
            <a:pPr indent="0" marL="0">
              <a:buNone/>
            </a:pPr>
            <a:r>
              <a:rPr lang="en-US" sz="1000" b="1" dirty="0">
                <a:solidFill>
                  <a:schemeClr val="tx1"/>
                </a:solidFill>
              </a:rPr>
              <a:t>Cierre de ciclo trazable en tres meses consecutivos</a:t>
            </a:r>
            <a:endParaRPr lang="en-US" sz="1000" dirty="0"/>
          </a:p>
        </p:txBody>
      </p:sp>
      <p:sp>
        <p:nvSpPr>
          <p:cNvPr id="35" name="insignia-259"/>
          <p:cNvSpPr/>
          <p:nvPr/>
        </p:nvSpPr>
        <p:spPr>
          <a:xfrm>
            <a:off x="9132341" y="1746504"/>
            <a:ext cx="329184" cy="329184"/>
          </a:xfrm>
          <a:prstGeom prst="ellipse">
            <a:avLst/>
          </a:prstGeom>
          <a:solidFill>
            <a:schemeClr val="accent4"/>
          </a:solidFill>
          <a:ln/>
        </p:spPr>
      </p:sp>
      <p:sp>
        <p:nvSpPr>
          <p:cNvPr id="36" name="insignia-texto-260"/>
          <p:cNvSpPr txBox="1"/>
          <p:nvPr/>
        </p:nvSpPr>
        <p:spPr>
          <a:xfrm>
            <a:off x="9132341" y="174650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7" name="duracion-261"/>
          <p:cNvSpPr txBox="1"/>
          <p:nvPr/>
        </p:nvSpPr>
        <p:spPr>
          <a:xfrm>
            <a:off x="9543821" y="1792224"/>
            <a:ext cx="2190674" cy="228600"/>
          </a:xfrm>
          <a:prstGeom prst="rect">
            <a:avLst/>
          </a:prstGeom>
          <a:noFill/>
          <a:ln/>
        </p:spPr>
        <p:txBody>
          <a:bodyPr wrap="square" lIns="0" tIns="0" rIns="0" bIns="0" rtlCol="0" anchor="t"/>
          <a:lstStyle/>
          <a:p>
            <a:pPr indent="0" marL="0">
              <a:buNone/>
            </a:pPr>
            <a:r>
              <a:rPr lang="en-US" sz="900" dirty="0">
                <a:solidFill>
                  <a:schemeClr val="tx2"/>
                </a:solidFill>
              </a:rPr>
              <a:t>Posterior</a:t>
            </a:r>
            <a:endParaRPr lang="en-US" sz="900" dirty="0"/>
          </a:p>
        </p:txBody>
      </p:sp>
      <p:sp>
        <p:nvSpPr>
          <p:cNvPr id="38" name="fase-262"/>
          <p:cNvSpPr/>
          <p:nvPr/>
        </p:nvSpPr>
        <p:spPr>
          <a:xfrm>
            <a:off x="9086621" y="2221992"/>
            <a:ext cx="2647874" cy="3246120"/>
          </a:xfrm>
          <a:prstGeom prst="roundRect">
            <a:avLst>
              <a:gd name="adj" fmla="val 2417"/>
            </a:avLst>
          </a:prstGeom>
          <a:solidFill>
            <a:srgbClr val="FFFFFF"/>
          </a:solidFill>
          <a:ln w="9525">
            <a:solidFill>
              <a:srgbClr val="D5DCE5"/>
            </a:solidFill>
            <a:prstDash val="solid"/>
          </a:ln>
        </p:spPr>
      </p:sp>
      <p:sp>
        <p:nvSpPr>
          <p:cNvPr id="39" name="fase-etiqueta-263"/>
          <p:cNvSpPr txBox="1"/>
          <p:nvPr/>
        </p:nvSpPr>
        <p:spPr>
          <a:xfrm>
            <a:off x="9269501" y="2377440"/>
            <a:ext cx="2282114" cy="201168"/>
          </a:xfrm>
          <a:prstGeom prst="rect">
            <a:avLst/>
          </a:prstGeom>
          <a:noFill/>
          <a:ln/>
        </p:spPr>
        <p:txBody>
          <a:bodyPr wrap="square" lIns="0" tIns="0" rIns="0" bIns="0" rtlCol="0" anchor="t"/>
          <a:lstStyle/>
          <a:p>
            <a:pPr indent="0" marL="0">
              <a:buNone/>
            </a:pPr>
            <a:r>
              <a:rPr lang="en-US" sz="850" b="1" spc="50" kern="0" dirty="0">
                <a:solidFill>
                  <a:schemeClr val="accent4"/>
                </a:solidFill>
              </a:rPr>
              <a:t>FASE 3 · EXTENSIÓN</a:t>
            </a:r>
            <a:endParaRPr lang="en-US" sz="850" dirty="0"/>
          </a:p>
        </p:txBody>
      </p:sp>
      <p:sp>
        <p:nvSpPr>
          <p:cNvPr id="40" name="fase-titulo-264"/>
          <p:cNvSpPr txBox="1"/>
          <p:nvPr/>
        </p:nvSpPr>
        <p:spPr>
          <a:xfrm>
            <a:off x="9269501" y="2587752"/>
            <a:ext cx="2282114" cy="292608"/>
          </a:xfrm>
          <a:prstGeom prst="rect">
            <a:avLst/>
          </a:prstGeom>
          <a:noFill/>
          <a:ln/>
        </p:spPr>
        <p:txBody>
          <a:bodyPr wrap="square" lIns="0" tIns="0" rIns="0" bIns="0" rtlCol="0" anchor="t"/>
          <a:lstStyle/>
          <a:p>
            <a:pPr indent="0" marL="0">
              <a:buNone/>
            </a:pPr>
            <a:r>
              <a:rPr lang="en-US" sz="1300" b="1" dirty="0">
                <a:solidFill>
                  <a:schemeClr val="tx1"/>
                </a:solidFill>
              </a:rPr>
              <a:t>Escala y operación física</a:t>
            </a:r>
            <a:endParaRPr lang="en-US" sz="1300" dirty="0"/>
          </a:p>
        </p:txBody>
      </p:sp>
      <p:sp>
        <p:nvSpPr>
          <p:cNvPr id="41" name="fase-entregables-265"/>
          <p:cNvSpPr txBox="1"/>
          <p:nvPr/>
        </p:nvSpPr>
        <p:spPr>
          <a:xfrm>
            <a:off x="9269501" y="2980944"/>
            <a:ext cx="2282114" cy="128016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chemeClr val="tx1"/>
                </a:solidFill>
              </a:rPr>
              <a:t>Nuevas cohortes y rutas de atención</a:t>
            </a:r>
            <a:endParaRPr lang="en-US" sz="950" dirty="0"/>
          </a:p>
          <a:p>
            <a:pPr marL="152400" indent="-152400">
              <a:spcAft>
                <a:spcPts val="500"/>
              </a:spcAft>
              <a:buSzPct val="100000"/>
              <a:buChar char="•"/>
            </a:pPr>
            <a:r>
              <a:rPr lang="en-US" sz="950" dirty="0">
                <a:solidFill>
                  <a:schemeClr val="tx1"/>
                </a:solidFill>
              </a:rPr>
              <a:t>Equipos biomédicos conectados</a:t>
            </a:r>
            <a:endParaRPr lang="en-US" sz="950" dirty="0"/>
          </a:p>
          <a:p>
            <a:pPr marL="152400" indent="-152400">
              <a:spcAft>
                <a:spcPts val="500"/>
              </a:spcAft>
              <a:buSzPct val="100000"/>
              <a:buChar char="•"/>
            </a:pPr>
            <a:r>
              <a:rPr lang="en-US" sz="950" dirty="0">
                <a:solidFill>
                  <a:schemeClr val="tx1"/>
                </a:solidFill>
              </a:rPr>
              <a:t>Robótica de logística clínica</a:t>
            </a:r>
            <a:endParaRPr lang="en-US" sz="950" dirty="0"/>
          </a:p>
          <a:p>
            <a:pPr marL="152400" indent="-152400">
              <a:spcAft>
                <a:spcPts val="500"/>
              </a:spcAft>
              <a:buSzPct val="100000"/>
              <a:buChar char="•"/>
            </a:pPr>
            <a:r>
              <a:rPr lang="en-US" sz="950" dirty="0">
                <a:solidFill>
                  <a:schemeClr val="tx1"/>
                </a:solidFill>
              </a:rPr>
              <a:t>Otras regionales y prestadores</a:t>
            </a:r>
            <a:endParaRPr lang="en-US" sz="950" dirty="0"/>
          </a:p>
        </p:txBody>
      </p:sp>
      <p:sp>
        <p:nvSpPr>
          <p:cNvPr id="42" name="criterio-266"/>
          <p:cNvSpPr/>
          <p:nvPr/>
        </p:nvSpPr>
        <p:spPr>
          <a:xfrm>
            <a:off x="9223781" y="4389120"/>
            <a:ext cx="2373554" cy="941832"/>
          </a:xfrm>
          <a:prstGeom prst="roundRect">
            <a:avLst>
              <a:gd name="adj" fmla="val 6796"/>
            </a:avLst>
          </a:prstGeom>
          <a:solidFill>
            <a:schemeClr val="accent4">
              <a:alpha val="12000"/>
            </a:schemeClr>
          </a:solidFill>
          <a:ln/>
        </p:spPr>
      </p:sp>
      <p:sp>
        <p:nvSpPr>
          <p:cNvPr id="43" name="criterio-etiqueta-267"/>
          <p:cNvSpPr txBox="1"/>
          <p:nvPr/>
        </p:nvSpPr>
        <p:spPr>
          <a:xfrm>
            <a:off x="9360941" y="4498848"/>
            <a:ext cx="2099234" cy="182880"/>
          </a:xfrm>
          <a:prstGeom prst="rect">
            <a:avLst/>
          </a:prstGeom>
          <a:noFill/>
          <a:ln/>
        </p:spPr>
        <p:txBody>
          <a:bodyPr wrap="square" lIns="0" tIns="0" rIns="0" bIns="0" rtlCol="0" anchor="t"/>
          <a:lstStyle/>
          <a:p>
            <a:pPr indent="0" marL="0">
              <a:buNone/>
            </a:pPr>
            <a:r>
              <a:rPr lang="en-US" sz="750" b="1" dirty="0">
                <a:solidFill>
                  <a:schemeClr val="accent4"/>
                </a:solidFill>
              </a:rPr>
              <a:t>CRITERIO DE AVANCE</a:t>
            </a:r>
            <a:endParaRPr lang="en-US" sz="750" dirty="0"/>
          </a:p>
        </p:txBody>
      </p:sp>
      <p:sp>
        <p:nvSpPr>
          <p:cNvPr id="44" name="criterio-texto-268"/>
          <p:cNvSpPr txBox="1"/>
          <p:nvPr/>
        </p:nvSpPr>
        <p:spPr>
          <a:xfrm>
            <a:off x="9360941" y="4709160"/>
            <a:ext cx="2099234" cy="548640"/>
          </a:xfrm>
          <a:prstGeom prst="rect">
            <a:avLst/>
          </a:prstGeom>
          <a:noFill/>
          <a:ln/>
        </p:spPr>
        <p:txBody>
          <a:bodyPr wrap="square" lIns="0" tIns="0" rIns="0" bIns="0" rtlCol="0" anchor="t"/>
          <a:lstStyle/>
          <a:p>
            <a:pPr indent="0" marL="0">
              <a:buNone/>
            </a:pPr>
            <a:r>
              <a:rPr lang="en-US" sz="1000" b="1" dirty="0">
                <a:solidFill>
                  <a:schemeClr val="tx1"/>
                </a:solidFill>
              </a:rPr>
              <a:t>Decisión según valor demostrado</a:t>
            </a:r>
            <a:endParaRPr lang="en-US" sz="1000" dirty="0"/>
          </a:p>
        </p:txBody>
      </p:sp>
      <p:sp>
        <p:nvSpPr>
          <p:cNvPr id="45" name="dependencias-269"/>
          <p:cNvSpPr/>
          <p:nvPr/>
        </p:nvSpPr>
        <p:spPr>
          <a:xfrm>
            <a:off x="457200" y="5650992"/>
            <a:ext cx="11277295" cy="612648"/>
          </a:xfrm>
          <a:prstGeom prst="roundRect">
            <a:avLst>
              <a:gd name="adj" fmla="val 10448"/>
            </a:avLst>
          </a:prstGeom>
          <a:solidFill>
            <a:schemeClr val="bg2"/>
          </a:solidFill>
          <a:ln/>
        </p:spPr>
      </p:sp>
      <p:sp>
        <p:nvSpPr>
          <p:cNvPr id="46" name="etiqueta-270"/>
          <p:cNvSpPr txBox="1"/>
          <p:nvPr/>
        </p:nvSpPr>
        <p:spPr>
          <a:xfrm>
            <a:off x="685800" y="5856732"/>
            <a:ext cx="2194560" cy="201168"/>
          </a:xfrm>
          <a:prstGeom prst="rect">
            <a:avLst/>
          </a:prstGeom>
          <a:noFill/>
          <a:ln/>
        </p:spPr>
        <p:txBody>
          <a:bodyPr wrap="square" lIns="0" tIns="0" rIns="0" bIns="0" rtlCol="0" anchor="t"/>
          <a:lstStyle/>
          <a:p>
            <a:pPr indent="0" marL="0">
              <a:buNone/>
            </a:pPr>
            <a:r>
              <a:rPr lang="en-US" sz="850" b="1" spc="50" kern="0" dirty="0">
                <a:solidFill>
                  <a:schemeClr val="accent5"/>
                </a:solidFill>
              </a:rPr>
              <a:t>DEPENDENCIAS DE SURA</a:t>
            </a:r>
            <a:endParaRPr lang="en-US" sz="850" dirty="0"/>
          </a:p>
        </p:txBody>
      </p:sp>
      <p:sp>
        <p:nvSpPr>
          <p:cNvPr id="47" name="dependencia-271"/>
          <p:cNvSpPr txBox="1"/>
          <p:nvPr/>
        </p:nvSpPr>
        <p:spPr>
          <a:xfrm>
            <a:off x="2926080" y="5769864"/>
            <a:ext cx="2646578" cy="429768"/>
          </a:xfrm>
          <a:prstGeom prst="rect">
            <a:avLst/>
          </a:prstGeom>
          <a:noFill/>
          <a:ln/>
        </p:spPr>
        <p:txBody>
          <a:bodyPr wrap="square" lIns="0" tIns="0" rIns="0" bIns="0" rtlCol="0" anchor="ctr"/>
          <a:lstStyle/>
          <a:p>
            <a:pPr indent="0" marL="0">
              <a:buNone/>
            </a:pPr>
            <a:r>
              <a:rPr lang="en-US" sz="950" dirty="0">
                <a:solidFill>
                  <a:schemeClr val="tx1"/>
                </a:solidFill>
              </a:rPr>
              <a:t>Acuerdo con los Data Partners para consultas federadas y agregados por celda</a:t>
            </a:r>
            <a:endParaRPr lang="en-US" sz="950" dirty="0"/>
          </a:p>
        </p:txBody>
      </p:sp>
      <p:sp>
        <p:nvSpPr>
          <p:cNvPr id="48" name="dependencia-272"/>
          <p:cNvSpPr txBox="1"/>
          <p:nvPr/>
        </p:nvSpPr>
        <p:spPr>
          <a:xfrm>
            <a:off x="5801258" y="5769864"/>
            <a:ext cx="2646578" cy="429768"/>
          </a:xfrm>
          <a:prstGeom prst="rect">
            <a:avLst/>
          </a:prstGeom>
          <a:noFill/>
          <a:ln/>
        </p:spPr>
        <p:txBody>
          <a:bodyPr wrap="square" lIns="0" tIns="0" rIns="0" bIns="0" rtlCol="0" anchor="ctr"/>
          <a:lstStyle/>
          <a:p>
            <a:pPr indent="0" marL="0">
              <a:buNone/>
            </a:pPr>
            <a:r>
              <a:rPr lang="en-US" sz="950" dirty="0">
                <a:solidFill>
                  <a:schemeClr val="tx1"/>
                </a:solidFill>
              </a:rPr>
              <a:t>Acceso a agenda y admisión por FHIR o extractos agregados por zona</a:t>
            </a:r>
            <a:endParaRPr lang="en-US" sz="950" dirty="0"/>
          </a:p>
        </p:txBody>
      </p:sp>
      <p:sp>
        <p:nvSpPr>
          <p:cNvPr id="49" name="dependencia-273"/>
          <p:cNvSpPr txBox="1"/>
          <p:nvPr/>
        </p:nvSpPr>
        <p:spPr>
          <a:xfrm>
            <a:off x="8676437" y="5769864"/>
            <a:ext cx="2646578" cy="429768"/>
          </a:xfrm>
          <a:prstGeom prst="rect">
            <a:avLst/>
          </a:prstGeom>
          <a:noFill/>
          <a:ln/>
        </p:spPr>
        <p:txBody>
          <a:bodyPr wrap="square" lIns="0" tIns="0" rIns="0" bIns="0" rtlCol="0" anchor="ctr"/>
          <a:lstStyle/>
          <a:p>
            <a:pPr indent="0" marL="0">
              <a:buNone/>
            </a:pPr>
            <a:r>
              <a:rPr lang="en-US" sz="950" dirty="0">
                <a:solidFill>
                  <a:schemeClr val="tx1"/>
                </a:solidFill>
              </a:rPr>
              <a:t>Metas de servicio por zona y responsables del cierre de ciclo</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49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11480"/>
            <a:ext cx="11277295" cy="1005840"/>
          </a:xfrm>
          <a:prstGeom prst="rect">
            <a:avLst/>
          </a:prstGeom>
          <a:noFill/>
          <a:ln/>
        </p:spPr>
        <p:txBody>
          <a:bodyPr wrap="square" lIns="0" tIns="0" rIns="0" bIns="0" rtlCol="0" anchor="t"/>
          <a:lstStyle/>
          <a:p>
            <a:pPr algn="l" indent="0" marL="0">
              <a:buNone/>
            </a:pPr>
            <a:r>
              <a:rPr lang="en-US" sz="2600" b="1" dirty="0">
                <a:solidFill>
                  <a:schemeClr val="bg1"/>
                </a:solidFill>
              </a:rPr>
              <a:t>Proponemos calibrar el modelo con dos sedes y cinco cohortes para decidir con evidencia propia la expansión de canales</a:t>
            </a:r>
            <a:endParaRPr lang="en-US" sz="2600" dirty="0"/>
          </a:p>
        </p:txBody>
      </p:sp>
      <p:sp>
        <p:nvSpPr>
          <p:cNvPr id="3" name="paso-274"/>
          <p:cNvSpPr/>
          <p:nvPr/>
        </p:nvSpPr>
        <p:spPr>
          <a:xfrm>
            <a:off x="457200" y="1691640"/>
            <a:ext cx="3576218" cy="1920240"/>
          </a:xfrm>
          <a:prstGeom prst="roundRect">
            <a:avLst>
              <a:gd name="adj" fmla="val 3333"/>
            </a:avLst>
          </a:prstGeom>
          <a:solidFill>
            <a:srgbClr val="FFFFFF">
              <a:alpha val="8000"/>
            </a:srgbClr>
          </a:solidFill>
          <a:ln w="9525">
            <a:solidFill>
              <a:srgbClr val="3A4560"/>
            </a:solidFill>
            <a:prstDash val="solid"/>
          </a:ln>
        </p:spPr>
      </p:sp>
      <p:sp>
        <p:nvSpPr>
          <p:cNvPr id="4" name="insignia-275"/>
          <p:cNvSpPr/>
          <p:nvPr/>
        </p:nvSpPr>
        <p:spPr>
          <a:xfrm>
            <a:off x="685800" y="1920240"/>
            <a:ext cx="420624" cy="420624"/>
          </a:xfrm>
          <a:prstGeom prst="ellipse">
            <a:avLst/>
          </a:prstGeom>
          <a:solidFill>
            <a:srgbClr val="009AA4"/>
          </a:solidFill>
          <a:ln/>
        </p:spPr>
      </p:sp>
      <p:sp>
        <p:nvSpPr>
          <p:cNvPr id="5" name="insignia-texto-276"/>
          <p:cNvSpPr txBox="1"/>
          <p:nvPr/>
        </p:nvSpPr>
        <p:spPr>
          <a:xfrm>
            <a:off x="685800" y="192024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paso-titulo-277"/>
          <p:cNvSpPr txBox="1"/>
          <p:nvPr/>
        </p:nvSpPr>
        <p:spPr>
          <a:xfrm>
            <a:off x="685800" y="2496312"/>
            <a:ext cx="3119018" cy="320040"/>
          </a:xfrm>
          <a:prstGeom prst="rect">
            <a:avLst/>
          </a:prstGeom>
          <a:noFill/>
          <a:ln/>
        </p:spPr>
        <p:txBody>
          <a:bodyPr wrap="square" lIns="0" tIns="0" rIns="0" bIns="0" rtlCol="0" anchor="t"/>
          <a:lstStyle/>
          <a:p>
            <a:pPr indent="0" marL="0">
              <a:buNone/>
            </a:pPr>
            <a:r>
              <a:rPr lang="en-US" sz="1400" b="1" dirty="0">
                <a:solidFill>
                  <a:schemeClr val="bg1"/>
                </a:solidFill>
              </a:rPr>
              <a:t>Priorizar el alcance</a:t>
            </a:r>
            <a:endParaRPr lang="en-US" sz="1400" dirty="0"/>
          </a:p>
        </p:txBody>
      </p:sp>
      <p:sp>
        <p:nvSpPr>
          <p:cNvPr id="7" name="paso-texto-278"/>
          <p:cNvSpPr txBox="1"/>
          <p:nvPr/>
        </p:nvSpPr>
        <p:spPr>
          <a:xfrm>
            <a:off x="685800" y="2843784"/>
            <a:ext cx="3119018" cy="685800"/>
          </a:xfrm>
          <a:prstGeom prst="rect">
            <a:avLst/>
          </a:prstGeom>
          <a:noFill/>
          <a:ln/>
        </p:spPr>
        <p:txBody>
          <a:bodyPr wrap="square" lIns="0" tIns="0" rIns="0" bIns="0" rtlCol="0" anchor="t"/>
          <a:lstStyle/>
          <a:p>
            <a:pPr indent="0" marL="0">
              <a:buNone/>
            </a:pPr>
            <a:r>
              <a:rPr lang="en-US" sz="1050" dirty="0">
                <a:solidFill>
                  <a:srgbClr val="C9D3E3"/>
                </a:solidFill>
              </a:rPr>
              <a:t>Seleccionar dos sedes con perfiles de demanda distintos y confirmar las cinco cohortes o sustituirlas por las rutas priorizadas por PHM.</a:t>
            </a:r>
            <a:endParaRPr lang="en-US" sz="1050" dirty="0"/>
          </a:p>
        </p:txBody>
      </p:sp>
      <p:sp>
        <p:nvSpPr>
          <p:cNvPr id="8" name="paso-279"/>
          <p:cNvSpPr/>
          <p:nvPr/>
        </p:nvSpPr>
        <p:spPr>
          <a:xfrm>
            <a:off x="4307738" y="1691640"/>
            <a:ext cx="3576218" cy="1920240"/>
          </a:xfrm>
          <a:prstGeom prst="roundRect">
            <a:avLst>
              <a:gd name="adj" fmla="val 3333"/>
            </a:avLst>
          </a:prstGeom>
          <a:solidFill>
            <a:srgbClr val="FFFFFF">
              <a:alpha val="8000"/>
            </a:srgbClr>
          </a:solidFill>
          <a:ln w="9525">
            <a:solidFill>
              <a:srgbClr val="3A4560"/>
            </a:solidFill>
            <a:prstDash val="solid"/>
          </a:ln>
        </p:spPr>
      </p:sp>
      <p:sp>
        <p:nvSpPr>
          <p:cNvPr id="9" name="insignia-280"/>
          <p:cNvSpPr/>
          <p:nvPr/>
        </p:nvSpPr>
        <p:spPr>
          <a:xfrm>
            <a:off x="4536338" y="1920240"/>
            <a:ext cx="420624" cy="420624"/>
          </a:xfrm>
          <a:prstGeom prst="ellipse">
            <a:avLst/>
          </a:prstGeom>
          <a:solidFill>
            <a:srgbClr val="009AA4"/>
          </a:solidFill>
          <a:ln/>
        </p:spPr>
      </p:sp>
      <p:sp>
        <p:nvSpPr>
          <p:cNvPr id="10" name="insignia-texto-281"/>
          <p:cNvSpPr txBox="1"/>
          <p:nvPr/>
        </p:nvSpPr>
        <p:spPr>
          <a:xfrm>
            <a:off x="4536338" y="192024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paso-titulo-282"/>
          <p:cNvSpPr txBox="1"/>
          <p:nvPr/>
        </p:nvSpPr>
        <p:spPr>
          <a:xfrm>
            <a:off x="4536338" y="2496312"/>
            <a:ext cx="3119018" cy="320040"/>
          </a:xfrm>
          <a:prstGeom prst="rect">
            <a:avLst/>
          </a:prstGeom>
          <a:noFill/>
          <a:ln/>
        </p:spPr>
        <p:txBody>
          <a:bodyPr wrap="square" lIns="0" tIns="0" rIns="0" bIns="0" rtlCol="0" anchor="t"/>
          <a:lstStyle/>
          <a:p>
            <a:pPr indent="0" marL="0">
              <a:buNone/>
            </a:pPr>
            <a:r>
              <a:rPr lang="en-US" sz="1400" b="1" dirty="0">
                <a:solidFill>
                  <a:schemeClr val="bg1"/>
                </a:solidFill>
              </a:rPr>
              <a:t>Habilitar los datos</a:t>
            </a:r>
            <a:endParaRPr lang="en-US" sz="1400" dirty="0"/>
          </a:p>
        </p:txBody>
      </p:sp>
      <p:sp>
        <p:nvSpPr>
          <p:cNvPr id="12" name="paso-texto-283"/>
          <p:cNvSpPr txBox="1"/>
          <p:nvPr/>
        </p:nvSpPr>
        <p:spPr>
          <a:xfrm>
            <a:off x="4536338" y="2843784"/>
            <a:ext cx="3119018" cy="685800"/>
          </a:xfrm>
          <a:prstGeom prst="rect">
            <a:avLst/>
          </a:prstGeom>
          <a:noFill/>
          <a:ln/>
        </p:spPr>
        <p:txBody>
          <a:bodyPr wrap="square" lIns="0" tIns="0" rIns="0" bIns="0" rtlCol="0" anchor="t"/>
          <a:lstStyle/>
          <a:p>
            <a:pPr indent="0" marL="0">
              <a:buNone/>
            </a:pPr>
            <a:r>
              <a:rPr lang="en-US" sz="1050" dirty="0">
                <a:solidFill>
                  <a:srgbClr val="C9D3E3"/>
                </a:solidFill>
              </a:rPr>
              <a:t>Acordar con los Data Partners la consulta federada sobre OMOP con supresión de celdas menores a 11 y extractos agregados de agenda por sede y zona.</a:t>
            </a:r>
            <a:endParaRPr lang="en-US" sz="1050" dirty="0"/>
          </a:p>
        </p:txBody>
      </p:sp>
      <p:sp>
        <p:nvSpPr>
          <p:cNvPr id="13" name="paso-284"/>
          <p:cNvSpPr/>
          <p:nvPr/>
        </p:nvSpPr>
        <p:spPr>
          <a:xfrm>
            <a:off x="8158277" y="1691640"/>
            <a:ext cx="3576218" cy="1920240"/>
          </a:xfrm>
          <a:prstGeom prst="roundRect">
            <a:avLst>
              <a:gd name="adj" fmla="val 3333"/>
            </a:avLst>
          </a:prstGeom>
          <a:solidFill>
            <a:srgbClr val="FFFFFF">
              <a:alpha val="8000"/>
            </a:srgbClr>
          </a:solidFill>
          <a:ln w="9525">
            <a:solidFill>
              <a:srgbClr val="3A4560"/>
            </a:solidFill>
            <a:prstDash val="solid"/>
          </a:ln>
        </p:spPr>
      </p:sp>
      <p:sp>
        <p:nvSpPr>
          <p:cNvPr id="14" name="insignia-285"/>
          <p:cNvSpPr/>
          <p:nvPr/>
        </p:nvSpPr>
        <p:spPr>
          <a:xfrm>
            <a:off x="8386877" y="1920240"/>
            <a:ext cx="420624" cy="420624"/>
          </a:xfrm>
          <a:prstGeom prst="ellipse">
            <a:avLst/>
          </a:prstGeom>
          <a:solidFill>
            <a:srgbClr val="009AA4"/>
          </a:solidFill>
          <a:ln/>
        </p:spPr>
      </p:sp>
      <p:sp>
        <p:nvSpPr>
          <p:cNvPr id="15" name="insignia-texto-286"/>
          <p:cNvSpPr txBox="1"/>
          <p:nvPr/>
        </p:nvSpPr>
        <p:spPr>
          <a:xfrm>
            <a:off x="8386877" y="1920240"/>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paso-titulo-287"/>
          <p:cNvSpPr txBox="1"/>
          <p:nvPr/>
        </p:nvSpPr>
        <p:spPr>
          <a:xfrm>
            <a:off x="8386877" y="2496312"/>
            <a:ext cx="3119018" cy="320040"/>
          </a:xfrm>
          <a:prstGeom prst="rect">
            <a:avLst/>
          </a:prstGeom>
          <a:noFill/>
          <a:ln/>
        </p:spPr>
        <p:txBody>
          <a:bodyPr wrap="square" lIns="0" tIns="0" rIns="0" bIns="0" rtlCol="0" anchor="t"/>
          <a:lstStyle/>
          <a:p>
            <a:pPr indent="0" marL="0">
              <a:buNone/>
            </a:pPr>
            <a:r>
              <a:rPr lang="en-US" sz="1400" b="1" dirty="0">
                <a:solidFill>
                  <a:schemeClr val="bg1"/>
                </a:solidFill>
              </a:rPr>
              <a:t>Fijar metas y responsables</a:t>
            </a:r>
            <a:endParaRPr lang="en-US" sz="1400" dirty="0"/>
          </a:p>
        </p:txBody>
      </p:sp>
      <p:sp>
        <p:nvSpPr>
          <p:cNvPr id="17" name="paso-texto-288"/>
          <p:cNvSpPr txBox="1"/>
          <p:nvPr/>
        </p:nvSpPr>
        <p:spPr>
          <a:xfrm>
            <a:off x="8386877" y="2843784"/>
            <a:ext cx="3119018" cy="685800"/>
          </a:xfrm>
          <a:prstGeom prst="rect">
            <a:avLst/>
          </a:prstGeom>
          <a:noFill/>
          <a:ln/>
        </p:spPr>
        <p:txBody>
          <a:bodyPr wrap="square" lIns="0" tIns="0" rIns="0" bIns="0" rtlCol="0" anchor="t"/>
          <a:lstStyle/>
          <a:p>
            <a:pPr indent="0" marL="0">
              <a:buNone/>
            </a:pPr>
            <a:r>
              <a:rPr lang="en-US" sz="1050" dirty="0">
                <a:solidFill>
                  <a:srgbClr val="C9D3E3"/>
                </a:solidFill>
              </a:rPr>
              <a:t>Definir metas de servicio por zona, valores de inasistencia por sede y los responsables de aceptar y ejecutar recomendaciones.</a:t>
            </a:r>
            <a:endParaRPr lang="en-US" sz="1050" dirty="0"/>
          </a:p>
        </p:txBody>
      </p:sp>
      <p:sp>
        <p:nvSpPr>
          <p:cNvPr id="18" name="resultado-fase0"/>
          <p:cNvSpPr/>
          <p:nvPr/>
        </p:nvSpPr>
        <p:spPr>
          <a:xfrm>
            <a:off x="457200" y="3840480"/>
            <a:ext cx="11277295" cy="1188720"/>
          </a:xfrm>
          <a:prstGeom prst="roundRect">
            <a:avLst>
              <a:gd name="adj" fmla="val 5385"/>
            </a:avLst>
          </a:prstGeom>
          <a:solidFill>
            <a:srgbClr val="009AA4"/>
          </a:solidFill>
          <a:ln/>
        </p:spPr>
      </p:sp>
      <p:sp>
        <p:nvSpPr>
          <p:cNvPr id="19" name="resultado-etiqueta-289"/>
          <p:cNvSpPr txBox="1"/>
          <p:nvPr/>
        </p:nvSpPr>
        <p:spPr>
          <a:xfrm>
            <a:off x="731520" y="3986784"/>
            <a:ext cx="3657600" cy="201168"/>
          </a:xfrm>
          <a:prstGeom prst="rect">
            <a:avLst/>
          </a:prstGeom>
          <a:noFill/>
          <a:ln/>
        </p:spPr>
        <p:txBody>
          <a:bodyPr wrap="square" lIns="0" tIns="0" rIns="0" bIns="0" rtlCol="0" anchor="t"/>
          <a:lstStyle/>
          <a:p>
            <a:pPr indent="0" marL="0">
              <a:buNone/>
            </a:pPr>
            <a:r>
              <a:rPr lang="en-US" sz="900" b="1" spc="50" kern="0" dirty="0">
                <a:solidFill>
                  <a:schemeClr val="tx1"/>
                </a:solidFill>
              </a:rPr>
              <a:t>AL CIERRE DE LA FASE 0</a:t>
            </a:r>
            <a:endParaRPr lang="en-US" sz="900" dirty="0"/>
          </a:p>
        </p:txBody>
      </p:sp>
      <p:sp>
        <p:nvSpPr>
          <p:cNvPr id="20" name="resultado-texto-290"/>
          <p:cNvSpPr txBox="1"/>
          <p:nvPr/>
        </p:nvSpPr>
        <p:spPr>
          <a:xfrm>
            <a:off x="731520" y="4224528"/>
            <a:ext cx="10728655" cy="731520"/>
          </a:xfrm>
          <a:prstGeom prst="rect">
            <a:avLst/>
          </a:prstGeom>
          <a:noFill/>
          <a:ln/>
        </p:spPr>
        <p:txBody>
          <a:bodyPr wrap="square" lIns="0" tIns="0" rIns="0" bIns="0" rtlCol="0" anchor="t"/>
          <a:lstStyle/>
          <a:p>
            <a:pPr indent="0" marL="0">
              <a:buNone/>
            </a:pPr>
            <a:r>
              <a:rPr lang="en-US" sz="1400" dirty="0">
                <a:solidFill>
                  <a:schemeClr val="bg1"/>
                </a:solidFill>
              </a:rPr>
              <a:t>El portal funciona con parámetros de SURA para dos sedes, con error de calibración medido por zona, </a:t>
            </a:r>
            <a:pPr indent="0" marL="0">
              <a:buNone/>
            </a:pPr>
            <a:r>
              <a:rPr lang="en-US" sz="1400" b="1" dirty="0">
                <a:solidFill>
                  <a:schemeClr val="bg1"/>
                </a:solidFill>
              </a:rPr>
              <a:t>y la dirección de PHM puede comparar la ampliación de cobertura con y sin canales alternos antes de comprometer capacidad para 2027.</a:t>
            </a:r>
            <a:endParaRPr lang="en-US" sz="1400" dirty="0"/>
          </a:p>
        </p:txBody>
      </p:sp>
      <p:sp>
        <p:nvSpPr>
          <p:cNvPr id="21" name="aporte-etiqueta-291"/>
          <p:cNvSpPr txBox="1"/>
          <p:nvPr/>
        </p:nvSpPr>
        <p:spPr>
          <a:xfrm>
            <a:off x="457200" y="5303520"/>
            <a:ext cx="3657600" cy="201168"/>
          </a:xfrm>
          <a:prstGeom prst="rect">
            <a:avLst/>
          </a:prstGeom>
          <a:noFill/>
          <a:ln/>
        </p:spPr>
        <p:txBody>
          <a:bodyPr wrap="square" lIns="0" tIns="0" rIns="0" bIns="0" rtlCol="0" anchor="t"/>
          <a:lstStyle/>
          <a:p>
            <a:pPr indent="0" marL="0">
              <a:buNone/>
            </a:pPr>
            <a:r>
              <a:rPr lang="en-US" sz="850" b="1" spc="50" kern="0" dirty="0">
                <a:solidFill>
                  <a:srgbClr val="00DFED"/>
                </a:solidFill>
              </a:rPr>
              <a:t>CÓMO TRABAJAMOS LA FASE 0</a:t>
            </a:r>
            <a:endParaRPr lang="en-US" sz="850" dirty="0"/>
          </a:p>
        </p:txBody>
      </p:sp>
      <p:sp>
        <p:nvSpPr>
          <p:cNvPr id="22" name="aporte-292"/>
          <p:cNvSpPr txBox="1"/>
          <p:nvPr/>
        </p:nvSpPr>
        <p:spPr>
          <a:xfrm>
            <a:off x="457200" y="5559552"/>
            <a:ext cx="3576218" cy="685800"/>
          </a:xfrm>
          <a:prstGeom prst="rect">
            <a:avLst/>
          </a:prstGeom>
          <a:noFill/>
          <a:ln/>
        </p:spPr>
        <p:txBody>
          <a:bodyPr wrap="square" lIns="0" tIns="0" rIns="0" bIns="0" rtlCol="0" anchor="t"/>
          <a:lstStyle/>
          <a:p>
            <a:pPr indent="0" marL="0">
              <a:buNone/>
            </a:pPr>
            <a:r>
              <a:rPr lang="en-US" sz="950" b="1" dirty="0">
                <a:solidFill>
                  <a:srgbClr val="FFFFFF"/>
                </a:solidFill>
              </a:rPr>
              <a:t>Modelación. </a:t>
            </a:r>
            <a:pPr indent="0" marL="0">
              <a:buNone/>
            </a:pPr>
            <a:r>
              <a:rPr lang="en-US" sz="950" dirty="0">
                <a:solidFill>
                  <a:srgbClr val="C9D3E3"/>
                </a:solidFill>
              </a:rPr>
              <a:t>Equipo de ciencia de datos y operaciones que calibra el modelo poblacional y el de capacidad con los agregados de SURA.</a:t>
            </a:r>
            <a:endParaRPr lang="en-US" sz="950" dirty="0"/>
          </a:p>
        </p:txBody>
      </p:sp>
      <p:sp>
        <p:nvSpPr>
          <p:cNvPr id="23" name="aporte-293"/>
          <p:cNvSpPr txBox="1"/>
          <p:nvPr/>
        </p:nvSpPr>
        <p:spPr>
          <a:xfrm>
            <a:off x="4307738" y="5559552"/>
            <a:ext cx="3576218" cy="685800"/>
          </a:xfrm>
          <a:prstGeom prst="rect">
            <a:avLst/>
          </a:prstGeom>
          <a:noFill/>
          <a:ln/>
        </p:spPr>
        <p:txBody>
          <a:bodyPr wrap="square" lIns="0" tIns="0" rIns="0" bIns="0" rtlCol="0" anchor="t"/>
          <a:lstStyle/>
          <a:p>
            <a:pPr indent="0" marL="0">
              <a:buNone/>
            </a:pPr>
            <a:r>
              <a:rPr lang="en-US" sz="950" b="1" dirty="0">
                <a:solidFill>
                  <a:srgbClr val="FFFFFF"/>
                </a:solidFill>
              </a:rPr>
              <a:t>Arquitectura federada. </a:t>
            </a:r>
            <a:pPr indent="0" marL="0">
              <a:buNone/>
            </a:pPr>
            <a:r>
              <a:rPr lang="en-US" sz="950" dirty="0">
                <a:solidFill>
                  <a:srgbClr val="C9D3E3"/>
                </a:solidFill>
              </a:rPr>
              <a:t>Consultas sobre OMOP diseñadas con los Data Partners dentro de AlejandrIA, sin mover datos de pacientes.</a:t>
            </a:r>
            <a:endParaRPr lang="en-US" sz="950" dirty="0"/>
          </a:p>
        </p:txBody>
      </p:sp>
      <p:sp>
        <p:nvSpPr>
          <p:cNvPr id="24" name="aporte-294"/>
          <p:cNvSpPr txBox="1"/>
          <p:nvPr/>
        </p:nvSpPr>
        <p:spPr>
          <a:xfrm>
            <a:off x="8158277" y="5559552"/>
            <a:ext cx="3576218" cy="685800"/>
          </a:xfrm>
          <a:prstGeom prst="rect">
            <a:avLst/>
          </a:prstGeom>
          <a:noFill/>
          <a:ln/>
        </p:spPr>
        <p:txBody>
          <a:bodyPr wrap="square" lIns="0" tIns="0" rIns="0" bIns="0" rtlCol="0" anchor="t"/>
          <a:lstStyle/>
          <a:p>
            <a:pPr indent="0" marL="0">
              <a:buNone/>
            </a:pPr>
            <a:r>
              <a:rPr lang="en-US" sz="950" b="1" dirty="0">
                <a:solidFill>
                  <a:srgbClr val="FFFFFF"/>
                </a:solidFill>
              </a:rPr>
              <a:t>Producto. </a:t>
            </a:r>
            <a:pPr indent="0" marL="0">
              <a:buNone/>
            </a:pPr>
            <a:r>
              <a:rPr lang="en-US" sz="950" dirty="0">
                <a:solidFill>
                  <a:srgbClr val="C9D3E3"/>
                </a:solidFill>
              </a:rPr>
              <a:t>Portal configurado con las sedes, zonas y cohortes de SURA, con los indicadores de salud del modelo activos.</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F9BB3"/>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NTT DATA PHM">
  <a:themeElements>
    <a:clrScheme name="NTT DATA PHM">
      <a:dk1>
        <a:srgbClr val="070F26"/>
      </a:dk1>
      <a:lt1>
        <a:srgbClr val="FFFFFF"/>
      </a:lt1>
      <a:dk2>
        <a:srgbClr val="4A5568"/>
      </a:dk2>
      <a:lt2>
        <a:srgbClr val="F2F5F9"/>
      </a:lt2>
      <a:accent1>
        <a:srgbClr val="005B96"/>
      </a:accent1>
      <a:accent2>
        <a:srgbClr val="009AA4"/>
      </a:accent2>
      <a:accent3>
        <a:srgbClr val="0072BC"/>
      </a:accent3>
      <a:accent4>
        <a:srgbClr val="6E4BB8"/>
      </a:accent4>
      <a:accent5>
        <a:srgbClr val="E07B39"/>
      </a:accent5>
      <a:accent6>
        <a:srgbClr val="C7354A"/>
      </a:accent6>
      <a:hlink>
        <a:srgbClr val="0072BC"/>
      </a:hlink>
      <a:folHlink>
        <a:srgbClr val="6E4BB8"/>
      </a:folHlink>
    </a:clrScheme>
    <a:fontScheme name="NTT DATA PH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NTT 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Planeación de la red de atención por cohortes de riesgo</dc:title>
  <dc:subject>Propuesta para Population Health Management</dc:subject>
  <dc:creator>NTT DATA</dc:creator>
  <cp:lastModifiedBy>NTT DATA</cp:lastModifiedBy>
  <cp:revision>1</cp:revision>
  <dcterms:created xsi:type="dcterms:W3CDTF">2026-10-02T13:43:03Z</dcterms:created>
  <dcterms:modified xsi:type="dcterms:W3CDTF">2026-10-02T13:43:03Z</dcterms:modified>
</cp:coreProperties>
</file>